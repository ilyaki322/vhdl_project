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4"/>
  </p:notesMasterIdLst>
  <p:handoutMasterIdLst>
    <p:handoutMasterId r:id="rId25"/>
  </p:handoutMasterIdLst>
  <p:sldIdLst>
    <p:sldId id="299" r:id="rId5"/>
    <p:sldId id="298" r:id="rId6"/>
    <p:sldId id="300" r:id="rId7"/>
    <p:sldId id="283" r:id="rId8"/>
    <p:sldId id="292" r:id="rId9"/>
    <p:sldId id="287" r:id="rId10"/>
    <p:sldId id="301" r:id="rId11"/>
    <p:sldId id="303" r:id="rId12"/>
    <p:sldId id="284" r:id="rId13"/>
    <p:sldId id="304" r:id="rId14"/>
    <p:sldId id="285" r:id="rId15"/>
    <p:sldId id="293" r:id="rId16"/>
    <p:sldId id="295" r:id="rId17"/>
    <p:sldId id="296" r:id="rId18"/>
    <p:sldId id="297" r:id="rId19"/>
    <p:sldId id="302" r:id="rId20"/>
    <p:sldId id="305" r:id="rId21"/>
    <p:sldId id="286" r:id="rId22"/>
    <p:sldId id="306" r:id="rId23"/>
  </p:sldIdLst>
  <p:sldSz cx="12192000" cy="6858000"/>
  <p:notesSz cx="6858000" cy="9144000"/>
  <p:defaultTextStyle>
    <a:defPPr rtl="0">
      <a:defRPr lang="ru-RU"/>
    </a:defPPr>
    <a:lvl1pPr marL="0" algn="l" defTabSz="914400" rtl="0" eaLnBrk="1" latinLnBrk="0" hangingPunct="1">
      <a:defRPr lang="ru-RU" sz="1800" kern="1200">
        <a:solidFill>
          <a:schemeClr val="tx1"/>
        </a:solidFill>
        <a:latin typeface="+mn-lt"/>
        <a:ea typeface="+mn-ea"/>
        <a:cs typeface="+mn-cs"/>
      </a:defRPr>
    </a:lvl1pPr>
    <a:lvl2pPr marL="457200" algn="l" defTabSz="914400" rtl="0" eaLnBrk="1" latinLnBrk="0" hangingPunct="1">
      <a:defRPr lang="ru-RU" sz="1800" kern="1200">
        <a:solidFill>
          <a:schemeClr val="tx1"/>
        </a:solidFill>
        <a:latin typeface="+mn-lt"/>
        <a:ea typeface="+mn-ea"/>
        <a:cs typeface="+mn-cs"/>
      </a:defRPr>
    </a:lvl2pPr>
    <a:lvl3pPr marL="914400" algn="l" defTabSz="914400" rtl="0" eaLnBrk="1" latinLnBrk="0" hangingPunct="1">
      <a:defRPr lang="ru-RU" sz="1800" kern="1200">
        <a:solidFill>
          <a:schemeClr val="tx1"/>
        </a:solidFill>
        <a:latin typeface="+mn-lt"/>
        <a:ea typeface="+mn-ea"/>
        <a:cs typeface="+mn-cs"/>
      </a:defRPr>
    </a:lvl3pPr>
    <a:lvl4pPr marL="1371600" algn="l" defTabSz="914400" rtl="0" eaLnBrk="1" latinLnBrk="0" hangingPunct="1">
      <a:defRPr lang="ru-RU" sz="1800" kern="1200">
        <a:solidFill>
          <a:schemeClr val="tx1"/>
        </a:solidFill>
        <a:latin typeface="+mn-lt"/>
        <a:ea typeface="+mn-ea"/>
        <a:cs typeface="+mn-cs"/>
      </a:defRPr>
    </a:lvl4pPr>
    <a:lvl5pPr marL="1828800" algn="l" defTabSz="914400" rtl="0" eaLnBrk="1" latinLnBrk="0" hangingPunct="1">
      <a:defRPr lang="ru-RU" sz="1800" kern="1200">
        <a:solidFill>
          <a:schemeClr val="tx1"/>
        </a:solidFill>
        <a:latin typeface="+mn-lt"/>
        <a:ea typeface="+mn-ea"/>
        <a:cs typeface="+mn-cs"/>
      </a:defRPr>
    </a:lvl5pPr>
    <a:lvl6pPr marL="2286000" algn="l" defTabSz="914400" rtl="0" eaLnBrk="1" latinLnBrk="0" hangingPunct="1">
      <a:defRPr lang="ru-RU" sz="1800" kern="1200">
        <a:solidFill>
          <a:schemeClr val="tx1"/>
        </a:solidFill>
        <a:latin typeface="+mn-lt"/>
        <a:ea typeface="+mn-ea"/>
        <a:cs typeface="+mn-cs"/>
      </a:defRPr>
    </a:lvl6pPr>
    <a:lvl7pPr marL="2743200" algn="l" defTabSz="914400" rtl="0" eaLnBrk="1" latinLnBrk="0" hangingPunct="1">
      <a:defRPr lang="ru-RU" sz="1800" kern="1200">
        <a:solidFill>
          <a:schemeClr val="tx1"/>
        </a:solidFill>
        <a:latin typeface="+mn-lt"/>
        <a:ea typeface="+mn-ea"/>
        <a:cs typeface="+mn-cs"/>
      </a:defRPr>
    </a:lvl7pPr>
    <a:lvl8pPr marL="3200400" algn="l" defTabSz="914400" rtl="0" eaLnBrk="1" latinLnBrk="0" hangingPunct="1">
      <a:defRPr lang="ru-RU" sz="1800" kern="1200">
        <a:solidFill>
          <a:schemeClr val="tx1"/>
        </a:solidFill>
        <a:latin typeface="+mn-lt"/>
        <a:ea typeface="+mn-ea"/>
        <a:cs typeface="+mn-cs"/>
      </a:defRPr>
    </a:lvl8pPr>
    <a:lvl9pPr marL="3657600" algn="l" defTabSz="914400" rtl="0" eaLnBrk="1" latinLnBrk="0" hangingPunct="1">
      <a:defRPr lang="ru-RU"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655" autoAdjust="0"/>
  </p:normalViewPr>
  <p:slideViewPr>
    <p:cSldViewPr snapToGrid="0">
      <p:cViewPr varScale="1">
        <p:scale>
          <a:sx n="101" d="100"/>
          <a:sy n="101" d="100"/>
        </p:scale>
        <p:origin x="990" y="108"/>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3984" y="1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ru-RU" sz="1200"/>
            </a:lvl1pPr>
          </a:lstStyle>
          <a:p>
            <a:pPr rtl="0"/>
            <a:endParaRPr lang="ru-RU" dirty="0"/>
          </a:p>
        </p:txBody>
      </p:sp>
      <p:sp>
        <p:nvSpPr>
          <p:cNvPr id="3" name="Дата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ru-RU" sz="1200"/>
            </a:lvl1pPr>
          </a:lstStyle>
          <a:p>
            <a:pPr rtl="0"/>
            <a:fld id="{61D17ACC-377E-4FC0-B594-0259E4F18B53}" type="datetime1">
              <a:rPr lang="ru-RU" smtClean="0"/>
              <a:t>23.08.2025</a:t>
            </a:fld>
            <a:endParaRPr lang="ru-RU" dirty="0"/>
          </a:p>
        </p:txBody>
      </p:sp>
      <p:sp>
        <p:nvSpPr>
          <p:cNvPr id="4" name="Нижний колонтитул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ru-RU" sz="1200"/>
            </a:lvl1pPr>
          </a:lstStyle>
          <a:p>
            <a:pPr rtl="0"/>
            <a:endParaRPr lang="ru-RU" dirty="0"/>
          </a:p>
        </p:txBody>
      </p:sp>
      <p:sp>
        <p:nvSpPr>
          <p:cNvPr id="5" name="Номер слайда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ru-RU" sz="1200"/>
            </a:lvl1pPr>
          </a:lstStyle>
          <a:p>
            <a:pPr rtl="0"/>
            <a:fld id="{28EEFA9E-C190-4F5C-8394-BD5F1CD55C02}" type="slidenum">
              <a:rPr lang="ru-RU" smtClean="0"/>
              <a:t>‹#›</a:t>
            </a:fld>
            <a:endParaRPr lang="ru-RU"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ru-RU" sz="1200"/>
            </a:lvl1pPr>
          </a:lstStyle>
          <a:p>
            <a:pPr rtl="0"/>
            <a:endParaRPr lang="ru-RU"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ru-RU" sz="1200"/>
            </a:lvl1pPr>
          </a:lstStyle>
          <a:p>
            <a:fld id="{A94106A3-03A6-4269-91E5-6C81A63C5F07}" type="datetime1">
              <a:rPr lang="ru-RU" smtClean="0"/>
              <a:pPr/>
              <a:t>23.08.2025</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ru-RU"/>
            </a:defPPr>
          </a:lstStyle>
          <a:p>
            <a:pPr rtl="0"/>
            <a:endParaRPr lang="ru-RU"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ru-RU"/>
            </a:defPPr>
          </a:lstStyle>
          <a:p>
            <a:pPr lvl="0" rtl="0"/>
            <a:r>
              <a:rPr lang="ru-RU"/>
              <a:t>Щелкните, чтобы изменить стили текста образца слайда</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ru-RU" sz="1200"/>
            </a:lvl1pPr>
          </a:lstStyle>
          <a:p>
            <a:pPr rtl="0"/>
            <a:endParaRPr lang="ru-RU"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ru-RU" sz="1200"/>
            </a:lvl1pPr>
          </a:lstStyle>
          <a:p>
            <a:pPr rtl="0"/>
            <a:fld id="{22289C57-55D7-40A4-A101-E74FAC7A092B}" type="slidenum">
              <a:rPr lang="ru-RU" smtClean="0"/>
              <a:t>‹#›</a:t>
            </a:fld>
            <a:endParaRPr lang="ru-RU"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lang="ru-RU" sz="1200" kern="1200">
        <a:solidFill>
          <a:schemeClr val="tx1"/>
        </a:solidFill>
        <a:latin typeface="+mn-lt"/>
        <a:ea typeface="+mn-ea"/>
        <a:cs typeface="+mn-cs"/>
      </a:defRPr>
    </a:lvl1pPr>
    <a:lvl2pPr marL="457200" algn="l" defTabSz="914400" rtl="0" eaLnBrk="1" latinLnBrk="0" hangingPunct="1">
      <a:defRPr lang="ru-RU" sz="1200" kern="1200">
        <a:solidFill>
          <a:schemeClr val="tx1"/>
        </a:solidFill>
        <a:latin typeface="+mn-lt"/>
        <a:ea typeface="+mn-ea"/>
        <a:cs typeface="+mn-cs"/>
      </a:defRPr>
    </a:lvl2pPr>
    <a:lvl3pPr marL="914400" algn="l" defTabSz="914400" rtl="0" eaLnBrk="1" latinLnBrk="0" hangingPunct="1">
      <a:defRPr lang="ru-RU" sz="1200" kern="1200">
        <a:solidFill>
          <a:schemeClr val="tx1"/>
        </a:solidFill>
        <a:latin typeface="+mn-lt"/>
        <a:ea typeface="+mn-ea"/>
        <a:cs typeface="+mn-cs"/>
      </a:defRPr>
    </a:lvl3pPr>
    <a:lvl4pPr marL="1371600" algn="l" defTabSz="914400" rtl="0" eaLnBrk="1" latinLnBrk="0" hangingPunct="1">
      <a:defRPr lang="ru-RU" sz="1200" kern="1200">
        <a:solidFill>
          <a:schemeClr val="tx1"/>
        </a:solidFill>
        <a:latin typeface="+mn-lt"/>
        <a:ea typeface="+mn-ea"/>
        <a:cs typeface="+mn-cs"/>
      </a:defRPr>
    </a:lvl4pPr>
    <a:lvl5pPr marL="1828800" algn="l" defTabSz="914400" rtl="0" eaLnBrk="1" latinLnBrk="0" hangingPunct="1">
      <a:defRPr lang="ru-RU" sz="1200" kern="1200">
        <a:solidFill>
          <a:schemeClr val="tx1"/>
        </a:solidFill>
        <a:latin typeface="+mn-lt"/>
        <a:ea typeface="+mn-ea"/>
        <a:cs typeface="+mn-cs"/>
      </a:defRPr>
    </a:lvl5pPr>
    <a:lvl6pPr marL="2286000" algn="l" defTabSz="914400" rtl="0" eaLnBrk="1" latinLnBrk="0" hangingPunct="1">
      <a:defRPr lang="ru-RU" sz="1200" kern="1200">
        <a:solidFill>
          <a:schemeClr val="tx1"/>
        </a:solidFill>
        <a:latin typeface="+mn-lt"/>
        <a:ea typeface="+mn-ea"/>
        <a:cs typeface="+mn-cs"/>
      </a:defRPr>
    </a:lvl6pPr>
    <a:lvl7pPr marL="2743200" algn="l" defTabSz="914400" rtl="0" eaLnBrk="1" latinLnBrk="0" hangingPunct="1">
      <a:defRPr lang="ru-RU" sz="1200" kern="1200">
        <a:solidFill>
          <a:schemeClr val="tx1"/>
        </a:solidFill>
        <a:latin typeface="+mn-lt"/>
        <a:ea typeface="+mn-ea"/>
        <a:cs typeface="+mn-cs"/>
      </a:defRPr>
    </a:lvl7pPr>
    <a:lvl8pPr marL="3200400" algn="l" defTabSz="914400" rtl="0" eaLnBrk="1" latinLnBrk="0" hangingPunct="1">
      <a:defRPr lang="ru-RU" sz="1200" kern="1200">
        <a:solidFill>
          <a:schemeClr val="tx1"/>
        </a:solidFill>
        <a:latin typeface="+mn-lt"/>
        <a:ea typeface="+mn-ea"/>
        <a:cs typeface="+mn-cs"/>
      </a:defRPr>
    </a:lvl8pPr>
    <a:lvl9pPr marL="3657600" algn="l" defTabSz="914400" rtl="0" eaLnBrk="1" latinLnBrk="0" hangingPunct="1">
      <a:defRPr lang="ru-RU"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039E-B82B-2515-3EA6-52711B9E989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7D22D263-6494-885A-6C03-4573B3978B90}"/>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A5A17D87-F89F-A679-776D-2C34CB771D8B}"/>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AB79F589-2EA2-1057-280B-23BE1CF98C7D}"/>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1</a:t>
            </a:fld>
            <a:endParaRPr lang="ru-RU" dirty="0"/>
          </a:p>
        </p:txBody>
      </p:sp>
    </p:spTree>
    <p:extLst>
      <p:ext uri="{BB962C8B-B14F-4D97-AF65-F5344CB8AC3E}">
        <p14:creationId xmlns:p14="http://schemas.microsoft.com/office/powerpoint/2010/main" val="350963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1032D-BC2D-A969-391D-1F12B1574AE2}"/>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00DD807B-1694-BBCA-3908-5DD4412D0ED1}"/>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016E008-ADE8-D726-4BC0-6F275562C1C8}"/>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F039DB63-3E79-9EB1-925D-FE43A21A8760}"/>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2</a:t>
            </a:fld>
            <a:endParaRPr lang="ru-RU" dirty="0"/>
          </a:p>
        </p:txBody>
      </p:sp>
    </p:spTree>
    <p:extLst>
      <p:ext uri="{BB962C8B-B14F-4D97-AF65-F5344CB8AC3E}">
        <p14:creationId xmlns:p14="http://schemas.microsoft.com/office/powerpoint/2010/main" val="1088590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0ACDE-C851-8110-DAE7-5DFCFBF6DD6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A476AA30-B7AA-AD3B-F8D6-01A7ECD4B9B7}"/>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D6599C3-EFA4-2C86-A7E3-A99BA7ECD969}"/>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91F30738-92D2-BB79-252D-30248EC11BE2}"/>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3</a:t>
            </a:fld>
            <a:endParaRPr lang="ru-RU" dirty="0"/>
          </a:p>
        </p:txBody>
      </p:sp>
    </p:spTree>
    <p:extLst>
      <p:ext uri="{BB962C8B-B14F-4D97-AF65-F5344CB8AC3E}">
        <p14:creationId xmlns:p14="http://schemas.microsoft.com/office/powerpoint/2010/main" val="852969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3367A-80A5-30FA-A5C4-45CB7291097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26DD366-B186-DF56-91BB-FBF747FB8E92}"/>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B76B1A8-262E-8909-0421-7182E62997D7}"/>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1F2A33EF-0E2E-90E3-F449-9D247C82C1B0}"/>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4</a:t>
            </a:fld>
            <a:endParaRPr lang="ru-RU" dirty="0"/>
          </a:p>
        </p:txBody>
      </p:sp>
    </p:spTree>
    <p:extLst>
      <p:ext uri="{BB962C8B-B14F-4D97-AF65-F5344CB8AC3E}">
        <p14:creationId xmlns:p14="http://schemas.microsoft.com/office/powerpoint/2010/main" val="1775052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CB43-9C51-B67E-A94B-A2BAEEE700A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84D8A74-7A6D-1F0D-0411-42707D24996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51EAC6F-199A-3238-4C7F-6990C1D7B5C5}"/>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33C04315-6FCD-81D4-40E5-4C6195657945}"/>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5</a:t>
            </a:fld>
            <a:endParaRPr lang="ru-RU" dirty="0"/>
          </a:p>
        </p:txBody>
      </p:sp>
    </p:spTree>
    <p:extLst>
      <p:ext uri="{BB962C8B-B14F-4D97-AF65-F5344CB8AC3E}">
        <p14:creationId xmlns:p14="http://schemas.microsoft.com/office/powerpoint/2010/main" val="1321650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88039-04F7-3586-F7F1-9146DB49E84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8CE2995-EEEB-CD49-7E92-C8B32CBE3CB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18D7706-67D2-013F-A49F-2EBC5DCB8FBA}"/>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DF9C8B89-621C-CD06-B1C8-C672E9EEF08A}"/>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12</a:t>
            </a:fld>
            <a:endParaRPr lang="ru-RU" dirty="0"/>
          </a:p>
        </p:txBody>
      </p:sp>
    </p:spTree>
    <p:extLst>
      <p:ext uri="{BB962C8B-B14F-4D97-AF65-F5344CB8AC3E}">
        <p14:creationId xmlns:p14="http://schemas.microsoft.com/office/powerpoint/2010/main" val="2614482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7FFF8-E6F1-BC72-89E7-3709199A0FA8}"/>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A1F68DFF-B6EF-E596-4450-BB545158E7D7}"/>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FA620BFD-2729-882D-9F04-4CCAD39497F2}"/>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608F3207-67A2-525B-C8C2-E0DCDA67387E}"/>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13</a:t>
            </a:fld>
            <a:endParaRPr lang="ru-RU" dirty="0"/>
          </a:p>
        </p:txBody>
      </p:sp>
    </p:spTree>
    <p:extLst>
      <p:ext uri="{BB962C8B-B14F-4D97-AF65-F5344CB8AC3E}">
        <p14:creationId xmlns:p14="http://schemas.microsoft.com/office/powerpoint/2010/main" val="2036889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9DF10-7BD6-9206-1897-EBE27981283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95C462B-D2F8-51FF-1CFA-3D274D63CF0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19D1658-1443-ED02-A123-2969AE5A1F66}"/>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A3AAA5A4-27E7-380D-3A4B-59B614F2C0AF}"/>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14</a:t>
            </a:fld>
            <a:endParaRPr lang="ru-RU" dirty="0"/>
          </a:p>
        </p:txBody>
      </p:sp>
    </p:spTree>
    <p:extLst>
      <p:ext uri="{BB962C8B-B14F-4D97-AF65-F5344CB8AC3E}">
        <p14:creationId xmlns:p14="http://schemas.microsoft.com/office/powerpoint/2010/main" val="21304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EE18D-8597-2D41-18AD-299F794D0AA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99A7AF7-2038-1872-E626-301F17EE7B7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3A05A3D9-19CA-07C3-E206-0505B7151E8E}"/>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7B05E7BE-52A3-850C-BB41-81771C3F8022}"/>
              </a:ext>
            </a:extLst>
          </p:cNvPr>
          <p:cNvSpPr>
            <a:spLocks noGrp="1"/>
          </p:cNvSpPr>
          <p:nvPr>
            <p:ph type="sldNum" sz="quarter" idx="5"/>
          </p:nvPr>
        </p:nvSpPr>
        <p:spPr/>
        <p:txBody>
          <a:bodyPr rtlCol="0"/>
          <a:lstStyle>
            <a:defPPr>
              <a:defRPr lang="ru-RU"/>
            </a:defPPr>
          </a:lstStyle>
          <a:p>
            <a:pPr rtl="0"/>
            <a:fld id="{22289C57-55D7-40A4-A101-E74FAC7A092B}" type="slidenum">
              <a:rPr lang="ru-RU" smtClean="0"/>
              <a:t>15</a:t>
            </a:fld>
            <a:endParaRPr lang="ru-RU" dirty="0"/>
          </a:p>
        </p:txBody>
      </p:sp>
    </p:spTree>
    <p:extLst>
      <p:ext uri="{BB962C8B-B14F-4D97-AF65-F5344CB8AC3E}">
        <p14:creationId xmlns:p14="http://schemas.microsoft.com/office/powerpoint/2010/main" val="42280646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rtlCol="0" anchor="ctr">
            <a:noAutofit/>
          </a:bodyPr>
          <a:lstStyle>
            <a:lvl1pPr algn="l">
              <a:defRPr lang="ru-RU" sz="3600" spc="150" baseline="0"/>
            </a:lvl1pPr>
          </a:lstStyle>
          <a:p>
            <a:pPr rtl="0"/>
            <a:r>
              <a:rPr lang="ru-RU"/>
              <a:t>ЩЕЛКНИТЕ, ЧТОБЫ добавить заголовок</a:t>
            </a:r>
          </a:p>
        </p:txBody>
      </p:sp>
      <p:pic>
        <p:nvPicPr>
          <p:cNvPr id="8" name="Графический объект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Повестка">
    <p:bg>
      <p:bgPr>
        <a:solidFill>
          <a:schemeClr val="tx1"/>
        </a:solidFill>
        <a:effectLst/>
      </p:bgPr>
    </p:bg>
    <p:spTree>
      <p:nvGrpSpPr>
        <p:cNvPr id="1" name=""/>
        <p:cNvGrpSpPr/>
        <p:nvPr/>
      </p:nvGrpSpPr>
      <p:grpSpPr>
        <a:xfrm>
          <a:off x="0" y="0"/>
          <a:ext cx="0" cy="0"/>
          <a:chOff x="0" y="0"/>
          <a:chExt cx="0" cy="0"/>
        </a:xfrm>
      </p:grpSpPr>
      <p:pic>
        <p:nvPicPr>
          <p:cNvPr id="8" name="Графический объект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Заголовок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rtlCol="0" anchor="b">
            <a:normAutofit/>
          </a:bodyPr>
          <a:lstStyle>
            <a:lvl1pPr>
              <a:defRPr lang="ru-RU" sz="2800" spc="150" baseline="0">
                <a:solidFill>
                  <a:schemeClr val="bg1"/>
                </a:solidFill>
              </a:defRPr>
            </a:lvl1pPr>
          </a:lstStyle>
          <a:p>
            <a:pPr rtl="0"/>
            <a:r>
              <a:rPr lang="ru-RU"/>
              <a:t>ЩЕЛКНИТЕ, ЧТОБЫ добавить заголовок</a:t>
            </a:r>
          </a:p>
        </p:txBody>
      </p:sp>
      <p:sp>
        <p:nvSpPr>
          <p:cNvPr id="3" name="Объект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rtlCol="0">
            <a:normAutofit/>
          </a:bodyPr>
          <a:lstStyle>
            <a:lvl1pPr marL="0" indent="0">
              <a:lnSpc>
                <a:spcPct val="140000"/>
              </a:lnSpc>
              <a:spcBef>
                <a:spcPts val="1000"/>
              </a:spcBef>
              <a:buNone/>
              <a:defRPr lang="ru-RU" sz="1800">
                <a:solidFill>
                  <a:schemeClr val="bg1"/>
                </a:solidFill>
              </a:defRPr>
            </a:lvl1pPr>
            <a:lvl2pPr marL="457200" indent="0">
              <a:lnSpc>
                <a:spcPct val="140000"/>
              </a:lnSpc>
              <a:spcBef>
                <a:spcPts val="1000"/>
              </a:spcBef>
              <a:buNone/>
              <a:defRPr lang="ru-RU" sz="1800">
                <a:solidFill>
                  <a:schemeClr val="bg1"/>
                </a:solidFill>
              </a:defRPr>
            </a:lvl2pPr>
            <a:lvl3pPr marL="914400" indent="0">
              <a:lnSpc>
                <a:spcPct val="140000"/>
              </a:lnSpc>
              <a:spcBef>
                <a:spcPts val="1000"/>
              </a:spcBef>
              <a:buNone/>
              <a:defRPr lang="ru-RU" sz="1800">
                <a:solidFill>
                  <a:schemeClr val="bg1"/>
                </a:solidFill>
              </a:defRPr>
            </a:lvl3pPr>
            <a:lvl4pPr marL="1371600" indent="0">
              <a:lnSpc>
                <a:spcPct val="140000"/>
              </a:lnSpc>
              <a:spcBef>
                <a:spcPts val="1000"/>
              </a:spcBef>
              <a:buNone/>
              <a:defRPr lang="ru-RU" sz="1800">
                <a:solidFill>
                  <a:schemeClr val="bg1"/>
                </a:solidFill>
              </a:defRPr>
            </a:lvl4pPr>
            <a:lvl5pPr marL="1828800" indent="0">
              <a:lnSpc>
                <a:spcPct val="140000"/>
              </a:lnSpc>
              <a:spcBef>
                <a:spcPts val="1000"/>
              </a:spcBef>
              <a:buNone/>
              <a:defRPr lang="ru-RU" sz="1800">
                <a:solidFill>
                  <a:schemeClr val="bg1"/>
                </a:solidFill>
              </a:defRPr>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
        <p:nvSpPr>
          <p:cNvPr id="5" name="Нижний колонтитул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rtlCol="0"/>
          <a:lstStyle>
            <a:lvl1pPr algn="l">
              <a:defRPr lang="ru-RU" sz="900"/>
            </a:lvl1pPr>
          </a:lstStyle>
          <a:p>
            <a:pPr rtl="0"/>
            <a:r>
              <a:rPr lang="ru-RU"/>
              <a:t>ЗАГОЛОВОК ПРЕЗЕНТАЦИИ</a:t>
            </a:r>
          </a:p>
        </p:txBody>
      </p:sp>
      <p:sp>
        <p:nvSpPr>
          <p:cNvPr id="6" name="Номер слайда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rtlCol="0"/>
          <a:lstStyle>
            <a:lvl1pPr>
              <a:defRPr lang="ru-RU" sz="900"/>
            </a:lvl1pPr>
          </a:lstStyle>
          <a:p>
            <a:pPr rtl="0"/>
            <a:fld id="{A49DFD55-3C28-40EF-9E31-A92D2E4017FF}" type="slidenum">
              <a:rPr lang="ru-RU" smtClean="0"/>
              <a:pPr/>
              <a:t>‹#›</a:t>
            </a:fld>
            <a:endParaRPr lang="ru-RU"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Разрыв раздела 1">
    <p:bg>
      <p:bgPr>
        <a:solidFill>
          <a:schemeClr val="accent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rtlCol="0" anchor="b">
            <a:noAutofit/>
          </a:bodyPr>
          <a:lstStyle>
            <a:lvl1pPr algn="l">
              <a:defRPr lang="ru-RU" sz="3600" spc="150" baseline="0">
                <a:solidFill>
                  <a:schemeClr val="tx1"/>
                </a:solidFill>
              </a:defRPr>
            </a:lvl1pPr>
          </a:lstStyle>
          <a:p>
            <a:pPr rtl="0"/>
            <a:r>
              <a:rPr lang="ru-RU"/>
              <a:t>ЩЕЛКНИТЕ, ЧТОБЫ добавить заголовок</a:t>
            </a:r>
          </a:p>
        </p:txBody>
      </p:sp>
      <p:grpSp>
        <p:nvGrpSpPr>
          <p:cNvPr id="4" name="Группа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Прямая соединительная линия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Разрыв раздела 2">
    <p:bg>
      <p:bgPr>
        <a:solidFill>
          <a:schemeClr val="tx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rtlCol="0" anchor="b">
            <a:noAutofit/>
          </a:bodyPr>
          <a:lstStyle>
            <a:lvl1pPr algn="l">
              <a:defRPr lang="ru-RU" sz="3600" spc="150" baseline="0">
                <a:solidFill>
                  <a:schemeClr val="bg1"/>
                </a:solidFill>
              </a:defRPr>
            </a:lvl1pPr>
          </a:lstStyle>
          <a:p>
            <a:pPr rtl="0"/>
            <a:r>
              <a:rPr lang="ru-RU"/>
              <a:t>ЩЕЛКНИТЕ, ЧТОБЫ добавить заголовок</a:t>
            </a:r>
          </a:p>
        </p:txBody>
      </p:sp>
      <p:cxnSp>
        <p:nvCxnSpPr>
          <p:cNvPr id="7" name="Прямая соединительная линия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Рисунок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rtlCol="0">
            <a:normAutofit/>
          </a:bodyPr>
          <a:lstStyle>
            <a:lvl1pPr marL="0" indent="0">
              <a:buNone/>
              <a:defRPr lang="ru-RU" sz="2000">
                <a:solidFill>
                  <a:schemeClr val="bg1"/>
                </a:solidFill>
              </a:defRPr>
            </a:lvl1pPr>
          </a:lstStyle>
          <a:p>
            <a:pPr rtl="0"/>
            <a:r>
              <a:rPr lang="en-US"/>
              <a:t>Click icon to add picture</a:t>
            </a:r>
            <a:endParaRPr lang="ru-RU"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Вступл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rtlCol="0" anchor="b">
            <a:normAutofit/>
          </a:bodyPr>
          <a:lstStyle>
            <a:lvl1pPr>
              <a:defRPr lang="ru-RU" sz="2800" kern="1200" spc="150" baseline="0" dirty="0">
                <a:solidFill>
                  <a:schemeClr val="tx1"/>
                </a:solidFill>
                <a:latin typeface="Arial" panose="020B0604020202020204" pitchFamily="34" charset="0"/>
                <a:ea typeface="+mj-ea"/>
                <a:cs typeface="+mj-cs"/>
              </a:defRPr>
            </a:lvl1pPr>
          </a:lstStyle>
          <a:p>
            <a:pPr rtl="0"/>
            <a:r>
              <a:rPr lang="ru-RU" dirty="0"/>
              <a:t>ЩЕЛКНИТЕ, ЧТОБЫ добавить заголовок</a:t>
            </a:r>
          </a:p>
        </p:txBody>
      </p:sp>
      <p:sp>
        <p:nvSpPr>
          <p:cNvPr id="3" name="Объект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rtlCol="0">
            <a:normAutofit/>
          </a:bodyPr>
          <a:lstStyle>
            <a:lvl1pPr marL="0" indent="0">
              <a:lnSpc>
                <a:spcPct val="100000"/>
              </a:lnSpc>
              <a:buFont typeface="Arial" panose="020B0604020202020204" pitchFamily="34" charset="0"/>
              <a:buNone/>
              <a:defRPr lang="ru-RU" sz="1800" b="1" spc="50" baseline="0"/>
            </a:lvl1pPr>
            <a:lvl2pPr marL="283464" indent="-285750">
              <a:lnSpc>
                <a:spcPct val="100000"/>
              </a:lnSpc>
              <a:spcBef>
                <a:spcPts val="1000"/>
              </a:spcBef>
              <a:buFont typeface="Arial" panose="020B0604020202020204" pitchFamily="34" charset="0"/>
              <a:buChar char="•"/>
              <a:defRPr lang="ru-RU" sz="1800" spc="50" baseline="0"/>
            </a:lvl2pPr>
            <a:lvl3pPr marL="566928" indent="-285750">
              <a:lnSpc>
                <a:spcPct val="100000"/>
              </a:lnSpc>
              <a:spcBef>
                <a:spcPts val="1000"/>
              </a:spcBef>
              <a:buFont typeface="Arial" panose="020B0604020202020204" pitchFamily="34" charset="0"/>
              <a:buChar char="•"/>
              <a:defRPr lang="ru-RU" sz="1800" spc="50" baseline="0"/>
            </a:lvl3pPr>
            <a:lvl4pPr marL="859536" indent="-285750">
              <a:lnSpc>
                <a:spcPct val="100000"/>
              </a:lnSpc>
              <a:spcBef>
                <a:spcPts val="1000"/>
              </a:spcBef>
              <a:buFont typeface="Arial" panose="020B0604020202020204" pitchFamily="34" charset="0"/>
              <a:buChar char="•"/>
              <a:defRPr lang="ru-RU" sz="1800" spc="50" baseline="0"/>
            </a:lvl4pPr>
            <a:lvl5pPr marL="1143000" indent="-285750">
              <a:lnSpc>
                <a:spcPct val="100000"/>
              </a:lnSpc>
              <a:spcBef>
                <a:spcPts val="1000"/>
              </a:spcBef>
              <a:buFont typeface="Arial" panose="020B0604020202020204" pitchFamily="34" charset="0"/>
              <a:buChar char="•"/>
              <a:defRPr lang="ru-RU" sz="1800" spc="50" baseline="0"/>
            </a:lvl5pPr>
          </a:lstStyle>
          <a:p>
            <a:pPr lvl="0" rtl="0"/>
            <a:r>
              <a:rPr lang="ru-RU" dirty="0"/>
              <a:t>Щелкните, чтобы добавить содержимое</a:t>
            </a:r>
          </a:p>
          <a:p>
            <a:pPr lvl="1" rtl="0"/>
            <a:r>
              <a:rPr lang="ru-RU" dirty="0"/>
              <a:t>Второй уровень</a:t>
            </a:r>
          </a:p>
          <a:p>
            <a:pPr lvl="2" rtl="0"/>
            <a:r>
              <a:rPr lang="ru-RU" dirty="0"/>
              <a:t>Третий уровень</a:t>
            </a:r>
          </a:p>
          <a:p>
            <a:pPr lvl="3" rtl="0"/>
            <a:r>
              <a:rPr lang="ru-RU" dirty="0"/>
              <a:t>Четвертый уровень</a:t>
            </a:r>
          </a:p>
          <a:p>
            <a:pPr lvl="4" rtl="0"/>
            <a:r>
              <a:rPr lang="ru-RU" dirty="0"/>
              <a:t>Пятый уровень</a:t>
            </a:r>
          </a:p>
        </p:txBody>
      </p:sp>
      <p:grpSp>
        <p:nvGrpSpPr>
          <p:cNvPr id="9" name="Группа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Прямая соединительная линия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Прямая соединительная линия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Нижний колонтитул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rtlCol="0"/>
          <a:lstStyle>
            <a:lvl1pPr algn="l">
              <a:defRPr lang="ru-RU" sz="900"/>
            </a:lvl1pPr>
          </a:lstStyle>
          <a:p>
            <a:pPr rtl="0"/>
            <a:r>
              <a:rPr lang="ru-RU"/>
              <a:t>ЗАГОЛОВОК ПРЕЗЕНТАЦИИ</a:t>
            </a:r>
          </a:p>
        </p:txBody>
      </p:sp>
      <p:sp>
        <p:nvSpPr>
          <p:cNvPr id="16" name="Номер слайда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rtlCol="0"/>
          <a:lstStyle>
            <a:lvl1pPr>
              <a:defRPr lang="ru-RU" sz="900"/>
            </a:lvl1pPr>
          </a:lstStyle>
          <a:p>
            <a:pPr rtl="0"/>
            <a:fld id="{A49DFD55-3C28-40EF-9E31-A92D2E4017FF}" type="slidenum">
              <a:rPr lang="ru-RU" smtClean="0"/>
              <a:pPr/>
              <a:t>‹#›</a:t>
            </a:fld>
            <a:endParaRPr lang="ru-RU"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Разрыв раздела 3">
    <p:bg>
      <p:bgPr>
        <a:solidFill>
          <a:schemeClr val="tx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rtlCol="0" anchor="b">
            <a:noAutofit/>
          </a:bodyPr>
          <a:lstStyle>
            <a:lvl1pPr algn="l">
              <a:defRPr lang="ru-RU" sz="3600" spc="150" baseline="0">
                <a:solidFill>
                  <a:schemeClr val="bg1"/>
                </a:solidFill>
              </a:defRPr>
            </a:lvl1pPr>
          </a:lstStyle>
          <a:p>
            <a:pPr rtl="0"/>
            <a:r>
              <a:rPr lang="ru-RU"/>
              <a:t>ЩЕЛКНИТЕ, ЧТОБЫ добавить заголовок</a:t>
            </a:r>
          </a:p>
        </p:txBody>
      </p:sp>
      <p:pic>
        <p:nvPicPr>
          <p:cNvPr id="4" name="Графический объект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Два объекта содержимого 1">
    <p:bg>
      <p:bgPr>
        <a:solidFill>
          <a:schemeClr val="accent1"/>
        </a:solidFill>
        <a:effectLst/>
      </p:bgPr>
    </p:bg>
    <p:spTree>
      <p:nvGrpSpPr>
        <p:cNvPr id="1" name=""/>
        <p:cNvGrpSpPr/>
        <p:nvPr/>
      </p:nvGrpSpPr>
      <p:grpSpPr>
        <a:xfrm>
          <a:off x="0" y="0"/>
          <a:ext cx="0" cy="0"/>
          <a:chOff x="0" y="0"/>
          <a:chExt cx="0" cy="0"/>
        </a:xfrm>
      </p:grpSpPr>
      <p:pic>
        <p:nvPicPr>
          <p:cNvPr id="10" name="Графический объект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Заголовок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rtlCol="0" anchor="b">
            <a:normAutofit/>
          </a:bodyPr>
          <a:lstStyle>
            <a:lvl1pPr>
              <a:defRPr lang="ru-RU" sz="2800" kern="1200" spc="150" baseline="0" dirty="0">
                <a:solidFill>
                  <a:schemeClr val="tx1"/>
                </a:solidFill>
                <a:latin typeface="Arial" panose="020B0604020202020204" pitchFamily="34" charset="0"/>
                <a:ea typeface="+mj-ea"/>
                <a:cs typeface="+mj-cs"/>
              </a:defRPr>
            </a:lvl1pPr>
          </a:lstStyle>
          <a:p>
            <a:pPr rtl="0"/>
            <a:r>
              <a:rPr lang="ru-RU" dirty="0"/>
              <a:t>ЩЕЛКНИТЕ, ЧТОБЫ добавить заголовок</a:t>
            </a:r>
          </a:p>
        </p:txBody>
      </p:sp>
      <p:sp>
        <p:nvSpPr>
          <p:cNvPr id="3" name="Текст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rtlCol="0" anchor="t">
            <a:normAutofit/>
          </a:bodyPr>
          <a:lstStyle>
            <a:lvl1pPr marL="0" indent="0">
              <a:buNone/>
              <a:defRPr lang="ru-RU" sz="1800" b="1" kern="1200" spc="50" baseline="0" dirty="0" smtClean="0">
                <a:solidFill>
                  <a:schemeClr val="tx1"/>
                </a:solidFill>
                <a:latin typeface="Arial" panose="020B0604020202020204" pitchFamily="34" charset="0"/>
                <a:ea typeface="+mj-ea"/>
                <a:cs typeface="+mj-cs"/>
              </a:defRPr>
            </a:lvl1pPr>
            <a:lvl2pPr marL="457200" indent="0">
              <a:buNone/>
              <a:defRPr lang="ru-RU" sz="2000" b="1"/>
            </a:lvl2pPr>
            <a:lvl3pPr marL="914400" indent="0">
              <a:buNone/>
              <a:defRPr lang="ru-RU" sz="1800" b="1"/>
            </a:lvl3pPr>
            <a:lvl4pPr marL="1371600" indent="0">
              <a:buNone/>
              <a:defRPr lang="ru-RU" sz="1600" b="1"/>
            </a:lvl4pPr>
            <a:lvl5pPr marL="1828800" indent="0">
              <a:buNone/>
              <a:defRPr lang="ru-RU" sz="1600" b="1"/>
            </a:lvl5pPr>
            <a:lvl6pPr marL="2286000" indent="0">
              <a:buNone/>
              <a:defRPr lang="ru-RU" sz="1600" b="1"/>
            </a:lvl6pPr>
            <a:lvl7pPr marL="2743200" indent="0">
              <a:buNone/>
              <a:defRPr lang="ru-RU" sz="1600" b="1"/>
            </a:lvl7pPr>
            <a:lvl8pPr marL="3200400" indent="0">
              <a:buNone/>
              <a:defRPr lang="ru-RU" sz="1600" b="1"/>
            </a:lvl8pPr>
            <a:lvl9pPr marL="3657600" indent="0">
              <a:buNone/>
              <a:defRPr lang="ru-RU" sz="1600" b="1"/>
            </a:lvl9pPr>
          </a:lstStyle>
          <a:p>
            <a:pPr lvl="0" rtl="0"/>
            <a:r>
              <a:rPr lang="ru-RU" dirty="0"/>
              <a:t>Текст слайда</a:t>
            </a:r>
          </a:p>
        </p:txBody>
      </p:sp>
      <p:sp>
        <p:nvSpPr>
          <p:cNvPr id="7" name="Объект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rtlCol="0">
            <a:normAutofit/>
          </a:bodyPr>
          <a:lstStyle>
            <a:lvl1pPr marL="0" indent="0">
              <a:lnSpc>
                <a:spcPct val="100000"/>
              </a:lnSpc>
              <a:buFont typeface="Arial" panose="020B0604020202020204" pitchFamily="34" charset="0"/>
              <a:buNone/>
              <a:defRPr lang="ru-RU" sz="1800" b="0" spc="50" baseline="0"/>
            </a:lvl1pPr>
            <a:lvl2pPr marL="283464" indent="-285750">
              <a:lnSpc>
                <a:spcPct val="100000"/>
              </a:lnSpc>
              <a:spcBef>
                <a:spcPts val="1000"/>
              </a:spcBef>
              <a:buFont typeface="Arial" panose="020B0604020202020204" pitchFamily="34" charset="0"/>
              <a:buChar char="•"/>
              <a:defRPr lang="ru-RU" sz="1800" spc="50" baseline="0"/>
            </a:lvl2pPr>
            <a:lvl3pPr marL="566928" indent="-285750">
              <a:lnSpc>
                <a:spcPct val="100000"/>
              </a:lnSpc>
              <a:spcBef>
                <a:spcPts val="1000"/>
              </a:spcBef>
              <a:buFont typeface="Arial" panose="020B0604020202020204" pitchFamily="34" charset="0"/>
              <a:buChar char="•"/>
              <a:defRPr lang="ru-RU" sz="1800" spc="50" baseline="0"/>
            </a:lvl3pPr>
            <a:lvl4pPr marL="859536" indent="-285750">
              <a:lnSpc>
                <a:spcPct val="100000"/>
              </a:lnSpc>
              <a:spcBef>
                <a:spcPts val="1000"/>
              </a:spcBef>
              <a:buFont typeface="Arial" panose="020B0604020202020204" pitchFamily="34" charset="0"/>
              <a:buChar char="•"/>
              <a:defRPr lang="ru-RU" sz="1800" spc="50" baseline="0"/>
            </a:lvl4pPr>
            <a:lvl5pPr marL="1143000" indent="-285750">
              <a:lnSpc>
                <a:spcPct val="100000"/>
              </a:lnSpc>
              <a:spcBef>
                <a:spcPts val="1000"/>
              </a:spcBef>
              <a:buFont typeface="Arial" panose="020B0604020202020204" pitchFamily="34" charset="0"/>
              <a:buChar char="•"/>
              <a:defRPr lang="ru-RU" sz="1800" spc="50" baseline="0"/>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
        <p:nvSpPr>
          <p:cNvPr id="5" name="Текст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rtlCol="0" anchor="t">
            <a:normAutofit/>
          </a:bodyPr>
          <a:lstStyle>
            <a:lvl1pPr marL="0" indent="0">
              <a:buNone/>
              <a:defRPr lang="ru-RU" sz="1800" b="1" kern="1200" spc="50" baseline="0" dirty="0" smtClean="0">
                <a:solidFill>
                  <a:schemeClr val="tx1"/>
                </a:solidFill>
                <a:latin typeface="Arial" panose="020B0604020202020204" pitchFamily="34" charset="0"/>
                <a:ea typeface="+mj-ea"/>
                <a:cs typeface="+mj-cs"/>
              </a:defRPr>
            </a:lvl1pPr>
            <a:lvl2pPr marL="457200" indent="0">
              <a:buNone/>
              <a:defRPr lang="ru-RU" sz="2000" b="1"/>
            </a:lvl2pPr>
            <a:lvl3pPr marL="914400" indent="0">
              <a:buNone/>
              <a:defRPr lang="ru-RU" sz="1800" b="1"/>
            </a:lvl3pPr>
            <a:lvl4pPr marL="1371600" indent="0">
              <a:buNone/>
              <a:defRPr lang="ru-RU" sz="1600" b="1"/>
            </a:lvl4pPr>
            <a:lvl5pPr marL="1828800" indent="0">
              <a:buNone/>
              <a:defRPr lang="ru-RU" sz="1600" b="1"/>
            </a:lvl5pPr>
            <a:lvl6pPr marL="2286000" indent="0">
              <a:buNone/>
              <a:defRPr lang="ru-RU" sz="1600" b="1"/>
            </a:lvl6pPr>
            <a:lvl7pPr marL="2743200" indent="0">
              <a:buNone/>
              <a:defRPr lang="ru-RU" sz="1600" b="1"/>
            </a:lvl7pPr>
            <a:lvl8pPr marL="3200400" indent="0">
              <a:buNone/>
              <a:defRPr lang="ru-RU" sz="1600" b="1"/>
            </a:lvl8pPr>
            <a:lvl9pPr marL="3657600" indent="0">
              <a:buNone/>
              <a:defRPr lang="ru-RU" sz="1600" b="1"/>
            </a:lvl9pPr>
          </a:lstStyle>
          <a:p>
            <a:pPr lvl="0" rtl="0"/>
            <a:r>
              <a:rPr lang="ru-RU" dirty="0"/>
              <a:t>Текст слайда</a:t>
            </a:r>
          </a:p>
        </p:txBody>
      </p:sp>
      <p:sp>
        <p:nvSpPr>
          <p:cNvPr id="9" name="Объект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rtlCol="0">
            <a:normAutofit/>
          </a:bodyPr>
          <a:lstStyle>
            <a:lvl1pPr marL="0" indent="0">
              <a:lnSpc>
                <a:spcPct val="100000"/>
              </a:lnSpc>
              <a:buFont typeface="Arial" panose="020B0604020202020204" pitchFamily="34" charset="0"/>
              <a:buNone/>
              <a:defRPr lang="ru-RU" sz="1800" b="0" spc="50" baseline="0"/>
            </a:lvl1pPr>
            <a:lvl2pPr marL="283464" indent="-285750">
              <a:lnSpc>
                <a:spcPct val="100000"/>
              </a:lnSpc>
              <a:spcBef>
                <a:spcPts val="1000"/>
              </a:spcBef>
              <a:buFont typeface="Arial" panose="020B0604020202020204" pitchFamily="34" charset="0"/>
              <a:buChar char="•"/>
              <a:defRPr lang="ru-RU" sz="1800" spc="50" baseline="0"/>
            </a:lvl2pPr>
            <a:lvl3pPr marL="566928" indent="-285750">
              <a:lnSpc>
                <a:spcPct val="100000"/>
              </a:lnSpc>
              <a:spcBef>
                <a:spcPts val="1000"/>
              </a:spcBef>
              <a:buFont typeface="Arial" panose="020B0604020202020204" pitchFamily="34" charset="0"/>
              <a:buChar char="•"/>
              <a:defRPr lang="ru-RU" sz="1800" spc="50" baseline="0"/>
            </a:lvl3pPr>
            <a:lvl4pPr marL="859536" indent="-285750">
              <a:lnSpc>
                <a:spcPct val="100000"/>
              </a:lnSpc>
              <a:spcBef>
                <a:spcPts val="1000"/>
              </a:spcBef>
              <a:buFont typeface="Arial" panose="020B0604020202020204" pitchFamily="34" charset="0"/>
              <a:buChar char="•"/>
              <a:defRPr lang="ru-RU" sz="1800" spc="50" baseline="0"/>
            </a:lvl4pPr>
            <a:lvl5pPr marL="1143000" indent="-285750">
              <a:lnSpc>
                <a:spcPct val="100000"/>
              </a:lnSpc>
              <a:spcBef>
                <a:spcPts val="1000"/>
              </a:spcBef>
              <a:buFont typeface="Arial" panose="020B0604020202020204" pitchFamily="34" charset="0"/>
              <a:buChar char="•"/>
              <a:defRPr lang="ru-RU" sz="1800" spc="50" baseline="0"/>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
        <p:nvSpPr>
          <p:cNvPr id="13" name="Нижний колонтитул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rtlCol="0"/>
          <a:lstStyle>
            <a:lvl1pPr algn="l">
              <a:defRPr lang="ru-RU" sz="900"/>
            </a:lvl1pPr>
          </a:lstStyle>
          <a:p>
            <a:pPr rtl="0"/>
            <a:r>
              <a:rPr lang="ru-RU"/>
              <a:t>ЗАГОЛОВОК ПРЕЗЕНТАЦИИ</a:t>
            </a:r>
          </a:p>
        </p:txBody>
      </p:sp>
      <p:sp>
        <p:nvSpPr>
          <p:cNvPr id="14" name="Номер слайда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rtlCol="0"/>
          <a:lstStyle>
            <a:lvl1pPr>
              <a:defRPr lang="ru-RU" sz="900"/>
            </a:lvl1pPr>
          </a:lstStyle>
          <a:p>
            <a:pPr rtl="0"/>
            <a:fld id="{A49DFD55-3C28-40EF-9E31-A92D2E4017FF}" type="slidenum">
              <a:rPr lang="ru-RU" smtClean="0"/>
              <a:pPr/>
              <a:t>‹#›</a:t>
            </a:fld>
            <a:endParaRPr lang="ru-RU"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Два объекта содержимого 2">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rtlCol="0" anchor="b">
            <a:normAutofit/>
          </a:bodyPr>
          <a:lstStyle>
            <a:lvl1pPr>
              <a:defRPr lang="ru-RU" sz="2800" kern="1200" spc="150" baseline="0" dirty="0">
                <a:solidFill>
                  <a:schemeClr val="tx1"/>
                </a:solidFill>
                <a:latin typeface="Arial" panose="020B0604020202020204" pitchFamily="34" charset="0"/>
                <a:ea typeface="+mj-ea"/>
                <a:cs typeface="+mj-cs"/>
              </a:defRPr>
            </a:lvl1pPr>
          </a:lstStyle>
          <a:p>
            <a:pPr rtl="0"/>
            <a:r>
              <a:rPr lang="ru-RU" dirty="0"/>
              <a:t>ЩЕЛКНИТЕ, ЧТОБЫ добавить заголовок</a:t>
            </a:r>
          </a:p>
        </p:txBody>
      </p:sp>
      <p:grpSp>
        <p:nvGrpSpPr>
          <p:cNvPr id="10" name="Группа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Прямая соединительная линия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Текст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rtlCol="0" anchor="t">
            <a:normAutofit/>
          </a:bodyPr>
          <a:lstStyle>
            <a:lvl1pPr marL="0" indent="0">
              <a:buNone/>
              <a:defRPr lang="ru-RU" sz="1800" b="1" kern="1200" spc="50" baseline="0" dirty="0" smtClean="0">
                <a:solidFill>
                  <a:schemeClr val="tx1"/>
                </a:solidFill>
                <a:latin typeface="Arial" panose="020B0604020202020204" pitchFamily="34" charset="0"/>
                <a:ea typeface="+mj-ea"/>
                <a:cs typeface="+mj-cs"/>
              </a:defRPr>
            </a:lvl1pPr>
            <a:lvl2pPr marL="457200" indent="0">
              <a:buNone/>
              <a:defRPr lang="ru-RU" sz="2000" b="1"/>
            </a:lvl2pPr>
            <a:lvl3pPr marL="914400" indent="0">
              <a:buNone/>
              <a:defRPr lang="ru-RU" sz="1800" b="1"/>
            </a:lvl3pPr>
            <a:lvl4pPr marL="1371600" indent="0">
              <a:buNone/>
              <a:defRPr lang="ru-RU" sz="1600" b="1"/>
            </a:lvl4pPr>
            <a:lvl5pPr marL="1828800" indent="0">
              <a:buNone/>
              <a:defRPr lang="ru-RU" sz="1600" b="1"/>
            </a:lvl5pPr>
            <a:lvl6pPr marL="2286000" indent="0">
              <a:buNone/>
              <a:defRPr lang="ru-RU" sz="1600" b="1"/>
            </a:lvl6pPr>
            <a:lvl7pPr marL="2743200" indent="0">
              <a:buNone/>
              <a:defRPr lang="ru-RU" sz="1600" b="1"/>
            </a:lvl7pPr>
            <a:lvl8pPr marL="3200400" indent="0">
              <a:buNone/>
              <a:defRPr lang="ru-RU" sz="1600" b="1"/>
            </a:lvl8pPr>
            <a:lvl9pPr marL="3657600" indent="0">
              <a:buNone/>
              <a:defRPr lang="ru-RU" sz="1600" b="1"/>
            </a:lvl9pPr>
          </a:lstStyle>
          <a:p>
            <a:pPr lvl="0" rtl="0"/>
            <a:r>
              <a:rPr lang="ru-RU" dirty="0"/>
              <a:t>Текст слайда</a:t>
            </a:r>
          </a:p>
        </p:txBody>
      </p:sp>
      <p:sp>
        <p:nvSpPr>
          <p:cNvPr id="5" name="Объект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rtlCol="0">
            <a:normAutofit/>
          </a:bodyPr>
          <a:lstStyle>
            <a:lvl1pPr marL="283464" indent="-283464">
              <a:lnSpc>
                <a:spcPct val="100000"/>
              </a:lnSpc>
              <a:buFont typeface="+mj-lt"/>
              <a:buAutoNum type="arabicPeriod"/>
              <a:defRPr lang="ru-RU" sz="1800" b="0" spc="50" baseline="0"/>
            </a:lvl1pPr>
            <a:lvl2pPr marL="566928" indent="-342900">
              <a:lnSpc>
                <a:spcPct val="100000"/>
              </a:lnSpc>
              <a:spcBef>
                <a:spcPts val="1000"/>
              </a:spcBef>
              <a:buFont typeface="+mj-lt"/>
              <a:buAutoNum type="alphaLcPeriod"/>
              <a:defRPr lang="ru-RU" sz="1800" spc="50" baseline="0"/>
            </a:lvl2pPr>
            <a:lvl3pPr marL="850392" indent="-342900">
              <a:lnSpc>
                <a:spcPct val="100000"/>
              </a:lnSpc>
              <a:spcBef>
                <a:spcPts val="1000"/>
              </a:spcBef>
              <a:buFont typeface="+mj-lt"/>
              <a:buAutoNum type="arabicParenR"/>
              <a:defRPr lang="ru-RU" sz="1800" spc="50" baseline="0"/>
            </a:lvl3pPr>
            <a:lvl4pPr marL="1042416" indent="-342900">
              <a:lnSpc>
                <a:spcPct val="100000"/>
              </a:lnSpc>
              <a:spcBef>
                <a:spcPts val="1000"/>
              </a:spcBef>
              <a:buFont typeface="+mj-lt"/>
              <a:buAutoNum type="alphaLcParenR"/>
              <a:defRPr lang="ru-RU" sz="1800" spc="50" baseline="0"/>
            </a:lvl4pPr>
            <a:lvl5pPr marL="1074420" indent="-400050">
              <a:lnSpc>
                <a:spcPct val="100000"/>
              </a:lnSpc>
              <a:spcBef>
                <a:spcPts val="1000"/>
              </a:spcBef>
              <a:buFont typeface="+mj-lt"/>
              <a:buAutoNum type="romanLcPeriod"/>
              <a:defRPr lang="ru-RU" sz="1800" spc="50" baseline="0"/>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p:txBody>
      </p:sp>
      <p:sp>
        <p:nvSpPr>
          <p:cNvPr id="17" name="Текст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rtlCol="0" anchor="t">
            <a:normAutofit/>
          </a:bodyPr>
          <a:lstStyle>
            <a:lvl1pPr marL="0" indent="0">
              <a:buNone/>
              <a:defRPr lang="ru-RU" sz="1800" b="1" kern="1200" spc="50" baseline="0" dirty="0" smtClean="0">
                <a:solidFill>
                  <a:schemeClr val="tx1"/>
                </a:solidFill>
                <a:latin typeface="Arial" panose="020B0604020202020204" pitchFamily="34" charset="0"/>
                <a:ea typeface="+mj-ea"/>
                <a:cs typeface="+mj-cs"/>
              </a:defRPr>
            </a:lvl1pPr>
            <a:lvl2pPr marL="457200" indent="0">
              <a:buNone/>
              <a:defRPr lang="ru-RU" sz="2000" b="1"/>
            </a:lvl2pPr>
            <a:lvl3pPr marL="914400" indent="0">
              <a:buNone/>
              <a:defRPr lang="ru-RU" sz="1800" b="1"/>
            </a:lvl3pPr>
            <a:lvl4pPr marL="1371600" indent="0">
              <a:buNone/>
              <a:defRPr lang="ru-RU" sz="1600" b="1"/>
            </a:lvl4pPr>
            <a:lvl5pPr marL="1828800" indent="0">
              <a:buNone/>
              <a:defRPr lang="ru-RU" sz="1600" b="1"/>
            </a:lvl5pPr>
            <a:lvl6pPr marL="2286000" indent="0">
              <a:buNone/>
              <a:defRPr lang="ru-RU" sz="1600" b="1"/>
            </a:lvl6pPr>
            <a:lvl7pPr marL="2743200" indent="0">
              <a:buNone/>
              <a:defRPr lang="ru-RU" sz="1600" b="1"/>
            </a:lvl7pPr>
            <a:lvl8pPr marL="3200400" indent="0">
              <a:buNone/>
              <a:defRPr lang="ru-RU" sz="1600" b="1"/>
            </a:lvl8pPr>
            <a:lvl9pPr marL="3657600" indent="0">
              <a:buNone/>
              <a:defRPr lang="ru-RU" sz="1600" b="1"/>
            </a:lvl9pPr>
          </a:lstStyle>
          <a:p>
            <a:pPr lvl="0" rtl="0"/>
            <a:r>
              <a:rPr lang="ru-RU" dirty="0"/>
              <a:t>Текст слайда</a:t>
            </a:r>
          </a:p>
        </p:txBody>
      </p:sp>
      <p:sp>
        <p:nvSpPr>
          <p:cNvPr id="3" name="Объект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rtlCol="0">
            <a:normAutofit/>
          </a:bodyPr>
          <a:lstStyle>
            <a:lvl1pPr marL="0" indent="0">
              <a:lnSpc>
                <a:spcPct val="100000"/>
              </a:lnSpc>
              <a:buFont typeface="Arial" panose="020B0604020202020204" pitchFamily="34" charset="0"/>
              <a:buNone/>
              <a:defRPr lang="ru-RU" sz="1800" b="0" spc="50" baseline="0"/>
            </a:lvl1pPr>
            <a:lvl2pPr marL="283464" indent="-285750">
              <a:lnSpc>
                <a:spcPct val="100000"/>
              </a:lnSpc>
              <a:spcBef>
                <a:spcPts val="1000"/>
              </a:spcBef>
              <a:buFont typeface="Arial" panose="020B0604020202020204" pitchFamily="34" charset="0"/>
              <a:buChar char="•"/>
              <a:defRPr lang="ru-RU" sz="1800" spc="50" baseline="0"/>
            </a:lvl2pPr>
            <a:lvl3pPr marL="566928" indent="-285750">
              <a:lnSpc>
                <a:spcPct val="100000"/>
              </a:lnSpc>
              <a:spcBef>
                <a:spcPts val="1000"/>
              </a:spcBef>
              <a:buFont typeface="Arial" panose="020B0604020202020204" pitchFamily="34" charset="0"/>
              <a:buChar char="•"/>
              <a:defRPr lang="ru-RU" sz="1800" spc="50" baseline="0"/>
            </a:lvl3pPr>
            <a:lvl4pPr marL="859536" indent="-285750">
              <a:lnSpc>
                <a:spcPct val="100000"/>
              </a:lnSpc>
              <a:spcBef>
                <a:spcPts val="1000"/>
              </a:spcBef>
              <a:buFont typeface="Arial" panose="020B0604020202020204" pitchFamily="34" charset="0"/>
              <a:buChar char="•"/>
              <a:defRPr lang="ru-RU" sz="1800" spc="50" baseline="0"/>
            </a:lvl4pPr>
            <a:lvl5pPr marL="1143000" indent="-285750">
              <a:lnSpc>
                <a:spcPct val="100000"/>
              </a:lnSpc>
              <a:spcBef>
                <a:spcPts val="1000"/>
              </a:spcBef>
              <a:buFont typeface="Arial" panose="020B0604020202020204" pitchFamily="34" charset="0"/>
              <a:buChar char="•"/>
              <a:defRPr lang="ru-RU" sz="1800" spc="50" baseline="0"/>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
        <p:nvSpPr>
          <p:cNvPr id="19" name="Нижний колонтитул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rtlCol="0"/>
          <a:lstStyle>
            <a:lvl1pPr algn="l">
              <a:defRPr lang="ru-RU" sz="900"/>
            </a:lvl1pPr>
          </a:lstStyle>
          <a:p>
            <a:pPr rtl="0"/>
            <a:r>
              <a:rPr lang="ru-RU"/>
              <a:t>ЗАГОЛОВОК ПРЕЗЕНТАЦИИ</a:t>
            </a:r>
          </a:p>
        </p:txBody>
      </p:sp>
      <p:sp>
        <p:nvSpPr>
          <p:cNvPr id="20" name="Номер слайда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rtlCol="0"/>
          <a:lstStyle>
            <a:lvl1pPr>
              <a:defRPr lang="ru-RU" sz="900"/>
            </a:lvl1pPr>
          </a:lstStyle>
          <a:p>
            <a:pPr rtl="0"/>
            <a:fld id="{A49DFD55-3C28-40EF-9E31-A92D2E4017FF}" type="slidenum">
              <a:rPr lang="ru-RU" smtClean="0"/>
              <a:pPr/>
              <a:t>‹#›</a:t>
            </a:fld>
            <a:endParaRPr lang="ru-RU"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Сводка">
    <p:spTree>
      <p:nvGrpSpPr>
        <p:cNvPr id="1" name=""/>
        <p:cNvGrpSpPr/>
        <p:nvPr/>
      </p:nvGrpSpPr>
      <p:grpSpPr>
        <a:xfrm>
          <a:off x="0" y="0"/>
          <a:ext cx="0" cy="0"/>
          <a:chOff x="0" y="0"/>
          <a:chExt cx="0" cy="0"/>
        </a:xfrm>
      </p:grpSpPr>
      <p:cxnSp>
        <p:nvCxnSpPr>
          <p:cNvPr id="11" name="Прямая соединительная линия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rtlCol="0" anchor="b">
            <a:normAutofit/>
          </a:bodyPr>
          <a:lstStyle>
            <a:lvl1pPr>
              <a:defRPr lang="ru-RU" sz="2800" kern="1200" spc="150" baseline="0" dirty="0">
                <a:solidFill>
                  <a:schemeClr val="tx1"/>
                </a:solidFill>
                <a:latin typeface="Arial" panose="020B0604020202020204" pitchFamily="34" charset="0"/>
                <a:ea typeface="+mj-ea"/>
                <a:cs typeface="+mj-cs"/>
              </a:defRPr>
            </a:lvl1pPr>
          </a:lstStyle>
          <a:p>
            <a:pPr rtl="0"/>
            <a:r>
              <a:rPr lang="ru-RU" dirty="0"/>
              <a:t>ЩЕЛКНИТЕ, ЧТОБЫ добавить заголовок</a:t>
            </a:r>
          </a:p>
        </p:txBody>
      </p:sp>
      <p:sp>
        <p:nvSpPr>
          <p:cNvPr id="13" name="Рисунок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rtlCol="0">
            <a:normAutofit/>
          </a:bodyPr>
          <a:lstStyle>
            <a:lvl1pPr marL="0" indent="0" algn="l">
              <a:buNone/>
              <a:defRPr lang="ru-RU" sz="2000">
                <a:solidFill>
                  <a:schemeClr val="tx1"/>
                </a:solidFill>
              </a:defRPr>
            </a:lvl1pPr>
          </a:lstStyle>
          <a:p>
            <a:pPr rtl="0"/>
            <a:r>
              <a:rPr lang="en-US"/>
              <a:t>Click icon to add picture</a:t>
            </a:r>
            <a:endParaRPr lang="ru-RU" dirty="0"/>
          </a:p>
        </p:txBody>
      </p:sp>
      <p:sp>
        <p:nvSpPr>
          <p:cNvPr id="4" name="Нижний колонтитул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rtlCol="0"/>
          <a:lstStyle>
            <a:lvl1pPr algn="l">
              <a:defRPr lang="ru-RU" sz="900"/>
            </a:lvl1pPr>
          </a:lstStyle>
          <a:p>
            <a:pPr rtl="0"/>
            <a:r>
              <a:rPr lang="ru-RU"/>
              <a:t>ЗАГОЛОВОК ПРЕЗЕНТАЦИИ</a:t>
            </a:r>
          </a:p>
        </p:txBody>
      </p:sp>
      <p:sp>
        <p:nvSpPr>
          <p:cNvPr id="5" name="Номер слайда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rtlCol="0"/>
          <a:lstStyle>
            <a:lvl1pPr>
              <a:defRPr lang="ru-RU" sz="900"/>
            </a:lvl1pPr>
          </a:lstStyle>
          <a:p>
            <a:pPr rtl="0"/>
            <a:fld id="{A49DFD55-3C28-40EF-9E31-A92D2E4017FF}" type="slidenum">
              <a:rPr lang="ru-RU" smtClean="0"/>
              <a:pPr/>
              <a:t>‹#›</a:t>
            </a:fld>
            <a:endParaRPr lang="ru-RU" dirty="0"/>
          </a:p>
        </p:txBody>
      </p:sp>
      <p:sp>
        <p:nvSpPr>
          <p:cNvPr id="8" name="Объект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rtlCol="0">
            <a:normAutofit/>
          </a:bodyPr>
          <a:lstStyle>
            <a:lvl1pPr marL="0" indent="0">
              <a:lnSpc>
                <a:spcPct val="100000"/>
              </a:lnSpc>
              <a:buFont typeface="Arial" panose="020B0604020202020204" pitchFamily="34" charset="0"/>
              <a:buNone/>
              <a:defRPr lang="ru-RU" sz="1800" b="0" spc="50" baseline="0"/>
            </a:lvl1pPr>
            <a:lvl2pPr marL="283464" indent="-285750">
              <a:lnSpc>
                <a:spcPct val="100000"/>
              </a:lnSpc>
              <a:spcBef>
                <a:spcPts val="1000"/>
              </a:spcBef>
              <a:buFont typeface="Arial" panose="020B0604020202020204" pitchFamily="34" charset="0"/>
              <a:buChar char="•"/>
              <a:defRPr lang="ru-RU" sz="1800" spc="50" baseline="0"/>
            </a:lvl2pPr>
            <a:lvl3pPr marL="566928" indent="-285750">
              <a:lnSpc>
                <a:spcPct val="100000"/>
              </a:lnSpc>
              <a:spcBef>
                <a:spcPts val="1000"/>
              </a:spcBef>
              <a:buFont typeface="Arial" panose="020B0604020202020204" pitchFamily="34" charset="0"/>
              <a:buChar char="•"/>
              <a:defRPr lang="ru-RU" sz="1800" spc="50" baseline="0"/>
            </a:lvl3pPr>
            <a:lvl4pPr marL="859536" indent="-285750">
              <a:lnSpc>
                <a:spcPct val="100000"/>
              </a:lnSpc>
              <a:spcBef>
                <a:spcPts val="1000"/>
              </a:spcBef>
              <a:buFont typeface="Arial" panose="020B0604020202020204" pitchFamily="34" charset="0"/>
              <a:buChar char="•"/>
              <a:defRPr lang="ru-RU" sz="1800" spc="50" baseline="0"/>
            </a:lvl4pPr>
            <a:lvl5pPr marL="1152144" indent="-285750">
              <a:lnSpc>
                <a:spcPct val="100000"/>
              </a:lnSpc>
              <a:spcBef>
                <a:spcPts val="1000"/>
              </a:spcBef>
              <a:buFont typeface="Arial" panose="020B0604020202020204" pitchFamily="34" charset="0"/>
              <a:buChar char="•"/>
              <a:defRPr lang="ru-RU" sz="1800" spc="50" baseline="0"/>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Таблица 1">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rtlCol="0">
            <a:normAutofit/>
          </a:bodyPr>
          <a:lstStyle>
            <a:lvl1pPr algn="l">
              <a:defRPr lang="ru-RU" sz="2400" kern="1200" spc="150" baseline="0" dirty="0">
                <a:solidFill>
                  <a:schemeClr val="tx1"/>
                </a:solidFill>
                <a:latin typeface="Arial" panose="020B0604020202020204" pitchFamily="34" charset="0"/>
                <a:ea typeface="+mj-ea"/>
                <a:cs typeface="+mj-cs"/>
              </a:defRPr>
            </a:lvl1pPr>
          </a:lstStyle>
          <a:p>
            <a:pPr rtl="0"/>
            <a:r>
              <a:rPr lang="ru-RU" dirty="0"/>
              <a:t>ЩЕЛКНИТЕ, ЧТОБЫ добавить заголовок</a:t>
            </a:r>
          </a:p>
        </p:txBody>
      </p:sp>
      <p:sp>
        <p:nvSpPr>
          <p:cNvPr id="3" name="Объект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rtlCol="0">
            <a:normAutofit/>
          </a:bodyPr>
          <a:lstStyle>
            <a:lvl1pPr marL="0" indent="0">
              <a:lnSpc>
                <a:spcPct val="100000"/>
              </a:lnSpc>
              <a:buFont typeface="Arial" panose="020B0604020202020204" pitchFamily="34" charset="0"/>
              <a:buNone/>
              <a:defRPr lang="ru-RU" sz="1800" b="0" spc="50" baseline="0"/>
            </a:lvl1pPr>
            <a:lvl2pPr marL="283464" indent="-285750">
              <a:lnSpc>
                <a:spcPct val="100000"/>
              </a:lnSpc>
              <a:spcBef>
                <a:spcPts val="1000"/>
              </a:spcBef>
              <a:buFont typeface="Arial" panose="020B0604020202020204" pitchFamily="34" charset="0"/>
              <a:buChar char="•"/>
              <a:defRPr lang="ru-RU" sz="1800" spc="50" baseline="0"/>
            </a:lvl2pPr>
            <a:lvl3pPr marL="566928" indent="-285750">
              <a:lnSpc>
                <a:spcPct val="100000"/>
              </a:lnSpc>
              <a:spcBef>
                <a:spcPts val="1000"/>
              </a:spcBef>
              <a:buFont typeface="Arial" panose="020B0604020202020204" pitchFamily="34" charset="0"/>
              <a:buChar char="•"/>
              <a:defRPr lang="ru-RU" sz="1800" spc="50" baseline="0"/>
            </a:lvl3pPr>
            <a:lvl4pPr marL="859536" indent="-285750">
              <a:lnSpc>
                <a:spcPct val="100000"/>
              </a:lnSpc>
              <a:spcBef>
                <a:spcPts val="1000"/>
              </a:spcBef>
              <a:buFont typeface="Arial" panose="020B0604020202020204" pitchFamily="34" charset="0"/>
              <a:buChar char="•"/>
              <a:defRPr lang="ru-RU" sz="1800" spc="50" baseline="0"/>
            </a:lvl4pPr>
            <a:lvl5pPr marL="1152144" indent="-285750">
              <a:lnSpc>
                <a:spcPct val="100000"/>
              </a:lnSpc>
              <a:spcBef>
                <a:spcPts val="1000"/>
              </a:spcBef>
              <a:buFont typeface="Arial" panose="020B0604020202020204" pitchFamily="34" charset="0"/>
              <a:buChar char="•"/>
              <a:defRPr lang="ru-RU" sz="1800" spc="50" baseline="0"/>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
        <p:nvSpPr>
          <p:cNvPr id="8" name="Заполнитель таблицы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rtlCol="0">
            <a:normAutofit/>
          </a:bodyPr>
          <a:lstStyle>
            <a:lvl1pPr marL="0" indent="0" algn="ctr">
              <a:buNone/>
              <a:defRPr lang="ru-RU" sz="2000"/>
            </a:lvl1pPr>
          </a:lstStyle>
          <a:p>
            <a:pPr rtl="0"/>
            <a:r>
              <a:rPr lang="en-US"/>
              <a:t>Click icon to add table</a:t>
            </a:r>
            <a:endParaRPr lang="ru-RU" dirty="0"/>
          </a:p>
        </p:txBody>
      </p:sp>
      <p:sp>
        <p:nvSpPr>
          <p:cNvPr id="10" name="Нижний колонтитул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rtlCol="0"/>
          <a:lstStyle>
            <a:lvl1pPr algn="l">
              <a:defRPr lang="ru-RU" sz="900"/>
            </a:lvl1pPr>
          </a:lstStyle>
          <a:p>
            <a:pPr rtl="0"/>
            <a:r>
              <a:rPr lang="ru-RU"/>
              <a:t>ЗАГОЛОВОК ПРЕЗЕНТАЦИИ</a:t>
            </a:r>
          </a:p>
        </p:txBody>
      </p:sp>
      <p:sp>
        <p:nvSpPr>
          <p:cNvPr id="11" name="Номер слайда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rtlCol="0"/>
          <a:lstStyle>
            <a:lvl1pPr>
              <a:defRPr lang="ru-RU" sz="900"/>
            </a:lvl1pPr>
          </a:lstStyle>
          <a:p>
            <a:pPr rtl="0"/>
            <a:fld id="{A49DFD55-3C28-40EF-9E31-A92D2E4017FF}" type="slidenum">
              <a:rPr lang="ru-RU" smtClean="0"/>
              <a:pPr/>
              <a:t>‹#›</a:t>
            </a:fld>
            <a:endParaRPr lang="ru-RU" dirty="0"/>
          </a:p>
        </p:txBody>
      </p:sp>
      <p:grpSp>
        <p:nvGrpSpPr>
          <p:cNvPr id="14" name="Группа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Прямая соединительная линия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Два объекта">
    <p:bg>
      <p:bgPr>
        <a:solidFill>
          <a:schemeClr val="accent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rtlCol="0" anchor="b">
            <a:normAutofit/>
          </a:bodyPr>
          <a:lstStyle>
            <a:lvl1pPr>
              <a:defRPr lang="ru-RU" sz="2800" kern="1200" spc="150" baseline="0" dirty="0">
                <a:solidFill>
                  <a:schemeClr val="tx1"/>
                </a:solidFill>
                <a:latin typeface="Arial" panose="020B0604020202020204" pitchFamily="34" charset="0"/>
                <a:ea typeface="+mj-ea"/>
                <a:cs typeface="+mj-cs"/>
              </a:defRPr>
            </a:lvl1pPr>
          </a:lstStyle>
          <a:p>
            <a:pPr rtl="0"/>
            <a:r>
              <a:rPr lang="ru-RU" dirty="0"/>
              <a:t>ЩЕЛКНИТЕ, ЧТОБЫ добавить заголовок</a:t>
            </a:r>
          </a:p>
        </p:txBody>
      </p:sp>
      <p:sp>
        <p:nvSpPr>
          <p:cNvPr id="3" name="Текст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rtlCol="0" anchor="ctr">
            <a:noAutofit/>
          </a:bodyPr>
          <a:lstStyle>
            <a:lvl1pPr marL="0" indent="0">
              <a:buNone/>
              <a:defRPr lang="ru-RU" sz="1800" b="1" kern="1200" spc="50" baseline="0" dirty="0" smtClean="0">
                <a:solidFill>
                  <a:schemeClr val="tx1"/>
                </a:solidFill>
                <a:latin typeface="Arial" panose="020B0604020202020204" pitchFamily="34" charset="0"/>
                <a:ea typeface="+mj-ea"/>
                <a:cs typeface="+mj-cs"/>
              </a:defRPr>
            </a:lvl1pPr>
            <a:lvl2pPr marL="457200" indent="0">
              <a:buNone/>
              <a:defRPr lang="ru-RU" sz="2000" b="1"/>
            </a:lvl2pPr>
            <a:lvl3pPr marL="914400" indent="0">
              <a:buNone/>
              <a:defRPr lang="ru-RU" sz="1800" b="1"/>
            </a:lvl3pPr>
            <a:lvl4pPr marL="1371600" indent="0">
              <a:buNone/>
              <a:defRPr lang="ru-RU" sz="1600" b="1"/>
            </a:lvl4pPr>
            <a:lvl5pPr marL="1828800" indent="0">
              <a:buNone/>
              <a:defRPr lang="ru-RU" sz="1600" b="1"/>
            </a:lvl5pPr>
            <a:lvl6pPr marL="2286000" indent="0">
              <a:buNone/>
              <a:defRPr lang="ru-RU" sz="1600" b="1"/>
            </a:lvl6pPr>
            <a:lvl7pPr marL="2743200" indent="0">
              <a:buNone/>
              <a:defRPr lang="ru-RU" sz="1600" b="1"/>
            </a:lvl7pPr>
            <a:lvl8pPr marL="3200400" indent="0">
              <a:buNone/>
              <a:defRPr lang="ru-RU" sz="1600" b="1"/>
            </a:lvl8pPr>
            <a:lvl9pPr marL="3657600" indent="0">
              <a:buNone/>
              <a:defRPr lang="ru-RU" sz="1600" b="1"/>
            </a:lvl9pPr>
          </a:lstStyle>
          <a:p>
            <a:pPr lvl="0" rtl="0"/>
            <a:r>
              <a:rPr lang="ru-RU" dirty="0"/>
              <a:t>Текст слайда</a:t>
            </a:r>
          </a:p>
        </p:txBody>
      </p:sp>
      <p:sp>
        <p:nvSpPr>
          <p:cNvPr id="4" name="Объект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rtlCol="0">
            <a:normAutofit/>
          </a:bodyPr>
          <a:lstStyle>
            <a:lvl1pPr marL="285750" indent="-285750">
              <a:lnSpc>
                <a:spcPct val="100000"/>
              </a:lnSpc>
              <a:buFont typeface="Arial" panose="020B0604020202020204" pitchFamily="34" charset="0"/>
              <a:buChar char="•"/>
              <a:defRPr lang="ru-RU" sz="1800" spc="50" baseline="0"/>
            </a:lvl1pPr>
            <a:lvl2pPr marL="742950" indent="-285750">
              <a:lnSpc>
                <a:spcPct val="100000"/>
              </a:lnSpc>
              <a:buFont typeface="Arial" panose="020B0604020202020204" pitchFamily="34" charset="0"/>
              <a:buChar char="•"/>
              <a:defRPr lang="ru-RU" sz="1800" spc="50" baseline="0"/>
            </a:lvl2pPr>
            <a:lvl3pPr marL="1200150" indent="-285750">
              <a:lnSpc>
                <a:spcPct val="100000"/>
              </a:lnSpc>
              <a:buFont typeface="Arial" panose="020B0604020202020204" pitchFamily="34" charset="0"/>
              <a:buChar char="•"/>
              <a:defRPr lang="ru-RU" sz="1800" spc="50" baseline="0"/>
            </a:lvl3pPr>
            <a:lvl4pPr marL="1657350" indent="-285750">
              <a:lnSpc>
                <a:spcPct val="100000"/>
              </a:lnSpc>
              <a:buFont typeface="Arial" panose="020B0604020202020204" pitchFamily="34" charset="0"/>
              <a:buChar char="•"/>
              <a:defRPr lang="ru-RU" sz="1800" spc="50" baseline="0"/>
            </a:lvl4pPr>
            <a:lvl5pPr marL="2114550" indent="-285750">
              <a:lnSpc>
                <a:spcPct val="100000"/>
              </a:lnSpc>
              <a:buFont typeface="Arial" panose="020B0604020202020204" pitchFamily="34" charset="0"/>
              <a:buChar char="•"/>
              <a:defRPr lang="ru-RU" sz="1800" spc="50" baseline="0"/>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
        <p:nvSpPr>
          <p:cNvPr id="5" name="Текст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rtlCol="0" anchor="ctr">
            <a:noAutofit/>
          </a:bodyPr>
          <a:lstStyle>
            <a:lvl1pPr marL="0" indent="0">
              <a:buNone/>
              <a:defRPr lang="ru-RU" sz="1800" b="1" kern="1200" spc="50" baseline="0" dirty="0" smtClean="0">
                <a:solidFill>
                  <a:schemeClr val="tx1"/>
                </a:solidFill>
                <a:latin typeface="Arial" panose="020B0604020202020204" pitchFamily="34" charset="0"/>
                <a:ea typeface="+mj-ea"/>
                <a:cs typeface="+mj-cs"/>
              </a:defRPr>
            </a:lvl1pPr>
            <a:lvl2pPr marL="457200" indent="0">
              <a:buNone/>
              <a:defRPr lang="ru-RU" sz="2000" b="1"/>
            </a:lvl2pPr>
            <a:lvl3pPr marL="914400" indent="0">
              <a:buNone/>
              <a:defRPr lang="ru-RU" sz="1800" b="1"/>
            </a:lvl3pPr>
            <a:lvl4pPr marL="1371600" indent="0">
              <a:buNone/>
              <a:defRPr lang="ru-RU" sz="1600" b="1"/>
            </a:lvl4pPr>
            <a:lvl5pPr marL="1828800" indent="0">
              <a:buNone/>
              <a:defRPr lang="ru-RU" sz="1600" b="1"/>
            </a:lvl5pPr>
            <a:lvl6pPr marL="2286000" indent="0">
              <a:buNone/>
              <a:defRPr lang="ru-RU" sz="1600" b="1"/>
            </a:lvl6pPr>
            <a:lvl7pPr marL="2743200" indent="0">
              <a:buNone/>
              <a:defRPr lang="ru-RU" sz="1600" b="1"/>
            </a:lvl7pPr>
            <a:lvl8pPr marL="3200400" indent="0">
              <a:buNone/>
              <a:defRPr lang="ru-RU" sz="1600" b="1"/>
            </a:lvl8pPr>
            <a:lvl9pPr marL="3657600" indent="0">
              <a:buNone/>
              <a:defRPr lang="ru-RU" sz="1600" b="1"/>
            </a:lvl9pPr>
          </a:lstStyle>
          <a:p>
            <a:pPr lvl="0" rtl="0"/>
            <a:r>
              <a:rPr lang="ru-RU" dirty="0"/>
              <a:t>Текст слайда</a:t>
            </a:r>
          </a:p>
        </p:txBody>
      </p:sp>
      <p:sp>
        <p:nvSpPr>
          <p:cNvPr id="7" name="Объект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rtlCol="0">
            <a:normAutofit/>
          </a:bodyPr>
          <a:lstStyle>
            <a:lvl1pPr marL="0" indent="0">
              <a:lnSpc>
                <a:spcPct val="100000"/>
              </a:lnSpc>
              <a:buFont typeface="Arial" panose="020B0604020202020204" pitchFamily="34" charset="0"/>
              <a:buNone/>
              <a:defRPr lang="ru-RU" sz="1800" b="0" spc="50" baseline="0"/>
            </a:lvl1pPr>
            <a:lvl2pPr marL="283464" indent="-285750">
              <a:lnSpc>
                <a:spcPct val="100000"/>
              </a:lnSpc>
              <a:spcBef>
                <a:spcPts val="1000"/>
              </a:spcBef>
              <a:buFont typeface="Arial" panose="020B0604020202020204" pitchFamily="34" charset="0"/>
              <a:buChar char="•"/>
              <a:defRPr lang="ru-RU" sz="1800" spc="50" baseline="0"/>
            </a:lvl2pPr>
            <a:lvl3pPr marL="566928" indent="-285750">
              <a:lnSpc>
                <a:spcPct val="100000"/>
              </a:lnSpc>
              <a:spcBef>
                <a:spcPts val="1000"/>
              </a:spcBef>
              <a:buFont typeface="Arial" panose="020B0604020202020204" pitchFamily="34" charset="0"/>
              <a:buChar char="•"/>
              <a:defRPr lang="ru-RU" sz="1800" spc="50" baseline="0"/>
            </a:lvl3pPr>
            <a:lvl4pPr marL="859536" indent="-285750">
              <a:lnSpc>
                <a:spcPct val="100000"/>
              </a:lnSpc>
              <a:spcBef>
                <a:spcPts val="1000"/>
              </a:spcBef>
              <a:buFont typeface="Arial" panose="020B0604020202020204" pitchFamily="34" charset="0"/>
              <a:buChar char="•"/>
              <a:defRPr lang="ru-RU" sz="1800" spc="50" baseline="0"/>
            </a:lvl4pPr>
            <a:lvl5pPr marL="1152144" indent="-285750">
              <a:lnSpc>
                <a:spcPct val="100000"/>
              </a:lnSpc>
              <a:spcBef>
                <a:spcPts val="1000"/>
              </a:spcBef>
              <a:buFont typeface="Arial" panose="020B0604020202020204" pitchFamily="34" charset="0"/>
              <a:buChar char="•"/>
              <a:defRPr lang="ru-RU" sz="1800" spc="50" baseline="0"/>
            </a:lvl5pPr>
          </a:lstStyle>
          <a:p>
            <a:pPr lvl="0" rtl="0"/>
            <a:r>
              <a:rPr lang="ru-RU"/>
              <a:t>Щелкните, чтобы добавить содержимое</a:t>
            </a:r>
          </a:p>
          <a:p>
            <a:pPr lvl="1" rtl="0"/>
            <a:r>
              <a:rPr lang="ru-RU"/>
              <a:t>Второй уровень</a:t>
            </a:r>
          </a:p>
          <a:p>
            <a:pPr lvl="2" rtl="0"/>
            <a:r>
              <a:rPr lang="ru-RU"/>
              <a:t>Третий уровень</a:t>
            </a:r>
          </a:p>
          <a:p>
            <a:pPr lvl="3" rtl="0"/>
            <a:r>
              <a:rPr lang="ru-RU"/>
              <a:t>Четвертый уровень</a:t>
            </a:r>
          </a:p>
          <a:p>
            <a:pPr lvl="4" rtl="0"/>
            <a:r>
              <a:rPr lang="ru-RU"/>
              <a:t>Пятый уровень</a:t>
            </a:r>
          </a:p>
        </p:txBody>
      </p:sp>
      <p:sp>
        <p:nvSpPr>
          <p:cNvPr id="8" name="Нижний колонтитул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rtlCol="0"/>
          <a:lstStyle>
            <a:lvl1pPr algn="l">
              <a:defRPr lang="ru-RU" sz="900"/>
            </a:lvl1pPr>
          </a:lstStyle>
          <a:p>
            <a:pPr rtl="0"/>
            <a:r>
              <a:rPr lang="ru-RU"/>
              <a:t>ЗАГОЛОВОК ПРЕЗЕНТАЦИИ</a:t>
            </a:r>
          </a:p>
        </p:txBody>
      </p:sp>
      <p:sp>
        <p:nvSpPr>
          <p:cNvPr id="9" name="Номер слайда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lang="ru-RU" sz="900"/>
            </a:lvl1pPr>
          </a:lstStyle>
          <a:p>
            <a:pPr rtl="0"/>
            <a:fld id="{A49DFD55-3C28-40EF-9E31-A92D2E4017FF}" type="slidenum">
              <a:rPr lang="ru-RU" smtClean="0"/>
              <a:pPr/>
              <a:t>‹#›</a:t>
            </a:fld>
            <a:endParaRPr lang="ru-RU" dirty="0"/>
          </a:p>
        </p:txBody>
      </p:sp>
      <p:pic>
        <p:nvPicPr>
          <p:cNvPr id="13" name="Графический объект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Таблица 2">
    <p:bg>
      <p:bgRef idx="1001">
        <a:schemeClr val="bg1"/>
      </p:bgRef>
    </p:bg>
    <p:spTree>
      <p:nvGrpSpPr>
        <p:cNvPr id="1" name=""/>
        <p:cNvGrpSpPr/>
        <p:nvPr/>
      </p:nvGrpSpPr>
      <p:grpSpPr>
        <a:xfrm>
          <a:off x="0" y="0"/>
          <a:ext cx="0" cy="0"/>
          <a:chOff x="0" y="0"/>
          <a:chExt cx="0" cy="0"/>
        </a:xfrm>
      </p:grpSpPr>
      <p:grpSp>
        <p:nvGrpSpPr>
          <p:cNvPr id="10" name="Группа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Прямая соединительная линия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Заголовок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rtlCol="0" anchor="b">
            <a:normAutofit/>
          </a:bodyPr>
          <a:lstStyle>
            <a:lvl1pPr algn="ctr">
              <a:defRPr lang="ru-RU" sz="2800" kern="1200" spc="150" baseline="0" dirty="0">
                <a:solidFill>
                  <a:schemeClr val="tx1"/>
                </a:solidFill>
                <a:latin typeface="Arial" panose="020B0604020202020204" pitchFamily="34" charset="0"/>
                <a:ea typeface="+mj-ea"/>
                <a:cs typeface="+mj-cs"/>
              </a:defRPr>
            </a:lvl1pPr>
          </a:lstStyle>
          <a:p>
            <a:pPr rtl="0"/>
            <a:r>
              <a:rPr lang="ru-RU" dirty="0"/>
              <a:t>ЩЕЛКНИТЕ, ЧТОБЫ добавить заголовок</a:t>
            </a:r>
          </a:p>
        </p:txBody>
      </p:sp>
      <p:sp>
        <p:nvSpPr>
          <p:cNvPr id="8" name="Заполнитель таблицы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rtlCol="0">
            <a:normAutofit/>
          </a:bodyPr>
          <a:lstStyle>
            <a:lvl1pPr marL="0" indent="0" algn="ctr">
              <a:buNone/>
              <a:defRPr lang="ru-RU" sz="2000"/>
            </a:lvl1pPr>
          </a:lstStyle>
          <a:p>
            <a:pPr rtl="0"/>
            <a:r>
              <a:rPr lang="en-US"/>
              <a:t>Click icon to add table</a:t>
            </a:r>
            <a:endParaRPr lang="ru-RU" dirty="0"/>
          </a:p>
        </p:txBody>
      </p:sp>
      <p:sp>
        <p:nvSpPr>
          <p:cNvPr id="6" name="Нижний колонтитул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rtlCol="0"/>
          <a:lstStyle>
            <a:lvl1pPr algn="l">
              <a:defRPr lang="ru-RU" sz="900"/>
            </a:lvl1pPr>
          </a:lstStyle>
          <a:p>
            <a:pPr rtl="0"/>
            <a:r>
              <a:rPr lang="ru-RU"/>
              <a:t>ЗАГОЛОВОК ПРЕЗЕНТАЦИИ</a:t>
            </a:r>
          </a:p>
        </p:txBody>
      </p:sp>
      <p:sp>
        <p:nvSpPr>
          <p:cNvPr id="7" name="Номер слайда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rtlCol="0"/>
          <a:lstStyle>
            <a:lvl1pPr>
              <a:defRPr lang="ru-RU" sz="900"/>
            </a:lvl1pPr>
          </a:lstStyle>
          <a:p>
            <a:pPr rtl="0"/>
            <a:fld id="{A49DFD55-3C28-40EF-9E31-A92D2E4017FF}" type="slidenum">
              <a:rPr lang="ru-RU" smtClean="0"/>
              <a:pPr/>
              <a:t>‹#›</a:t>
            </a:fld>
            <a:endParaRPr lang="ru-RU"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Заключение">
    <p:bg>
      <p:bgPr>
        <a:solidFill>
          <a:schemeClr val="tx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lang="ru-RU" sz="3600" spc="150" baseline="0">
                <a:solidFill>
                  <a:schemeClr val="bg1"/>
                </a:solidFill>
              </a:defRPr>
            </a:lvl1pPr>
          </a:lstStyle>
          <a:p>
            <a:pPr rtl="0"/>
            <a:r>
              <a:rPr lang="ru-RU"/>
              <a:t>Заголовок слайда</a:t>
            </a:r>
          </a:p>
        </p:txBody>
      </p:sp>
      <p:sp>
        <p:nvSpPr>
          <p:cNvPr id="3" name="Подзаголовок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rtlCol="0">
            <a:normAutofit/>
          </a:bodyPr>
          <a:lstStyle>
            <a:lvl1pPr marL="0" indent="0" algn="l">
              <a:lnSpc>
                <a:spcPct val="150000"/>
              </a:lnSpc>
              <a:buNone/>
              <a:defRPr lang="ru-RU" sz="1800" spc="50" baseline="0">
                <a:solidFill>
                  <a:schemeClr val="bg1"/>
                </a:solidFill>
              </a:defRPr>
            </a:lvl1pPr>
            <a:lvl2pPr marL="457200" indent="0" algn="ctr">
              <a:buNone/>
              <a:defRPr lang="ru-RU" sz="2000"/>
            </a:lvl2pPr>
            <a:lvl3pPr marL="914400" indent="0" algn="ctr">
              <a:buNone/>
              <a:defRPr lang="ru-RU" sz="1800"/>
            </a:lvl3pPr>
            <a:lvl4pPr marL="1371600" indent="0" algn="ctr">
              <a:buNone/>
              <a:defRPr lang="ru-RU" sz="1600"/>
            </a:lvl4pPr>
            <a:lvl5pPr marL="1828800" indent="0" algn="ctr">
              <a:buNone/>
              <a:defRPr lang="ru-RU" sz="1600"/>
            </a:lvl5pPr>
            <a:lvl6pPr marL="2286000" indent="0" algn="ctr">
              <a:buNone/>
              <a:defRPr lang="ru-RU" sz="1600"/>
            </a:lvl6pPr>
            <a:lvl7pPr marL="2743200" indent="0" algn="ctr">
              <a:buNone/>
              <a:defRPr lang="ru-RU" sz="1600"/>
            </a:lvl7pPr>
            <a:lvl8pPr marL="3200400" indent="0" algn="ctr">
              <a:buNone/>
              <a:defRPr lang="ru-RU" sz="1600"/>
            </a:lvl8pPr>
            <a:lvl9pPr marL="3657600" indent="0" algn="ctr">
              <a:buNone/>
              <a:defRPr lang="ru-RU" sz="1600"/>
            </a:lvl9pPr>
          </a:lstStyle>
          <a:p>
            <a:pPr rtl="0"/>
            <a:r>
              <a:rPr lang="ru-RU"/>
              <a:t>Подзаголовок слайда</a:t>
            </a:r>
          </a:p>
        </p:txBody>
      </p:sp>
      <p:pic>
        <p:nvPicPr>
          <p:cNvPr id="6" name="Графический объект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Нижний колонтитул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rtlCol="0"/>
          <a:lstStyle>
            <a:lvl1pPr algn="l">
              <a:defRPr lang="ru-RU" sz="900"/>
            </a:lvl1pPr>
          </a:lstStyle>
          <a:p>
            <a:pPr rtl="0"/>
            <a:r>
              <a:rPr lang="ru-RU"/>
              <a:t>НАЗВАНИЕ ПРЕЗЕНТАЦИИ</a:t>
            </a:r>
          </a:p>
        </p:txBody>
      </p:sp>
      <p:sp>
        <p:nvSpPr>
          <p:cNvPr id="11" name="Номер слайда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lang="ru-RU" sz="900"/>
            </a:lvl1pPr>
          </a:lstStyle>
          <a:p>
            <a:pPr rtl="0"/>
            <a:fld id="{A49DFD55-3C28-40EF-9E31-A92D2E4017FF}" type="slidenum">
              <a:rPr lang="ru-RU" smtClean="0"/>
              <a:pPr/>
              <a:t>‹#›</a:t>
            </a:fld>
            <a:endParaRPr lang="ru-RU"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ru-RU"/>
            </a:defPPr>
          </a:lstStyle>
          <a:p>
            <a:pPr rtl="0"/>
            <a:r>
              <a:rPr lang="ru-RU" dirty="0"/>
              <a:t>Образец заголовка</a:t>
            </a:r>
          </a:p>
        </p:txBody>
      </p:sp>
      <p:sp>
        <p:nvSpPr>
          <p:cNvPr id="3" name="Текст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ru-RU"/>
            </a:defPPr>
          </a:lstStyle>
          <a:p>
            <a:pPr lvl="0" rtl="0"/>
            <a:r>
              <a:rPr lang="ru-RU" dirty="0"/>
              <a:t>Щелкните, чтобы изменить стили текста образца слайда</a:t>
            </a:r>
          </a:p>
          <a:p>
            <a:pPr lvl="1" rtl="0"/>
            <a:r>
              <a:rPr lang="ru-RU" dirty="0"/>
              <a:t>Второй уровень</a:t>
            </a:r>
          </a:p>
          <a:p>
            <a:pPr lvl="2" rtl="0"/>
            <a:r>
              <a:rPr lang="ru-RU" dirty="0"/>
              <a:t>Третий уровень</a:t>
            </a:r>
          </a:p>
          <a:p>
            <a:pPr lvl="3" rtl="0"/>
            <a:r>
              <a:rPr lang="ru-RU" dirty="0"/>
              <a:t>Четвертый уровень</a:t>
            </a:r>
          </a:p>
          <a:p>
            <a:pPr lvl="4" rtl="0"/>
            <a:r>
              <a:rPr lang="ru-RU" dirty="0"/>
              <a:t>Пятый уровень</a:t>
            </a:r>
          </a:p>
        </p:txBody>
      </p:sp>
      <p:sp>
        <p:nvSpPr>
          <p:cNvPr id="4" name="Дата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ru-RU" sz="1200">
                <a:solidFill>
                  <a:schemeClr val="tx1">
                    <a:tint val="75000"/>
                  </a:schemeClr>
                </a:solidFill>
                <a:latin typeface="Arial" panose="020B0604020202020204" pitchFamily="34" charset="0"/>
              </a:defRPr>
            </a:lvl1pPr>
          </a:lstStyle>
          <a:p>
            <a:endParaRPr lang="ru-RU" dirty="0"/>
          </a:p>
        </p:txBody>
      </p:sp>
      <p:sp>
        <p:nvSpPr>
          <p:cNvPr id="5" name="Нижний колонтитул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ru-RU" sz="1200">
                <a:solidFill>
                  <a:schemeClr val="tx1">
                    <a:tint val="75000"/>
                  </a:schemeClr>
                </a:solidFill>
                <a:latin typeface="Arial" panose="020B0604020202020204" pitchFamily="34" charset="0"/>
              </a:defRPr>
            </a:lvl1pPr>
          </a:lstStyle>
          <a:p>
            <a:r>
              <a:rPr lang="ru-RU" dirty="0"/>
              <a:t>ЗАГОЛОВОК ПРЕЗЕНТАЦИИ</a:t>
            </a:r>
          </a:p>
        </p:txBody>
      </p:sp>
      <p:sp>
        <p:nvSpPr>
          <p:cNvPr id="6" name="Номер слайда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ru-RU" sz="1200">
                <a:solidFill>
                  <a:schemeClr val="tx1">
                    <a:tint val="75000"/>
                  </a:schemeClr>
                </a:solidFill>
                <a:latin typeface="Arial" panose="020B0604020202020204" pitchFamily="34" charset="0"/>
              </a:defRPr>
            </a:lvl1pPr>
          </a:lstStyle>
          <a:p>
            <a:fld id="{A49DFD55-3C28-40EF-9E31-A92D2E4017FF}" type="slidenum">
              <a:rPr lang="ru-RU" smtClean="0"/>
              <a:pPr/>
              <a:t>‹#›</a:t>
            </a:fld>
            <a:endParaRPr lang="ru-RU"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lang="ru-RU" sz="4400" kern="1200" cap="all" baseline="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ru-RU"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ru-RU"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ru-RU"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ru-RU"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ru-RU"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lang="ru-RU"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ru-RU"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ru-RU"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ru-RU" sz="1800" kern="1200">
          <a:solidFill>
            <a:schemeClr val="tx1"/>
          </a:solidFill>
          <a:latin typeface="+mn-lt"/>
          <a:ea typeface="+mn-ea"/>
          <a:cs typeface="+mn-cs"/>
        </a:defRPr>
      </a:lvl9pPr>
    </p:bodyStyle>
    <p:otherStyle>
      <a:defPPr>
        <a:defRPr lang="ru-RU"/>
      </a:defPPr>
      <a:lvl1pPr marL="0" algn="l" defTabSz="914400" rtl="0" eaLnBrk="1" latinLnBrk="0" hangingPunct="1">
        <a:defRPr lang="ru-RU" sz="1800" kern="1200">
          <a:solidFill>
            <a:schemeClr val="tx1"/>
          </a:solidFill>
          <a:latin typeface="+mn-lt"/>
          <a:ea typeface="+mn-ea"/>
          <a:cs typeface="+mn-cs"/>
        </a:defRPr>
      </a:lvl1pPr>
      <a:lvl2pPr marL="457200" algn="l" defTabSz="914400" rtl="0" eaLnBrk="1" latinLnBrk="0" hangingPunct="1">
        <a:defRPr lang="ru-RU" sz="1800" kern="1200">
          <a:solidFill>
            <a:schemeClr val="tx1"/>
          </a:solidFill>
          <a:latin typeface="+mn-lt"/>
          <a:ea typeface="+mn-ea"/>
          <a:cs typeface="+mn-cs"/>
        </a:defRPr>
      </a:lvl2pPr>
      <a:lvl3pPr marL="914400" algn="l" defTabSz="914400" rtl="0" eaLnBrk="1" latinLnBrk="0" hangingPunct="1">
        <a:defRPr lang="ru-RU" sz="1800" kern="1200">
          <a:solidFill>
            <a:schemeClr val="tx1"/>
          </a:solidFill>
          <a:latin typeface="+mn-lt"/>
          <a:ea typeface="+mn-ea"/>
          <a:cs typeface="+mn-cs"/>
        </a:defRPr>
      </a:lvl3pPr>
      <a:lvl4pPr marL="1371600" algn="l" defTabSz="914400" rtl="0" eaLnBrk="1" latinLnBrk="0" hangingPunct="1">
        <a:defRPr lang="ru-RU" sz="1800" kern="1200">
          <a:solidFill>
            <a:schemeClr val="tx1"/>
          </a:solidFill>
          <a:latin typeface="+mn-lt"/>
          <a:ea typeface="+mn-ea"/>
          <a:cs typeface="+mn-cs"/>
        </a:defRPr>
      </a:lvl4pPr>
      <a:lvl5pPr marL="1828800" algn="l" defTabSz="914400" rtl="0" eaLnBrk="1" latinLnBrk="0" hangingPunct="1">
        <a:defRPr lang="ru-RU" sz="1800" kern="1200">
          <a:solidFill>
            <a:schemeClr val="tx1"/>
          </a:solidFill>
          <a:latin typeface="+mn-lt"/>
          <a:ea typeface="+mn-ea"/>
          <a:cs typeface="+mn-cs"/>
        </a:defRPr>
      </a:lvl5pPr>
      <a:lvl6pPr marL="2286000" algn="l" defTabSz="914400" rtl="0" eaLnBrk="1" latinLnBrk="0" hangingPunct="1">
        <a:defRPr lang="ru-RU" sz="1800" kern="1200">
          <a:solidFill>
            <a:schemeClr val="tx1"/>
          </a:solidFill>
          <a:latin typeface="+mn-lt"/>
          <a:ea typeface="+mn-ea"/>
          <a:cs typeface="+mn-cs"/>
        </a:defRPr>
      </a:lvl6pPr>
      <a:lvl7pPr marL="2743200" algn="l" defTabSz="914400" rtl="0" eaLnBrk="1" latinLnBrk="0" hangingPunct="1">
        <a:defRPr lang="ru-RU" sz="1800" kern="1200">
          <a:solidFill>
            <a:schemeClr val="tx1"/>
          </a:solidFill>
          <a:latin typeface="+mn-lt"/>
          <a:ea typeface="+mn-ea"/>
          <a:cs typeface="+mn-cs"/>
        </a:defRPr>
      </a:lvl7pPr>
      <a:lvl8pPr marL="3200400" algn="l" defTabSz="914400" rtl="0" eaLnBrk="1" latinLnBrk="0" hangingPunct="1">
        <a:defRPr lang="ru-RU" sz="1800" kern="1200">
          <a:solidFill>
            <a:schemeClr val="tx1"/>
          </a:solidFill>
          <a:latin typeface="+mn-lt"/>
          <a:ea typeface="+mn-ea"/>
          <a:cs typeface="+mn-cs"/>
        </a:defRPr>
      </a:lvl8pPr>
      <a:lvl9pPr marL="3657600" algn="l" defTabSz="914400" rtl="0" eaLnBrk="1" latinLnBrk="0" hangingPunct="1">
        <a:defRPr lang="ru-RU"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Instruction_pipelining" TargetMode="External"/><Relationship Id="rId2" Type="http://schemas.openxmlformats.org/officeDocument/2006/relationships/hyperlink" Target="https://en.wikipedia.org/wiki/Branch_predictor"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9E897-C318-6861-07E3-27C7CFB35734}"/>
            </a:ext>
          </a:extLst>
        </p:cNvPr>
        <p:cNvGrpSpPr/>
        <p:nvPr/>
      </p:nvGrpSpPr>
      <p:grpSpPr>
        <a:xfrm>
          <a:off x="0" y="0"/>
          <a:ext cx="0" cy="0"/>
          <a:chOff x="0" y="0"/>
          <a:chExt cx="0" cy="0"/>
        </a:xfrm>
      </p:grpSpPr>
      <p:sp>
        <p:nvSpPr>
          <p:cNvPr id="68" name="Номер слайда 67">
            <a:extLst>
              <a:ext uri="{FF2B5EF4-FFF2-40B4-BE49-F238E27FC236}">
                <a16:creationId xmlns:a16="http://schemas.microsoft.com/office/drawing/2014/main" id="{A80F5CE4-CBB8-DF0E-C5B1-47838D0A6154}"/>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pPr rtl="0"/>
              <a:t>1</a:t>
            </a:fld>
            <a:endParaRPr lang="ru-RU" dirty="0"/>
          </a:p>
        </p:txBody>
      </p:sp>
      <p:sp>
        <p:nvSpPr>
          <p:cNvPr id="11" name="Заголовок 1">
            <a:extLst>
              <a:ext uri="{FF2B5EF4-FFF2-40B4-BE49-F238E27FC236}">
                <a16:creationId xmlns:a16="http://schemas.microsoft.com/office/drawing/2014/main" id="{074E29EF-8F6E-9008-439A-50266ADAD768}"/>
              </a:ext>
            </a:extLst>
          </p:cNvPr>
          <p:cNvSpPr txBox="1">
            <a:spLocks/>
          </p:cNvSpPr>
          <p:nvPr/>
        </p:nvSpPr>
        <p:spPr>
          <a:xfrm>
            <a:off x="99059" y="6084590"/>
            <a:ext cx="5876109" cy="543518"/>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endParaRPr lang="en-US" dirty="0"/>
          </a:p>
        </p:txBody>
      </p:sp>
      <p:sp>
        <p:nvSpPr>
          <p:cNvPr id="5" name="TextBox 4">
            <a:extLst>
              <a:ext uri="{FF2B5EF4-FFF2-40B4-BE49-F238E27FC236}">
                <a16:creationId xmlns:a16="http://schemas.microsoft.com/office/drawing/2014/main" id="{091C37EA-8377-2D8F-8386-58D2142AC653}"/>
              </a:ext>
            </a:extLst>
          </p:cNvPr>
          <p:cNvSpPr txBox="1"/>
          <p:nvPr/>
        </p:nvSpPr>
        <p:spPr>
          <a:xfrm>
            <a:off x="3388449" y="2567226"/>
            <a:ext cx="5173437" cy="861774"/>
          </a:xfrm>
          <a:prstGeom prst="rect">
            <a:avLst/>
          </a:prstGeom>
          <a:noFill/>
        </p:spPr>
        <p:txBody>
          <a:bodyPr wrap="square" rtlCol="0">
            <a:spAutoFit/>
          </a:bodyPr>
          <a:lstStyle/>
          <a:p>
            <a:r>
              <a:rPr lang="it-IT" sz="3200" dirty="0"/>
              <a:t>PARALLEL RISC PROCESSOR </a:t>
            </a:r>
          </a:p>
          <a:p>
            <a:r>
              <a:rPr lang="it-IT" dirty="0"/>
              <a:t>                             Ilya Kirshtein</a:t>
            </a:r>
            <a:endParaRPr lang="en-US" dirty="0"/>
          </a:p>
        </p:txBody>
      </p:sp>
    </p:spTree>
    <p:extLst>
      <p:ext uri="{BB962C8B-B14F-4D97-AF65-F5344CB8AC3E}">
        <p14:creationId xmlns:p14="http://schemas.microsoft.com/office/powerpoint/2010/main" val="1590061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E229B-32BA-8D40-9E33-30D709DB8AA8}"/>
            </a:ext>
          </a:extLst>
        </p:cNvPr>
        <p:cNvGrpSpPr/>
        <p:nvPr/>
      </p:nvGrpSpPr>
      <p:grpSpPr>
        <a:xfrm>
          <a:off x="0" y="0"/>
          <a:ext cx="0" cy="0"/>
          <a:chOff x="0" y="0"/>
          <a:chExt cx="0" cy="0"/>
        </a:xfrm>
      </p:grpSpPr>
      <p:sp>
        <p:nvSpPr>
          <p:cNvPr id="68" name="Номер слайда 67">
            <a:extLst>
              <a:ext uri="{FF2B5EF4-FFF2-40B4-BE49-F238E27FC236}">
                <a16:creationId xmlns:a16="http://schemas.microsoft.com/office/drawing/2014/main" id="{E2CC8186-FE60-ED1B-C7BF-5DBCA0E348DD}"/>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pPr rtl="0"/>
              <a:t>2</a:t>
            </a:fld>
            <a:endParaRPr lang="ru-RU" dirty="0"/>
          </a:p>
        </p:txBody>
      </p:sp>
      <p:sp>
        <p:nvSpPr>
          <p:cNvPr id="11" name="Заголовок 1">
            <a:extLst>
              <a:ext uri="{FF2B5EF4-FFF2-40B4-BE49-F238E27FC236}">
                <a16:creationId xmlns:a16="http://schemas.microsoft.com/office/drawing/2014/main" id="{F002544C-5467-A3DB-7F1F-7528BDB0F8BF}"/>
              </a:ext>
            </a:extLst>
          </p:cNvPr>
          <p:cNvSpPr txBox="1">
            <a:spLocks/>
          </p:cNvSpPr>
          <p:nvPr/>
        </p:nvSpPr>
        <p:spPr>
          <a:xfrm>
            <a:off x="99059" y="6084590"/>
            <a:ext cx="5876109" cy="543518"/>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endParaRPr lang="en-US" dirty="0"/>
          </a:p>
        </p:txBody>
      </p:sp>
      <p:sp>
        <p:nvSpPr>
          <p:cNvPr id="5" name="TextBox 4">
            <a:extLst>
              <a:ext uri="{FF2B5EF4-FFF2-40B4-BE49-F238E27FC236}">
                <a16:creationId xmlns:a16="http://schemas.microsoft.com/office/drawing/2014/main" id="{F00BF900-F24F-98ED-03CE-AD1132B2AECA}"/>
              </a:ext>
            </a:extLst>
          </p:cNvPr>
          <p:cNvSpPr txBox="1"/>
          <p:nvPr/>
        </p:nvSpPr>
        <p:spPr>
          <a:xfrm>
            <a:off x="233089" y="1997839"/>
            <a:ext cx="11725821" cy="3416320"/>
          </a:xfrm>
          <a:prstGeom prst="rect">
            <a:avLst/>
          </a:prstGeom>
          <a:noFill/>
        </p:spPr>
        <p:txBody>
          <a:bodyPr wrap="square" rtlCol="0">
            <a:spAutoFit/>
          </a:bodyPr>
          <a:lstStyle/>
          <a:p>
            <a:r>
              <a:rPr lang="en-US" b="1" u="sng" dirty="0"/>
              <a:t>Aim of the presentation</a:t>
            </a:r>
          </a:p>
          <a:p>
            <a:r>
              <a:rPr lang="en-US" dirty="0">
                <a:ea typeface="ADLaM Display" panose="020F0502020204030204" pitchFamily="2" charset="0"/>
              </a:rPr>
              <a:t>My goal is to introduce you to the world of processors by showing you my custom made RISC processor, whether you are a programmer, or simply a tech </a:t>
            </a:r>
            <a:r>
              <a:rPr lang="en-US" dirty="0"/>
              <a:t>enthusiast</a:t>
            </a:r>
            <a:r>
              <a:rPr lang="en-US" dirty="0">
                <a:ea typeface="ADLaM Display" panose="020F0502020204030204" pitchFamily="2" charset="0"/>
              </a:rPr>
              <a:t>.</a:t>
            </a:r>
          </a:p>
          <a:p>
            <a:r>
              <a:rPr lang="en-US" dirty="0">
                <a:ea typeface="ADLaM Display" panose="020F0502020204030204" pitchFamily="2" charset="0"/>
              </a:rPr>
              <a:t>This presentation will provide a clear glimpse into how RISC processors work under the hood.</a:t>
            </a:r>
          </a:p>
          <a:p>
            <a:endParaRPr lang="en-US" dirty="0">
              <a:ea typeface="ADLaM Display" panose="020F0502020204030204" pitchFamily="2" charset="0"/>
            </a:endParaRPr>
          </a:p>
          <a:p>
            <a:r>
              <a:rPr lang="en-US" dirty="0"/>
              <a:t>The slides will cover the architecture, key components, and their roles within the CPU. I will also demonstrate a few simple and visual examples of the processor in action to make the concepts easier to understand.</a:t>
            </a:r>
          </a:p>
          <a:p>
            <a:endParaRPr lang="en-US" dirty="0">
              <a:ea typeface="ADLaM Display" panose="020F0502020204030204" pitchFamily="2" charset="0"/>
            </a:endParaRPr>
          </a:p>
          <a:p>
            <a:endParaRPr lang="en-US" dirty="0">
              <a:ea typeface="ADLaM Display" panose="020F0502020204030204" pitchFamily="2" charset="0"/>
            </a:endParaRPr>
          </a:p>
          <a:p>
            <a:r>
              <a:rPr lang="en-US" dirty="0">
                <a:ea typeface="ADLaM Display" panose="020F0502020204030204" pitchFamily="2" charset="0"/>
              </a:rPr>
              <a:t>Disclaimer: This processor is </a:t>
            </a:r>
            <a:r>
              <a:rPr lang="en-US" dirty="0"/>
              <a:t>heavily inspired </a:t>
            </a:r>
            <a:r>
              <a:rPr lang="en-US" dirty="0">
                <a:ea typeface="ADLaM Display" panose="020F0502020204030204" pitchFamily="2" charset="0"/>
              </a:rPr>
              <a:t>by RISC architecture, but some components are custom made,</a:t>
            </a:r>
          </a:p>
          <a:p>
            <a:r>
              <a:rPr lang="en-US" dirty="0">
                <a:ea typeface="ADLaM Display" panose="020F0502020204030204" pitchFamily="2" charset="0"/>
              </a:rPr>
              <a:t>This means that Modern / Professional processors might differ, I will note t</a:t>
            </a:r>
            <a:r>
              <a:rPr lang="en-US" dirty="0"/>
              <a:t>hroughout </a:t>
            </a:r>
            <a:r>
              <a:rPr lang="en-US" dirty="0">
                <a:ea typeface="ADLaM Display" panose="020F0502020204030204" pitchFamily="2" charset="0"/>
              </a:rPr>
              <a:t>the slides the differences I know of.</a:t>
            </a:r>
            <a:endParaRPr lang="en-US" dirty="0"/>
          </a:p>
        </p:txBody>
      </p:sp>
    </p:spTree>
    <p:extLst>
      <p:ext uri="{BB962C8B-B14F-4D97-AF65-F5344CB8AC3E}">
        <p14:creationId xmlns:p14="http://schemas.microsoft.com/office/powerpoint/2010/main" val="2248230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873EA-D2A1-AED5-A7A4-E58C4964E9F1}"/>
            </a:ext>
          </a:extLst>
        </p:cNvPr>
        <p:cNvGrpSpPr/>
        <p:nvPr/>
      </p:nvGrpSpPr>
      <p:grpSpPr>
        <a:xfrm>
          <a:off x="0" y="0"/>
          <a:ext cx="0" cy="0"/>
          <a:chOff x="0" y="0"/>
          <a:chExt cx="0" cy="0"/>
        </a:xfrm>
      </p:grpSpPr>
      <p:sp>
        <p:nvSpPr>
          <p:cNvPr id="68" name="Номер слайда 67">
            <a:extLst>
              <a:ext uri="{FF2B5EF4-FFF2-40B4-BE49-F238E27FC236}">
                <a16:creationId xmlns:a16="http://schemas.microsoft.com/office/drawing/2014/main" id="{092B097D-F771-5DB9-44C1-F1A9B258FC3C}"/>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pPr rtl="0"/>
              <a:t>3</a:t>
            </a:fld>
            <a:endParaRPr lang="ru-RU" dirty="0"/>
          </a:p>
        </p:txBody>
      </p:sp>
      <p:sp>
        <p:nvSpPr>
          <p:cNvPr id="11" name="Заголовок 1">
            <a:extLst>
              <a:ext uri="{FF2B5EF4-FFF2-40B4-BE49-F238E27FC236}">
                <a16:creationId xmlns:a16="http://schemas.microsoft.com/office/drawing/2014/main" id="{753C7844-1DD4-139A-C2D8-178727F35CAD}"/>
              </a:ext>
            </a:extLst>
          </p:cNvPr>
          <p:cNvSpPr txBox="1">
            <a:spLocks/>
          </p:cNvSpPr>
          <p:nvPr/>
        </p:nvSpPr>
        <p:spPr>
          <a:xfrm>
            <a:off x="99059" y="6084590"/>
            <a:ext cx="5876109" cy="543518"/>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endParaRPr lang="en-US" dirty="0"/>
          </a:p>
        </p:txBody>
      </p:sp>
      <p:sp>
        <p:nvSpPr>
          <p:cNvPr id="5" name="TextBox 4">
            <a:extLst>
              <a:ext uri="{FF2B5EF4-FFF2-40B4-BE49-F238E27FC236}">
                <a16:creationId xmlns:a16="http://schemas.microsoft.com/office/drawing/2014/main" id="{7994B19A-2F2D-33CE-3CDE-8D7AB08A7203}"/>
              </a:ext>
            </a:extLst>
          </p:cNvPr>
          <p:cNvSpPr txBox="1"/>
          <p:nvPr/>
        </p:nvSpPr>
        <p:spPr>
          <a:xfrm>
            <a:off x="233089" y="1028343"/>
            <a:ext cx="11725821" cy="5078313"/>
          </a:xfrm>
          <a:prstGeom prst="rect">
            <a:avLst/>
          </a:prstGeom>
          <a:noFill/>
        </p:spPr>
        <p:txBody>
          <a:bodyPr wrap="square" rtlCol="0">
            <a:spAutoFit/>
          </a:bodyPr>
          <a:lstStyle/>
          <a:p>
            <a:r>
              <a:rPr lang="en-US" b="1" u="sng" dirty="0"/>
              <a:t>Project Overview</a:t>
            </a:r>
          </a:p>
          <a:p>
            <a:r>
              <a:rPr lang="en-US" dirty="0">
                <a:ea typeface="ADLaM Display" panose="020F0502020204030204" pitchFamily="2" charset="0"/>
              </a:rPr>
              <a:t>RISC – reduced instruction set computer</a:t>
            </a:r>
          </a:p>
          <a:p>
            <a:r>
              <a:rPr lang="en-US" dirty="0">
                <a:ea typeface="ADLaM Display" panose="020F0502020204030204" pitchFamily="2" charset="0"/>
              </a:rPr>
              <a:t>A popular architecture for microcontrollers and embedded systems</a:t>
            </a:r>
          </a:p>
          <a:p>
            <a:endParaRPr lang="en-US" dirty="0">
              <a:ea typeface="ADLaM Display" panose="020F0502020204030204" pitchFamily="2" charset="0"/>
            </a:endParaRPr>
          </a:p>
          <a:p>
            <a:r>
              <a:rPr lang="en-US" dirty="0"/>
              <a:t>The key operational concept of the RISC computer is that each instruction performs only one function.</a:t>
            </a:r>
          </a:p>
          <a:p>
            <a:endParaRPr lang="en-US" dirty="0">
              <a:ea typeface="ADLaM Display" panose="020F0502020204030204" pitchFamily="2" charset="0"/>
            </a:endParaRPr>
          </a:p>
          <a:p>
            <a:r>
              <a:rPr lang="en-US" dirty="0"/>
              <a:t>This simplicity allows for faster instruction execution, efficient pipelining, and reduced hardware complexity, making RISC ideal for high-performance and low-power applications.</a:t>
            </a:r>
            <a:endParaRPr lang="en-US" dirty="0">
              <a:ea typeface="ADLaM Display" panose="020F0502020204030204" pitchFamily="2" charset="0"/>
            </a:endParaRPr>
          </a:p>
          <a:p>
            <a:endParaRPr lang="en-US" dirty="0"/>
          </a:p>
          <a:p>
            <a:r>
              <a:rPr lang="en-US" dirty="0"/>
              <a:t>This Parallel RISC Processor demonstrates the principles of RISC-based CPU design, pipelining, hazard management, and parallel instruction execution. Through custom VHDL implementation, dual-ALU architecture.</a:t>
            </a:r>
          </a:p>
          <a:p>
            <a:endParaRPr lang="en-US" dirty="0"/>
          </a:p>
          <a:p>
            <a:endParaRPr lang="en-US" dirty="0"/>
          </a:p>
          <a:p>
            <a:r>
              <a:rPr lang="en-US" b="1" u="sng" dirty="0"/>
              <a:t>Parallel Execution</a:t>
            </a:r>
          </a:p>
          <a:p>
            <a:r>
              <a:rPr lang="en-US" dirty="0"/>
              <a:t>The processor is designed with two independent instruction pipelines, allowing it to process up to two instructions per clock cycle. In this presentation, we will explore how this mechanism works, whether it truly improves performance, and the potential challenges and risks involved when attempting to execute two instructions simultaneously.</a:t>
            </a:r>
            <a:endParaRPr lang="he-IL" dirty="0"/>
          </a:p>
        </p:txBody>
      </p:sp>
    </p:spTree>
    <p:extLst>
      <p:ext uri="{BB962C8B-B14F-4D97-AF65-F5344CB8AC3E}">
        <p14:creationId xmlns:p14="http://schemas.microsoft.com/office/powerpoint/2010/main" val="1297564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A2A6A-D893-8944-86B1-C36DFE7E908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04234D-51C1-DD6C-50F4-68C99D001BFC}"/>
              </a:ext>
            </a:extLst>
          </p:cNvPr>
          <p:cNvSpPr>
            <a:spLocks noGrp="1"/>
          </p:cNvSpPr>
          <p:nvPr>
            <p:ph type="title"/>
          </p:nvPr>
        </p:nvSpPr>
        <p:spPr>
          <a:xfrm>
            <a:off x="172266" y="329168"/>
            <a:ext cx="5876109" cy="543518"/>
          </a:xfrm>
        </p:spPr>
        <p:txBody>
          <a:bodyPr rtlCol="0"/>
          <a:lstStyle>
            <a:defPPr>
              <a:defRPr lang="ru-RU"/>
            </a:defPPr>
          </a:lstStyle>
          <a:p>
            <a:pPr algn="l"/>
            <a:r>
              <a:rPr lang="en-US" cap="none" dirty="0">
                <a:latin typeface="+mn-lt"/>
              </a:rPr>
              <a:t>Components:</a:t>
            </a:r>
            <a:endParaRPr lang="ru-RU" cap="none" dirty="0">
              <a:latin typeface="+mn-lt"/>
            </a:endParaRPr>
          </a:p>
        </p:txBody>
      </p:sp>
      <p:sp>
        <p:nvSpPr>
          <p:cNvPr id="68" name="Номер слайда 67">
            <a:extLst>
              <a:ext uri="{FF2B5EF4-FFF2-40B4-BE49-F238E27FC236}">
                <a16:creationId xmlns:a16="http://schemas.microsoft.com/office/drawing/2014/main" id="{50A56657-4F88-EA53-8729-C3A0653D18ED}"/>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pPr rtl="0"/>
              <a:t>4</a:t>
            </a:fld>
            <a:endParaRPr lang="ru-RU" dirty="0"/>
          </a:p>
        </p:txBody>
      </p:sp>
      <p:sp>
        <p:nvSpPr>
          <p:cNvPr id="7" name="TextBox 6">
            <a:extLst>
              <a:ext uri="{FF2B5EF4-FFF2-40B4-BE49-F238E27FC236}">
                <a16:creationId xmlns:a16="http://schemas.microsoft.com/office/drawing/2014/main" id="{0502662E-B4FB-2BBF-F719-F8888227800F}"/>
              </a:ext>
            </a:extLst>
          </p:cNvPr>
          <p:cNvSpPr txBox="1"/>
          <p:nvPr/>
        </p:nvSpPr>
        <p:spPr>
          <a:xfrm>
            <a:off x="172266" y="766732"/>
            <a:ext cx="11572059" cy="5047536"/>
          </a:xfrm>
          <a:prstGeom prst="rect">
            <a:avLst/>
          </a:prstGeom>
          <a:noFill/>
        </p:spPr>
        <p:txBody>
          <a:bodyPr wrap="square" rtlCol="0">
            <a:spAutoFit/>
          </a:bodyPr>
          <a:lstStyle/>
          <a:p>
            <a:endParaRPr lang="en-US" sz="1600" dirty="0"/>
          </a:p>
          <a:p>
            <a:pPr marL="285750" indent="-285750">
              <a:buFont typeface="Arial" panose="020B0604020202020204" pitchFamily="34" charset="0"/>
              <a:buChar char="•"/>
            </a:pPr>
            <a:r>
              <a:rPr lang="en-US" u="sng" dirty="0"/>
              <a:t>RAM</a:t>
            </a:r>
            <a:r>
              <a:rPr lang="en-US" dirty="0"/>
              <a:t> – Main working memory, used to read and write data during run time.</a:t>
            </a:r>
          </a:p>
          <a:p>
            <a:r>
              <a:rPr lang="en-US" dirty="0"/>
              <a:t>     The CPU includes 2 of those in different ‘costumes’ one that works as explained above, and one that works as</a:t>
            </a:r>
          </a:p>
          <a:p>
            <a:r>
              <a:rPr lang="en-US" dirty="0"/>
              <a:t>     read only stack for the instructions.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u="sng" dirty="0"/>
              <a:t>Register</a:t>
            </a:r>
            <a:r>
              <a:rPr lang="en-US" dirty="0"/>
              <a:t> – High speed memory unit, capable of storing a single data entry, connected directly to the ALU.</a:t>
            </a:r>
          </a:p>
          <a:p>
            <a:r>
              <a:rPr lang="en-US" dirty="0"/>
              <a:t>     Our Processor provides 4 Registers, R1, R2, R3, R4.</a:t>
            </a:r>
          </a:p>
          <a:p>
            <a:pPr marL="285750" indent="-285750">
              <a:buFont typeface="Arial" panose="020B0604020202020204" pitchFamily="34" charset="0"/>
              <a:buChar char="•"/>
            </a:pPr>
            <a:endParaRPr lang="en-US" u="sng" dirty="0"/>
          </a:p>
          <a:p>
            <a:pPr marL="285750" indent="-285750">
              <a:buFont typeface="Arial" panose="020B0604020202020204" pitchFamily="34" charset="0"/>
              <a:buChar char="•"/>
            </a:pPr>
            <a:r>
              <a:rPr lang="en-US" u="sng" dirty="0"/>
              <a:t>ALU</a:t>
            </a:r>
            <a:r>
              <a:rPr lang="en-US" dirty="0"/>
              <a:t> – Arithmetic Logic Unit, Responsible for logical and mathematical operations, receives data only through registers.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u="sng" dirty="0"/>
              <a:t>Hazard Unit</a:t>
            </a:r>
            <a:r>
              <a:rPr lang="en-US" dirty="0"/>
              <a:t> – Analyzes the instruction stack for instruction conflicts and takes steps to prevent logical errors.</a:t>
            </a:r>
            <a:endParaRPr lang="en-US" u="sng"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u="sng" dirty="0"/>
              <a:t>Control Unit</a:t>
            </a:r>
            <a:r>
              <a:rPr lang="en-US" dirty="0"/>
              <a:t> – Orchestrator of the CPU pipeline. On each clock cycle takes the next instruction, breaks it down and signals relevant components for execution.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u="sng" dirty="0"/>
              <a:t>Multiplexer (Mux)</a:t>
            </a:r>
            <a:r>
              <a:rPr lang="en-US" dirty="0"/>
              <a:t> – An electrical switch, has few inputs, and an external selector that chooses which input to forward to the output.</a:t>
            </a:r>
            <a:endParaRPr lang="en-US" u="sng" dirty="0"/>
          </a:p>
        </p:txBody>
      </p:sp>
    </p:spTree>
    <p:extLst>
      <p:ext uri="{BB962C8B-B14F-4D97-AF65-F5344CB8AC3E}">
        <p14:creationId xmlns:p14="http://schemas.microsoft.com/office/powerpoint/2010/main" val="1949151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63F2-F20A-5F67-0233-AAF4A801ADD2}"/>
            </a:ext>
          </a:extLst>
        </p:cNvPr>
        <p:cNvGrpSpPr/>
        <p:nvPr/>
      </p:nvGrpSpPr>
      <p:grpSpPr>
        <a:xfrm>
          <a:off x="0" y="0"/>
          <a:ext cx="0" cy="0"/>
          <a:chOff x="0" y="0"/>
          <a:chExt cx="0" cy="0"/>
        </a:xfrm>
      </p:grpSpPr>
      <p:sp>
        <p:nvSpPr>
          <p:cNvPr id="185" name="Rectangle 184">
            <a:extLst>
              <a:ext uri="{FF2B5EF4-FFF2-40B4-BE49-F238E27FC236}">
                <a16:creationId xmlns:a16="http://schemas.microsoft.com/office/drawing/2014/main" id="{7A893E2A-FE19-7A82-A327-CA2A98468A34}"/>
              </a:ext>
            </a:extLst>
          </p:cNvPr>
          <p:cNvSpPr/>
          <p:nvPr/>
        </p:nvSpPr>
        <p:spPr>
          <a:xfrm>
            <a:off x="1127197" y="643811"/>
            <a:ext cx="10544270" cy="5984297"/>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highlight>
                <a:srgbClr val="000080"/>
              </a:highlight>
            </a:endParaRPr>
          </a:p>
        </p:txBody>
      </p:sp>
      <p:cxnSp>
        <p:nvCxnSpPr>
          <p:cNvPr id="280" name="Connector: Elbow 279">
            <a:extLst>
              <a:ext uri="{FF2B5EF4-FFF2-40B4-BE49-F238E27FC236}">
                <a16:creationId xmlns:a16="http://schemas.microsoft.com/office/drawing/2014/main" id="{D735C435-0E36-BAE3-FF61-B6C8F9004F33}"/>
              </a:ext>
            </a:extLst>
          </p:cNvPr>
          <p:cNvCxnSpPr>
            <a:cxnSpLocks/>
          </p:cNvCxnSpPr>
          <p:nvPr/>
        </p:nvCxnSpPr>
        <p:spPr>
          <a:xfrm rot="10800000" flipV="1">
            <a:off x="8847903" y="5281311"/>
            <a:ext cx="1633024" cy="10437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Заголовок 1">
            <a:extLst>
              <a:ext uri="{FF2B5EF4-FFF2-40B4-BE49-F238E27FC236}">
                <a16:creationId xmlns:a16="http://schemas.microsoft.com/office/drawing/2014/main" id="{598C5F3A-7722-3F4A-9854-2AA5AA62710C}"/>
              </a:ext>
            </a:extLst>
          </p:cNvPr>
          <p:cNvSpPr>
            <a:spLocks noGrp="1"/>
          </p:cNvSpPr>
          <p:nvPr>
            <p:ph type="title"/>
          </p:nvPr>
        </p:nvSpPr>
        <p:spPr>
          <a:xfrm>
            <a:off x="0" y="-41867"/>
            <a:ext cx="11533897" cy="543518"/>
          </a:xfrm>
        </p:spPr>
        <p:txBody>
          <a:bodyPr rtlCol="0">
            <a:normAutofit/>
          </a:bodyPr>
          <a:lstStyle>
            <a:defPPr>
              <a:defRPr lang="ru-RU"/>
            </a:defPPr>
          </a:lstStyle>
          <a:p>
            <a:pPr algn="l"/>
            <a:r>
              <a:rPr lang="en-US" cap="none" dirty="0">
                <a:latin typeface="+mn-lt"/>
              </a:rPr>
              <a:t>Overall picture: </a:t>
            </a:r>
            <a:r>
              <a:rPr lang="en-US" sz="1800" cap="none" dirty="0">
                <a:latin typeface="+mn-lt"/>
              </a:rPr>
              <a:t>don’t worry, we will explore this part by part later on.</a:t>
            </a:r>
            <a:endParaRPr lang="ru-RU" cap="none" dirty="0">
              <a:latin typeface="+mn-lt"/>
            </a:endParaRPr>
          </a:p>
        </p:txBody>
      </p:sp>
      <p:sp>
        <p:nvSpPr>
          <p:cNvPr id="68" name="Номер слайда 67">
            <a:extLst>
              <a:ext uri="{FF2B5EF4-FFF2-40B4-BE49-F238E27FC236}">
                <a16:creationId xmlns:a16="http://schemas.microsoft.com/office/drawing/2014/main" id="{95243E01-ED79-3975-2A11-022E850F9F31}"/>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solidFill>
                  <a:schemeClr val="tx1"/>
                </a:solidFill>
              </a:rPr>
              <a:pPr rtl="0"/>
              <a:t>5</a:t>
            </a:fld>
            <a:endParaRPr lang="ru-RU" dirty="0">
              <a:solidFill>
                <a:schemeClr val="tx1"/>
              </a:solidFill>
            </a:endParaRPr>
          </a:p>
        </p:txBody>
      </p:sp>
      <p:sp>
        <p:nvSpPr>
          <p:cNvPr id="11" name="Заголовок 1">
            <a:extLst>
              <a:ext uri="{FF2B5EF4-FFF2-40B4-BE49-F238E27FC236}">
                <a16:creationId xmlns:a16="http://schemas.microsoft.com/office/drawing/2014/main" id="{4C612BF5-8693-57EB-1734-ABCD863C8E8B}"/>
              </a:ext>
            </a:extLst>
          </p:cNvPr>
          <p:cNvSpPr txBox="1">
            <a:spLocks/>
          </p:cNvSpPr>
          <p:nvPr/>
        </p:nvSpPr>
        <p:spPr>
          <a:xfrm>
            <a:off x="99059" y="6084590"/>
            <a:ext cx="5876109" cy="543518"/>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endParaRPr lang="en-US" dirty="0"/>
          </a:p>
        </p:txBody>
      </p:sp>
      <p:sp>
        <p:nvSpPr>
          <p:cNvPr id="3" name="Заголовок 1">
            <a:extLst>
              <a:ext uri="{FF2B5EF4-FFF2-40B4-BE49-F238E27FC236}">
                <a16:creationId xmlns:a16="http://schemas.microsoft.com/office/drawing/2014/main" id="{F4C1BC59-54E5-1EB5-5D3C-785D857E0C0A}"/>
              </a:ext>
            </a:extLst>
          </p:cNvPr>
          <p:cNvSpPr txBox="1">
            <a:spLocks/>
          </p:cNvSpPr>
          <p:nvPr/>
        </p:nvSpPr>
        <p:spPr>
          <a:xfrm>
            <a:off x="5692138" y="1698171"/>
            <a:ext cx="5876109" cy="3363686"/>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pPr marL="457200" indent="-457200">
              <a:buFont typeface="Arial" panose="020B0604020202020204" pitchFamily="34" charset="0"/>
              <a:buChar char="•"/>
            </a:pPr>
            <a:endParaRPr lang="he-IL" dirty="0"/>
          </a:p>
        </p:txBody>
      </p:sp>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9D303F74-4935-B831-47DF-553644013909}"/>
                  </a:ext>
                </a:extLst>
              </p:cNvPr>
              <p:cNvSpPr txBox="1"/>
              <p:nvPr/>
            </p:nvSpPr>
            <p:spPr>
              <a:xfrm>
                <a:off x="1281183" y="6347005"/>
                <a:ext cx="2262028" cy="281103"/>
              </a:xfrm>
              <a:prstGeom prst="rect">
                <a:avLst/>
              </a:prstGeom>
              <a:noFill/>
            </p:spPr>
            <p:txBody>
              <a:bodyPr wrap="square" rtlCol="0">
                <a:spAutoFit/>
              </a:bodyPr>
              <a:lstStyle/>
              <a:p>
                <a:r>
                  <a:rPr lang="en-US" sz="1200" dirty="0">
                    <a:solidFill>
                      <a:schemeClr val="tx1"/>
                    </a:solidFill>
                  </a:rPr>
                  <a:t>Clk, </a:t>
                </a:r>
                <a14:m>
                  <m:oMath xmlns:m="http://schemas.openxmlformats.org/officeDocument/2006/math">
                    <m:acc>
                      <m:accPr>
                        <m:chr m:val="̅"/>
                        <m:ctrlPr>
                          <a:rPr lang="en-US" sz="120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𝑅𝑒𝑠𝑒𝑡</m:t>
                        </m:r>
                      </m:e>
                    </m:acc>
                    <m:r>
                      <a:rPr lang="en-US" sz="1200" b="0" i="1" dirty="0" smtClean="0">
                        <a:solidFill>
                          <a:schemeClr val="tx1"/>
                        </a:solidFill>
                        <a:latin typeface="Cambria Math" panose="02040503050406030204" pitchFamily="18" charset="0"/>
                      </a:rPr>
                      <m:t> </m:t>
                    </m:r>
                  </m:oMath>
                </a14:m>
                <a:r>
                  <a:rPr lang="en-US" sz="1200" dirty="0">
                    <a:solidFill>
                      <a:schemeClr val="tx1"/>
                    </a:solidFill>
                  </a:rPr>
                  <a:t>, </a:t>
                </a:r>
                <a14:m>
                  <m:oMath xmlns:m="http://schemas.openxmlformats.org/officeDocument/2006/math">
                    <m:acc>
                      <m:accPr>
                        <m:chr m:val="̅"/>
                        <m:ctrlPr>
                          <a:rPr lang="en-US" sz="1200" i="1" smtClean="0">
                            <a:solidFill>
                              <a:schemeClr val="tx1"/>
                            </a:solidFill>
                            <a:latin typeface="Cambria Math" panose="02040503050406030204" pitchFamily="18" charset="0"/>
                          </a:rPr>
                        </m:ctrlPr>
                      </m:accPr>
                      <m:e>
                        <m:r>
                          <a:rPr lang="en-US" sz="1200" b="0" i="1" smtClean="0">
                            <a:solidFill>
                              <a:schemeClr val="tx1"/>
                            </a:solidFill>
                            <a:latin typeface="Cambria Math" panose="02040503050406030204" pitchFamily="18" charset="0"/>
                          </a:rPr>
                          <m:t>𝐸𝑛𝑎𝑏𝑙𝑒</m:t>
                        </m:r>
                      </m:e>
                    </m:acc>
                  </m:oMath>
                </a14:m>
                <a:endParaRPr lang="ru-RU" sz="1200" dirty="0">
                  <a:solidFill>
                    <a:schemeClr val="tx1"/>
                  </a:solidFill>
                </a:endParaRPr>
              </a:p>
            </p:txBody>
          </p:sp>
        </mc:Choice>
        <mc:Fallback xmlns="">
          <p:sp>
            <p:nvSpPr>
              <p:cNvPr id="187" name="TextBox 186">
                <a:extLst>
                  <a:ext uri="{FF2B5EF4-FFF2-40B4-BE49-F238E27FC236}">
                    <a16:creationId xmlns:a16="http://schemas.microsoft.com/office/drawing/2014/main" id="{9D303F74-4935-B831-47DF-553644013909}"/>
                  </a:ext>
                </a:extLst>
              </p:cNvPr>
              <p:cNvSpPr txBox="1">
                <a:spLocks noRot="1" noChangeAspect="1" noMove="1" noResize="1" noEditPoints="1" noAdjustHandles="1" noChangeArrowheads="1" noChangeShapeType="1" noTextEdit="1"/>
              </p:cNvSpPr>
              <p:nvPr/>
            </p:nvSpPr>
            <p:spPr>
              <a:xfrm>
                <a:off x="1281183" y="6347005"/>
                <a:ext cx="2262028" cy="281103"/>
              </a:xfrm>
              <a:prstGeom prst="rect">
                <a:avLst/>
              </a:prstGeom>
              <a:blipFill>
                <a:blip r:embed="rId3"/>
                <a:stretch>
                  <a:fillRect b="-17391"/>
                </a:stretch>
              </a:blipFill>
            </p:spPr>
            <p:txBody>
              <a:bodyPr/>
              <a:lstStyle/>
              <a:p>
                <a:r>
                  <a:rPr lang="en-IL">
                    <a:noFill/>
                  </a:rPr>
                  <a:t> </a:t>
                </a:r>
              </a:p>
            </p:txBody>
          </p:sp>
        </mc:Fallback>
      </mc:AlternateContent>
      <p:cxnSp>
        <p:nvCxnSpPr>
          <p:cNvPr id="188" name="Straight Arrow Connector 187">
            <a:extLst>
              <a:ext uri="{FF2B5EF4-FFF2-40B4-BE49-F238E27FC236}">
                <a16:creationId xmlns:a16="http://schemas.microsoft.com/office/drawing/2014/main" id="{831C3469-A7BC-E6C6-91DA-A0AE26454FA1}"/>
              </a:ext>
            </a:extLst>
          </p:cNvPr>
          <p:cNvCxnSpPr>
            <a:cxnSpLocks/>
          </p:cNvCxnSpPr>
          <p:nvPr/>
        </p:nvCxnSpPr>
        <p:spPr>
          <a:xfrm>
            <a:off x="2715" y="6487557"/>
            <a:ext cx="12784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9" name="TextBox 188">
            <a:extLst>
              <a:ext uri="{FF2B5EF4-FFF2-40B4-BE49-F238E27FC236}">
                <a16:creationId xmlns:a16="http://schemas.microsoft.com/office/drawing/2014/main" id="{C34AC3CD-69FD-CA78-B6A7-23BC637EBE14}"/>
              </a:ext>
            </a:extLst>
          </p:cNvPr>
          <p:cNvSpPr txBox="1"/>
          <p:nvPr/>
        </p:nvSpPr>
        <p:spPr>
          <a:xfrm>
            <a:off x="1281183" y="6100997"/>
            <a:ext cx="2262028" cy="276999"/>
          </a:xfrm>
          <a:prstGeom prst="rect">
            <a:avLst/>
          </a:prstGeom>
          <a:noFill/>
        </p:spPr>
        <p:txBody>
          <a:bodyPr wrap="square" rtlCol="0">
            <a:spAutoFit/>
          </a:bodyPr>
          <a:lstStyle/>
          <a:p>
            <a:r>
              <a:rPr lang="en-US" sz="1200" dirty="0"/>
              <a:t>Load</a:t>
            </a:r>
          </a:p>
        </p:txBody>
      </p:sp>
      <p:cxnSp>
        <p:nvCxnSpPr>
          <p:cNvPr id="190" name="Straight Arrow Connector 189">
            <a:extLst>
              <a:ext uri="{FF2B5EF4-FFF2-40B4-BE49-F238E27FC236}">
                <a16:creationId xmlns:a16="http://schemas.microsoft.com/office/drawing/2014/main" id="{F3A3933B-E762-3746-0F6A-4265EB64A46F}"/>
              </a:ext>
            </a:extLst>
          </p:cNvPr>
          <p:cNvCxnSpPr>
            <a:cxnSpLocks/>
          </p:cNvCxnSpPr>
          <p:nvPr/>
        </p:nvCxnSpPr>
        <p:spPr>
          <a:xfrm>
            <a:off x="2715" y="6241549"/>
            <a:ext cx="12784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1" name="Rectangle 190">
            <a:extLst>
              <a:ext uri="{FF2B5EF4-FFF2-40B4-BE49-F238E27FC236}">
                <a16:creationId xmlns:a16="http://schemas.microsoft.com/office/drawing/2014/main" id="{BBFC14D9-B848-198C-CEAF-DC6B6794F0B9}"/>
              </a:ext>
            </a:extLst>
          </p:cNvPr>
          <p:cNvSpPr/>
          <p:nvPr/>
        </p:nvSpPr>
        <p:spPr>
          <a:xfrm>
            <a:off x="7934165" y="2317604"/>
            <a:ext cx="832057" cy="1033272"/>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ALU_1 : ALU</a:t>
            </a:r>
            <a:endParaRPr lang="en-IL" dirty="0">
              <a:solidFill>
                <a:schemeClr val="tx1"/>
              </a:solidFill>
            </a:endParaRPr>
          </a:p>
        </p:txBody>
      </p:sp>
      <p:sp>
        <p:nvSpPr>
          <p:cNvPr id="192" name="Rectangle 191">
            <a:extLst>
              <a:ext uri="{FF2B5EF4-FFF2-40B4-BE49-F238E27FC236}">
                <a16:creationId xmlns:a16="http://schemas.microsoft.com/office/drawing/2014/main" id="{79741FB0-65FF-D8B3-61DA-D252DB048EDC}"/>
              </a:ext>
            </a:extLst>
          </p:cNvPr>
          <p:cNvSpPr/>
          <p:nvPr/>
        </p:nvSpPr>
        <p:spPr>
          <a:xfrm>
            <a:off x="8449411" y="1824551"/>
            <a:ext cx="740471" cy="19251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Reg_sel_1 : Mux</a:t>
            </a:r>
            <a:endParaRPr lang="en-IL" sz="800" dirty="0">
              <a:solidFill>
                <a:schemeClr val="tx1"/>
              </a:solidFill>
            </a:endParaRPr>
          </a:p>
        </p:txBody>
      </p:sp>
      <p:sp>
        <p:nvSpPr>
          <p:cNvPr id="193" name="Rectangle 192">
            <a:extLst>
              <a:ext uri="{FF2B5EF4-FFF2-40B4-BE49-F238E27FC236}">
                <a16:creationId xmlns:a16="http://schemas.microsoft.com/office/drawing/2014/main" id="{D410CFC1-9781-6F38-FD5B-A94B6C297648}"/>
              </a:ext>
            </a:extLst>
          </p:cNvPr>
          <p:cNvSpPr/>
          <p:nvPr/>
        </p:nvSpPr>
        <p:spPr>
          <a:xfrm>
            <a:off x="7934163" y="4658884"/>
            <a:ext cx="1079257" cy="313247"/>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Data_bus_1 : Mux</a:t>
            </a:r>
            <a:endParaRPr lang="en-IL" sz="1200" dirty="0">
              <a:solidFill>
                <a:schemeClr val="tx1"/>
              </a:solidFill>
            </a:endParaRPr>
          </a:p>
        </p:txBody>
      </p:sp>
      <p:sp>
        <p:nvSpPr>
          <p:cNvPr id="194" name="Rectangle 193">
            <a:extLst>
              <a:ext uri="{FF2B5EF4-FFF2-40B4-BE49-F238E27FC236}">
                <a16:creationId xmlns:a16="http://schemas.microsoft.com/office/drawing/2014/main" id="{612B0DBF-1A74-BD64-9744-C6BDA96EE8F7}"/>
              </a:ext>
            </a:extLst>
          </p:cNvPr>
          <p:cNvSpPr/>
          <p:nvPr/>
        </p:nvSpPr>
        <p:spPr>
          <a:xfrm>
            <a:off x="6555751" y="2317604"/>
            <a:ext cx="1010614" cy="31324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Reg_Data_1: Mux</a:t>
            </a:r>
            <a:endParaRPr lang="en-IL" sz="1200" dirty="0">
              <a:solidFill>
                <a:schemeClr val="tx1"/>
              </a:solidFill>
            </a:endParaRPr>
          </a:p>
        </p:txBody>
      </p:sp>
      <p:sp>
        <p:nvSpPr>
          <p:cNvPr id="195" name="Rectangle 194">
            <a:extLst>
              <a:ext uri="{FF2B5EF4-FFF2-40B4-BE49-F238E27FC236}">
                <a16:creationId xmlns:a16="http://schemas.microsoft.com/office/drawing/2014/main" id="{64B5CC89-F297-8083-1F7D-D1D910D64089}"/>
              </a:ext>
            </a:extLst>
          </p:cNvPr>
          <p:cNvSpPr/>
          <p:nvPr/>
        </p:nvSpPr>
        <p:spPr>
          <a:xfrm>
            <a:off x="3010651" y="1041933"/>
            <a:ext cx="1328928" cy="69436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Inst_addr</a:t>
            </a:r>
            <a:r>
              <a:rPr lang="en-US" dirty="0">
                <a:solidFill>
                  <a:schemeClr val="tx1"/>
                </a:solidFill>
              </a:rPr>
              <a:t>: Mux</a:t>
            </a:r>
            <a:endParaRPr lang="en-IL" dirty="0">
              <a:solidFill>
                <a:schemeClr val="tx1"/>
              </a:solidFill>
            </a:endParaRPr>
          </a:p>
        </p:txBody>
      </p:sp>
      <p:sp>
        <p:nvSpPr>
          <p:cNvPr id="196" name="Rectangle 195">
            <a:extLst>
              <a:ext uri="{FF2B5EF4-FFF2-40B4-BE49-F238E27FC236}">
                <a16:creationId xmlns:a16="http://schemas.microsoft.com/office/drawing/2014/main" id="{CEB27823-AB14-795D-3BBA-2F36ECA1CCE6}"/>
              </a:ext>
            </a:extLst>
          </p:cNvPr>
          <p:cNvSpPr/>
          <p:nvPr/>
        </p:nvSpPr>
        <p:spPr>
          <a:xfrm>
            <a:off x="1463739" y="1041933"/>
            <a:ext cx="1328928" cy="4808952"/>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Inst_stack</a:t>
            </a:r>
            <a:r>
              <a:rPr lang="en-US" dirty="0">
                <a:solidFill>
                  <a:schemeClr val="tx1"/>
                </a:solidFill>
              </a:rPr>
              <a:t>: RAM</a:t>
            </a:r>
            <a:endParaRPr lang="en-IL" dirty="0">
              <a:solidFill>
                <a:schemeClr val="tx1"/>
              </a:solidFill>
            </a:endParaRPr>
          </a:p>
        </p:txBody>
      </p:sp>
      <p:sp>
        <p:nvSpPr>
          <p:cNvPr id="197" name="Rectangle 196">
            <a:extLst>
              <a:ext uri="{FF2B5EF4-FFF2-40B4-BE49-F238E27FC236}">
                <a16:creationId xmlns:a16="http://schemas.microsoft.com/office/drawing/2014/main" id="{6D442C78-66BC-645A-0044-171D5AD8B68C}"/>
              </a:ext>
            </a:extLst>
          </p:cNvPr>
          <p:cNvSpPr/>
          <p:nvPr/>
        </p:nvSpPr>
        <p:spPr>
          <a:xfrm>
            <a:off x="10106815" y="1042167"/>
            <a:ext cx="1427082" cy="4808952"/>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Main_mem</a:t>
            </a:r>
            <a:r>
              <a:rPr lang="en-US" dirty="0">
                <a:solidFill>
                  <a:schemeClr val="tx1"/>
                </a:solidFill>
              </a:rPr>
              <a:t>: RAM</a:t>
            </a:r>
            <a:endParaRPr lang="en-IL" dirty="0">
              <a:solidFill>
                <a:schemeClr val="tx1"/>
              </a:solidFill>
            </a:endParaRPr>
          </a:p>
        </p:txBody>
      </p:sp>
      <p:sp>
        <p:nvSpPr>
          <p:cNvPr id="198" name="Rectangle 197">
            <a:extLst>
              <a:ext uri="{FF2B5EF4-FFF2-40B4-BE49-F238E27FC236}">
                <a16:creationId xmlns:a16="http://schemas.microsoft.com/office/drawing/2014/main" id="{FFE63677-36FE-00A8-F49F-706949AB9A74}"/>
              </a:ext>
            </a:extLst>
          </p:cNvPr>
          <p:cNvSpPr/>
          <p:nvPr/>
        </p:nvSpPr>
        <p:spPr>
          <a:xfrm>
            <a:off x="4935574" y="965921"/>
            <a:ext cx="1010614" cy="58477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Reg_1 : Register</a:t>
            </a:r>
            <a:endParaRPr lang="en-IL" dirty="0">
              <a:solidFill>
                <a:schemeClr val="tx1"/>
              </a:solidFill>
            </a:endParaRPr>
          </a:p>
        </p:txBody>
      </p:sp>
      <p:sp>
        <p:nvSpPr>
          <p:cNvPr id="199" name="Rectangle 198">
            <a:extLst>
              <a:ext uri="{FF2B5EF4-FFF2-40B4-BE49-F238E27FC236}">
                <a16:creationId xmlns:a16="http://schemas.microsoft.com/office/drawing/2014/main" id="{C17DF7DE-C44E-8BD4-27BD-CB50EC459905}"/>
              </a:ext>
            </a:extLst>
          </p:cNvPr>
          <p:cNvSpPr/>
          <p:nvPr/>
        </p:nvSpPr>
        <p:spPr>
          <a:xfrm>
            <a:off x="4606021" y="4548148"/>
            <a:ext cx="1464026" cy="70275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CU_1: Control Unit</a:t>
            </a:r>
            <a:endParaRPr lang="en-IL" dirty="0">
              <a:solidFill>
                <a:schemeClr val="tx1"/>
              </a:solidFill>
            </a:endParaRPr>
          </a:p>
        </p:txBody>
      </p:sp>
      <p:sp>
        <p:nvSpPr>
          <p:cNvPr id="200" name="Rectangle 199">
            <a:extLst>
              <a:ext uri="{FF2B5EF4-FFF2-40B4-BE49-F238E27FC236}">
                <a16:creationId xmlns:a16="http://schemas.microsoft.com/office/drawing/2014/main" id="{9EA4205D-4F60-1F82-585D-D9DBF3F616F4}"/>
              </a:ext>
            </a:extLst>
          </p:cNvPr>
          <p:cNvSpPr/>
          <p:nvPr/>
        </p:nvSpPr>
        <p:spPr>
          <a:xfrm>
            <a:off x="3072179" y="4815508"/>
            <a:ext cx="1328928" cy="1033271"/>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Hazard_u</a:t>
            </a:r>
            <a:r>
              <a:rPr lang="en-US" dirty="0">
                <a:solidFill>
                  <a:schemeClr val="tx1"/>
                </a:solidFill>
              </a:rPr>
              <a:t> : </a:t>
            </a:r>
            <a:r>
              <a:rPr lang="en-US" dirty="0" err="1">
                <a:solidFill>
                  <a:schemeClr val="tx1"/>
                </a:solidFill>
              </a:rPr>
              <a:t>HazardUnit</a:t>
            </a:r>
            <a:endParaRPr lang="en-IL" dirty="0">
              <a:solidFill>
                <a:schemeClr val="tx1"/>
              </a:solidFill>
            </a:endParaRPr>
          </a:p>
        </p:txBody>
      </p:sp>
      <p:cxnSp>
        <p:nvCxnSpPr>
          <p:cNvPr id="201" name="Straight Arrow Connector 200">
            <a:extLst>
              <a:ext uri="{FF2B5EF4-FFF2-40B4-BE49-F238E27FC236}">
                <a16:creationId xmlns:a16="http://schemas.microsoft.com/office/drawing/2014/main" id="{C59DCCFB-7A64-CDCC-BB67-1EF3AE414976}"/>
              </a:ext>
            </a:extLst>
          </p:cNvPr>
          <p:cNvCxnSpPr>
            <a:cxnSpLocks/>
          </p:cNvCxnSpPr>
          <p:nvPr/>
        </p:nvCxnSpPr>
        <p:spPr>
          <a:xfrm>
            <a:off x="164552" y="1223809"/>
            <a:ext cx="12784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2" name="Straight Arrow Connector 201">
            <a:extLst>
              <a:ext uri="{FF2B5EF4-FFF2-40B4-BE49-F238E27FC236}">
                <a16:creationId xmlns:a16="http://schemas.microsoft.com/office/drawing/2014/main" id="{71E31EAF-7077-8795-4CC1-1F629953F6DD}"/>
              </a:ext>
            </a:extLst>
          </p:cNvPr>
          <p:cNvCxnSpPr>
            <a:cxnSpLocks/>
          </p:cNvCxnSpPr>
          <p:nvPr/>
        </p:nvCxnSpPr>
        <p:spPr>
          <a:xfrm>
            <a:off x="164552" y="1456189"/>
            <a:ext cx="12784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3" name="TextBox 202">
            <a:extLst>
              <a:ext uri="{FF2B5EF4-FFF2-40B4-BE49-F238E27FC236}">
                <a16:creationId xmlns:a16="http://schemas.microsoft.com/office/drawing/2014/main" id="{639F69B5-2E0E-9AFD-0252-51CECAACC69F}"/>
              </a:ext>
            </a:extLst>
          </p:cNvPr>
          <p:cNvSpPr txBox="1"/>
          <p:nvPr/>
        </p:nvSpPr>
        <p:spPr>
          <a:xfrm>
            <a:off x="120208" y="990800"/>
            <a:ext cx="849077" cy="276999"/>
          </a:xfrm>
          <a:prstGeom prst="rect">
            <a:avLst/>
          </a:prstGeom>
          <a:noFill/>
        </p:spPr>
        <p:txBody>
          <a:bodyPr wrap="square" rtlCol="0">
            <a:spAutoFit/>
          </a:bodyPr>
          <a:lstStyle/>
          <a:p>
            <a:r>
              <a:rPr lang="en-US" sz="1200" dirty="0" err="1"/>
              <a:t>Extern_en</a:t>
            </a:r>
            <a:endParaRPr lang="en-US" sz="1200" dirty="0"/>
          </a:p>
        </p:txBody>
      </p:sp>
      <p:sp>
        <p:nvSpPr>
          <p:cNvPr id="204" name="TextBox 203">
            <a:extLst>
              <a:ext uri="{FF2B5EF4-FFF2-40B4-BE49-F238E27FC236}">
                <a16:creationId xmlns:a16="http://schemas.microsoft.com/office/drawing/2014/main" id="{C5A91F01-1B67-DE8E-75C9-80075A63BFCC}"/>
              </a:ext>
            </a:extLst>
          </p:cNvPr>
          <p:cNvSpPr txBox="1"/>
          <p:nvPr/>
        </p:nvSpPr>
        <p:spPr>
          <a:xfrm>
            <a:off x="114093" y="1216357"/>
            <a:ext cx="993904" cy="276999"/>
          </a:xfrm>
          <a:prstGeom prst="rect">
            <a:avLst/>
          </a:prstGeom>
          <a:noFill/>
        </p:spPr>
        <p:txBody>
          <a:bodyPr wrap="square" rtlCol="0">
            <a:spAutoFit/>
          </a:bodyPr>
          <a:lstStyle/>
          <a:p>
            <a:r>
              <a:rPr lang="en-US" sz="1200" dirty="0" err="1"/>
              <a:t>Extern_data</a:t>
            </a:r>
            <a:endParaRPr lang="en-US" sz="1200" dirty="0"/>
          </a:p>
        </p:txBody>
      </p:sp>
      <p:sp>
        <p:nvSpPr>
          <p:cNvPr id="205" name="TextBox 204">
            <a:extLst>
              <a:ext uri="{FF2B5EF4-FFF2-40B4-BE49-F238E27FC236}">
                <a16:creationId xmlns:a16="http://schemas.microsoft.com/office/drawing/2014/main" id="{F46A5567-02F4-4F12-9EC0-73D67D6CB2EE}"/>
              </a:ext>
            </a:extLst>
          </p:cNvPr>
          <p:cNvSpPr txBox="1"/>
          <p:nvPr/>
        </p:nvSpPr>
        <p:spPr>
          <a:xfrm>
            <a:off x="101279" y="466755"/>
            <a:ext cx="993904" cy="276999"/>
          </a:xfrm>
          <a:prstGeom prst="rect">
            <a:avLst/>
          </a:prstGeom>
          <a:noFill/>
        </p:spPr>
        <p:txBody>
          <a:bodyPr wrap="square" rtlCol="0">
            <a:spAutoFit/>
          </a:bodyPr>
          <a:lstStyle/>
          <a:p>
            <a:r>
              <a:rPr lang="en-US" sz="1200" dirty="0" err="1"/>
              <a:t>Extern_addr</a:t>
            </a:r>
            <a:endParaRPr lang="en-US" sz="1200" dirty="0"/>
          </a:p>
        </p:txBody>
      </p:sp>
      <p:sp>
        <p:nvSpPr>
          <p:cNvPr id="206" name="TextBox 205">
            <a:extLst>
              <a:ext uri="{FF2B5EF4-FFF2-40B4-BE49-F238E27FC236}">
                <a16:creationId xmlns:a16="http://schemas.microsoft.com/office/drawing/2014/main" id="{42DDCE00-828B-ACD0-AE4C-2BA07A9E167A}"/>
              </a:ext>
            </a:extLst>
          </p:cNvPr>
          <p:cNvSpPr txBox="1"/>
          <p:nvPr/>
        </p:nvSpPr>
        <p:spPr>
          <a:xfrm>
            <a:off x="99059" y="668773"/>
            <a:ext cx="993904" cy="276999"/>
          </a:xfrm>
          <a:prstGeom prst="rect">
            <a:avLst/>
          </a:prstGeom>
          <a:noFill/>
        </p:spPr>
        <p:txBody>
          <a:bodyPr wrap="square" rtlCol="0">
            <a:spAutoFit/>
          </a:bodyPr>
          <a:lstStyle/>
          <a:p>
            <a:r>
              <a:rPr lang="en-US" sz="1200" dirty="0" err="1"/>
              <a:t>Extern_load</a:t>
            </a:r>
            <a:endParaRPr lang="en-US" sz="1200" dirty="0"/>
          </a:p>
        </p:txBody>
      </p:sp>
      <p:cxnSp>
        <p:nvCxnSpPr>
          <p:cNvPr id="207" name="Connector: Elbow 206">
            <a:extLst>
              <a:ext uri="{FF2B5EF4-FFF2-40B4-BE49-F238E27FC236}">
                <a16:creationId xmlns:a16="http://schemas.microsoft.com/office/drawing/2014/main" id="{E97334A1-BAED-C275-25B5-E7C249FC8783}"/>
              </a:ext>
            </a:extLst>
          </p:cNvPr>
          <p:cNvCxnSpPr>
            <a:cxnSpLocks/>
            <a:endCxn id="195" idx="0"/>
          </p:cNvCxnSpPr>
          <p:nvPr/>
        </p:nvCxnSpPr>
        <p:spPr>
          <a:xfrm>
            <a:off x="158819" y="899720"/>
            <a:ext cx="3516296" cy="14221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8" name="Straight Connector 207">
            <a:extLst>
              <a:ext uri="{FF2B5EF4-FFF2-40B4-BE49-F238E27FC236}">
                <a16:creationId xmlns:a16="http://schemas.microsoft.com/office/drawing/2014/main" id="{F7D88A9C-DEBC-6D30-D5E1-CBCBB021D9FB}"/>
              </a:ext>
            </a:extLst>
          </p:cNvPr>
          <p:cNvCxnSpPr/>
          <p:nvPr/>
        </p:nvCxnSpPr>
        <p:spPr>
          <a:xfrm>
            <a:off x="167996" y="709439"/>
            <a:ext cx="445992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9" name="Straight Connector 208">
            <a:extLst>
              <a:ext uri="{FF2B5EF4-FFF2-40B4-BE49-F238E27FC236}">
                <a16:creationId xmlns:a16="http://schemas.microsoft.com/office/drawing/2014/main" id="{30DD2FC2-D891-D1F0-392D-F2EE73995750}"/>
              </a:ext>
            </a:extLst>
          </p:cNvPr>
          <p:cNvCxnSpPr>
            <a:cxnSpLocks/>
          </p:cNvCxnSpPr>
          <p:nvPr/>
        </p:nvCxnSpPr>
        <p:spPr>
          <a:xfrm flipV="1">
            <a:off x="4627924" y="702857"/>
            <a:ext cx="0" cy="46871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0" name="Straight Arrow Connector 209">
            <a:extLst>
              <a:ext uri="{FF2B5EF4-FFF2-40B4-BE49-F238E27FC236}">
                <a16:creationId xmlns:a16="http://schemas.microsoft.com/office/drawing/2014/main" id="{AD2A3E9B-2C9B-BF9A-C5B8-5EB8E42C5A6C}"/>
              </a:ext>
            </a:extLst>
          </p:cNvPr>
          <p:cNvCxnSpPr/>
          <p:nvPr/>
        </p:nvCxnSpPr>
        <p:spPr>
          <a:xfrm flipH="1">
            <a:off x="4339579" y="1171569"/>
            <a:ext cx="2883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1" name="Straight Arrow Connector 210">
            <a:extLst>
              <a:ext uri="{FF2B5EF4-FFF2-40B4-BE49-F238E27FC236}">
                <a16:creationId xmlns:a16="http://schemas.microsoft.com/office/drawing/2014/main" id="{9E086E5F-AFEF-2F24-DB46-819DB42A83F5}"/>
              </a:ext>
            </a:extLst>
          </p:cNvPr>
          <p:cNvCxnSpPr>
            <a:stCxn id="195" idx="1"/>
          </p:cNvCxnSpPr>
          <p:nvPr/>
        </p:nvCxnSpPr>
        <p:spPr>
          <a:xfrm flipH="1" flipV="1">
            <a:off x="2792667" y="1385807"/>
            <a:ext cx="217984" cy="3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2" name="TextBox 211">
            <a:extLst>
              <a:ext uri="{FF2B5EF4-FFF2-40B4-BE49-F238E27FC236}">
                <a16:creationId xmlns:a16="http://schemas.microsoft.com/office/drawing/2014/main" id="{1AF8D6D7-307F-C8CE-2484-AEB642E5EDF9}"/>
              </a:ext>
            </a:extLst>
          </p:cNvPr>
          <p:cNvSpPr txBox="1"/>
          <p:nvPr/>
        </p:nvSpPr>
        <p:spPr>
          <a:xfrm>
            <a:off x="2319316" y="1274103"/>
            <a:ext cx="542136" cy="215444"/>
          </a:xfrm>
          <a:prstGeom prst="rect">
            <a:avLst/>
          </a:prstGeom>
          <a:noFill/>
        </p:spPr>
        <p:txBody>
          <a:bodyPr wrap="none" rtlCol="0">
            <a:spAutoFit/>
          </a:bodyPr>
          <a:lstStyle/>
          <a:p>
            <a:r>
              <a:rPr lang="en-US" sz="800" dirty="0"/>
              <a:t>address</a:t>
            </a:r>
            <a:endParaRPr lang="en-IL" sz="800" dirty="0"/>
          </a:p>
        </p:txBody>
      </p:sp>
      <p:sp>
        <p:nvSpPr>
          <p:cNvPr id="213" name="TextBox 212">
            <a:extLst>
              <a:ext uri="{FF2B5EF4-FFF2-40B4-BE49-F238E27FC236}">
                <a16:creationId xmlns:a16="http://schemas.microsoft.com/office/drawing/2014/main" id="{DA6031A0-6FD9-78F5-66AA-DDCEA6D70B33}"/>
              </a:ext>
            </a:extLst>
          </p:cNvPr>
          <p:cNvSpPr txBox="1"/>
          <p:nvPr/>
        </p:nvSpPr>
        <p:spPr>
          <a:xfrm>
            <a:off x="1402689" y="1117401"/>
            <a:ext cx="567784" cy="215444"/>
          </a:xfrm>
          <a:prstGeom prst="rect">
            <a:avLst/>
          </a:prstGeom>
          <a:noFill/>
        </p:spPr>
        <p:txBody>
          <a:bodyPr wrap="none" rtlCol="0">
            <a:spAutoFit/>
          </a:bodyPr>
          <a:lstStyle/>
          <a:p>
            <a:r>
              <a:rPr lang="en-US" sz="800" dirty="0" err="1"/>
              <a:t>write_en</a:t>
            </a:r>
            <a:endParaRPr lang="en-IL" sz="800" dirty="0"/>
          </a:p>
        </p:txBody>
      </p:sp>
      <p:sp>
        <p:nvSpPr>
          <p:cNvPr id="214" name="TextBox 213">
            <a:extLst>
              <a:ext uri="{FF2B5EF4-FFF2-40B4-BE49-F238E27FC236}">
                <a16:creationId xmlns:a16="http://schemas.microsoft.com/office/drawing/2014/main" id="{885FA2ED-5F17-7A8D-D113-29FA2F281DB8}"/>
              </a:ext>
            </a:extLst>
          </p:cNvPr>
          <p:cNvSpPr txBox="1"/>
          <p:nvPr/>
        </p:nvSpPr>
        <p:spPr>
          <a:xfrm>
            <a:off x="1388816" y="1340823"/>
            <a:ext cx="723275" cy="215444"/>
          </a:xfrm>
          <a:prstGeom prst="rect">
            <a:avLst/>
          </a:prstGeom>
          <a:noFill/>
        </p:spPr>
        <p:txBody>
          <a:bodyPr wrap="none" rtlCol="0">
            <a:spAutoFit/>
          </a:bodyPr>
          <a:lstStyle/>
          <a:p>
            <a:r>
              <a:rPr lang="en-US" sz="800" dirty="0"/>
              <a:t>data_bus_in</a:t>
            </a:r>
            <a:endParaRPr lang="en-IL" sz="800" dirty="0"/>
          </a:p>
        </p:txBody>
      </p:sp>
      <p:cxnSp>
        <p:nvCxnSpPr>
          <p:cNvPr id="215" name="Connector: Elbow 214">
            <a:extLst>
              <a:ext uri="{FF2B5EF4-FFF2-40B4-BE49-F238E27FC236}">
                <a16:creationId xmlns:a16="http://schemas.microsoft.com/office/drawing/2014/main" id="{93BA257F-EFCD-5F34-F390-02FD83760292}"/>
              </a:ext>
            </a:extLst>
          </p:cNvPr>
          <p:cNvCxnSpPr>
            <a:cxnSpLocks/>
            <a:endCxn id="195" idx="3"/>
          </p:cNvCxnSpPr>
          <p:nvPr/>
        </p:nvCxnSpPr>
        <p:spPr>
          <a:xfrm rot="16200000" flipV="1">
            <a:off x="2572779" y="3155916"/>
            <a:ext cx="3648066" cy="11446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6" name="Straight Connector 215">
            <a:extLst>
              <a:ext uri="{FF2B5EF4-FFF2-40B4-BE49-F238E27FC236}">
                <a16:creationId xmlns:a16="http://schemas.microsoft.com/office/drawing/2014/main" id="{5367A7D8-E334-4416-6795-B21B9AFF5A0A}"/>
              </a:ext>
            </a:extLst>
          </p:cNvPr>
          <p:cNvCxnSpPr>
            <a:cxnSpLocks/>
          </p:cNvCxnSpPr>
          <p:nvPr/>
        </p:nvCxnSpPr>
        <p:spPr>
          <a:xfrm flipH="1">
            <a:off x="4379405" y="5023863"/>
            <a:ext cx="7464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7" name="Straight Arrow Connector 216">
            <a:extLst>
              <a:ext uri="{FF2B5EF4-FFF2-40B4-BE49-F238E27FC236}">
                <a16:creationId xmlns:a16="http://schemas.microsoft.com/office/drawing/2014/main" id="{DE4A790D-8D27-FB61-576C-0854FA6756F5}"/>
              </a:ext>
            </a:extLst>
          </p:cNvPr>
          <p:cNvCxnSpPr>
            <a:cxnSpLocks/>
            <a:endCxn id="200" idx="1"/>
          </p:cNvCxnSpPr>
          <p:nvPr/>
        </p:nvCxnSpPr>
        <p:spPr>
          <a:xfrm>
            <a:off x="2792667" y="5332143"/>
            <a:ext cx="279512"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8" name="TextBox 217">
            <a:extLst>
              <a:ext uri="{FF2B5EF4-FFF2-40B4-BE49-F238E27FC236}">
                <a16:creationId xmlns:a16="http://schemas.microsoft.com/office/drawing/2014/main" id="{627A13BA-A298-086C-948D-BC6F0C37CA6E}"/>
              </a:ext>
            </a:extLst>
          </p:cNvPr>
          <p:cNvSpPr txBox="1"/>
          <p:nvPr/>
        </p:nvSpPr>
        <p:spPr>
          <a:xfrm>
            <a:off x="2050292" y="5224421"/>
            <a:ext cx="803425" cy="215444"/>
          </a:xfrm>
          <a:prstGeom prst="rect">
            <a:avLst/>
          </a:prstGeom>
          <a:noFill/>
        </p:spPr>
        <p:txBody>
          <a:bodyPr wrap="none" rtlCol="0">
            <a:spAutoFit/>
          </a:bodyPr>
          <a:lstStyle/>
          <a:p>
            <a:r>
              <a:rPr lang="en-US" sz="800" dirty="0"/>
              <a:t>data_bus_out</a:t>
            </a:r>
            <a:endParaRPr lang="en-IL" sz="800" dirty="0"/>
          </a:p>
        </p:txBody>
      </p:sp>
      <p:sp>
        <p:nvSpPr>
          <p:cNvPr id="219" name="Rectangle 218">
            <a:extLst>
              <a:ext uri="{FF2B5EF4-FFF2-40B4-BE49-F238E27FC236}">
                <a16:creationId xmlns:a16="http://schemas.microsoft.com/office/drawing/2014/main" id="{07E4DFF0-4F57-6836-B5E4-9514615078EF}"/>
              </a:ext>
            </a:extLst>
          </p:cNvPr>
          <p:cNvSpPr/>
          <p:nvPr/>
        </p:nvSpPr>
        <p:spPr>
          <a:xfrm>
            <a:off x="4606021" y="5412439"/>
            <a:ext cx="1464026" cy="70275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CU_2: Control Unit</a:t>
            </a:r>
            <a:endParaRPr lang="en-IL" dirty="0">
              <a:solidFill>
                <a:schemeClr val="tx1"/>
              </a:solidFill>
            </a:endParaRPr>
          </a:p>
        </p:txBody>
      </p:sp>
      <p:sp>
        <p:nvSpPr>
          <p:cNvPr id="220" name="Rectangle 219">
            <a:extLst>
              <a:ext uri="{FF2B5EF4-FFF2-40B4-BE49-F238E27FC236}">
                <a16:creationId xmlns:a16="http://schemas.microsoft.com/office/drawing/2014/main" id="{3F23F1CA-1432-4019-A8B9-352A68F2CA17}"/>
              </a:ext>
            </a:extLst>
          </p:cNvPr>
          <p:cNvSpPr/>
          <p:nvPr/>
        </p:nvSpPr>
        <p:spPr>
          <a:xfrm>
            <a:off x="6023583" y="962381"/>
            <a:ext cx="1010614" cy="58477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Reg_2 : Register</a:t>
            </a:r>
            <a:endParaRPr lang="en-IL" dirty="0">
              <a:solidFill>
                <a:schemeClr val="tx1"/>
              </a:solidFill>
            </a:endParaRPr>
          </a:p>
        </p:txBody>
      </p:sp>
      <p:sp>
        <p:nvSpPr>
          <p:cNvPr id="221" name="Rectangle 220">
            <a:extLst>
              <a:ext uri="{FF2B5EF4-FFF2-40B4-BE49-F238E27FC236}">
                <a16:creationId xmlns:a16="http://schemas.microsoft.com/office/drawing/2014/main" id="{05533C44-4F64-6A73-5CC6-B097C4021C33}"/>
              </a:ext>
            </a:extLst>
          </p:cNvPr>
          <p:cNvSpPr/>
          <p:nvPr/>
        </p:nvSpPr>
        <p:spPr>
          <a:xfrm>
            <a:off x="7111592" y="962381"/>
            <a:ext cx="1010614" cy="58477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Reg_3 : Register</a:t>
            </a:r>
            <a:endParaRPr lang="en-IL" dirty="0">
              <a:solidFill>
                <a:schemeClr val="tx1"/>
              </a:solidFill>
            </a:endParaRPr>
          </a:p>
        </p:txBody>
      </p:sp>
      <p:sp>
        <p:nvSpPr>
          <p:cNvPr id="222" name="Rectangle 221">
            <a:extLst>
              <a:ext uri="{FF2B5EF4-FFF2-40B4-BE49-F238E27FC236}">
                <a16:creationId xmlns:a16="http://schemas.microsoft.com/office/drawing/2014/main" id="{74A3AF0A-B0D6-326F-A46B-63CEA87045FA}"/>
              </a:ext>
            </a:extLst>
          </p:cNvPr>
          <p:cNvSpPr/>
          <p:nvPr/>
        </p:nvSpPr>
        <p:spPr>
          <a:xfrm>
            <a:off x="8199601" y="962381"/>
            <a:ext cx="1010614" cy="58477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Reg_4 : Register</a:t>
            </a:r>
            <a:endParaRPr lang="en-IL" dirty="0">
              <a:solidFill>
                <a:schemeClr val="tx1"/>
              </a:solidFill>
            </a:endParaRPr>
          </a:p>
        </p:txBody>
      </p:sp>
      <p:sp>
        <p:nvSpPr>
          <p:cNvPr id="223" name="Rectangle 222">
            <a:extLst>
              <a:ext uri="{FF2B5EF4-FFF2-40B4-BE49-F238E27FC236}">
                <a16:creationId xmlns:a16="http://schemas.microsoft.com/office/drawing/2014/main" id="{C280CD9B-A3A4-BCC8-C307-7F80CC190B73}"/>
              </a:ext>
            </a:extLst>
          </p:cNvPr>
          <p:cNvSpPr/>
          <p:nvPr/>
        </p:nvSpPr>
        <p:spPr>
          <a:xfrm>
            <a:off x="7934164" y="3442239"/>
            <a:ext cx="832057" cy="1033272"/>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ALU_2 : ALU</a:t>
            </a:r>
            <a:endParaRPr lang="en-IL" dirty="0">
              <a:solidFill>
                <a:schemeClr val="tx1"/>
              </a:solidFill>
            </a:endParaRPr>
          </a:p>
        </p:txBody>
      </p:sp>
      <p:sp>
        <p:nvSpPr>
          <p:cNvPr id="224" name="Rectangle 223">
            <a:extLst>
              <a:ext uri="{FF2B5EF4-FFF2-40B4-BE49-F238E27FC236}">
                <a16:creationId xmlns:a16="http://schemas.microsoft.com/office/drawing/2014/main" id="{DD397079-3E33-0073-B5FD-EA7418EBB4DC}"/>
              </a:ext>
            </a:extLst>
          </p:cNvPr>
          <p:cNvSpPr/>
          <p:nvPr/>
        </p:nvSpPr>
        <p:spPr>
          <a:xfrm>
            <a:off x="6555751" y="2677617"/>
            <a:ext cx="1010614" cy="31324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Reg_Data_2: Mux</a:t>
            </a:r>
            <a:endParaRPr lang="en-IL" sz="1200" dirty="0">
              <a:solidFill>
                <a:schemeClr val="tx1"/>
              </a:solidFill>
            </a:endParaRPr>
          </a:p>
        </p:txBody>
      </p:sp>
      <p:sp>
        <p:nvSpPr>
          <p:cNvPr id="225" name="Rectangle 224">
            <a:extLst>
              <a:ext uri="{FF2B5EF4-FFF2-40B4-BE49-F238E27FC236}">
                <a16:creationId xmlns:a16="http://schemas.microsoft.com/office/drawing/2014/main" id="{805F84ED-58D4-F103-92B3-0B65A0ABD492}"/>
              </a:ext>
            </a:extLst>
          </p:cNvPr>
          <p:cNvSpPr/>
          <p:nvPr/>
        </p:nvSpPr>
        <p:spPr>
          <a:xfrm>
            <a:off x="6548041" y="3442239"/>
            <a:ext cx="1010614" cy="31324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Reg_Data_3: Mux</a:t>
            </a:r>
            <a:endParaRPr lang="en-IL" sz="1200" dirty="0">
              <a:solidFill>
                <a:schemeClr val="tx1"/>
              </a:solidFill>
            </a:endParaRPr>
          </a:p>
        </p:txBody>
      </p:sp>
      <p:sp>
        <p:nvSpPr>
          <p:cNvPr id="226" name="Rectangle 225">
            <a:extLst>
              <a:ext uri="{FF2B5EF4-FFF2-40B4-BE49-F238E27FC236}">
                <a16:creationId xmlns:a16="http://schemas.microsoft.com/office/drawing/2014/main" id="{623AD881-A106-ECC3-86D6-30F5BC0107A8}"/>
              </a:ext>
            </a:extLst>
          </p:cNvPr>
          <p:cNvSpPr/>
          <p:nvPr/>
        </p:nvSpPr>
        <p:spPr>
          <a:xfrm>
            <a:off x="6548041" y="3801023"/>
            <a:ext cx="1010614" cy="31324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Reg_Data_4: Mux</a:t>
            </a:r>
            <a:endParaRPr lang="en-IL" sz="1200" dirty="0">
              <a:solidFill>
                <a:schemeClr val="tx1"/>
              </a:solidFill>
            </a:endParaRPr>
          </a:p>
        </p:txBody>
      </p:sp>
      <p:cxnSp>
        <p:nvCxnSpPr>
          <p:cNvPr id="227" name="Straight Arrow Connector 226">
            <a:extLst>
              <a:ext uri="{FF2B5EF4-FFF2-40B4-BE49-F238E27FC236}">
                <a16:creationId xmlns:a16="http://schemas.microsoft.com/office/drawing/2014/main" id="{4175AB91-5944-62D8-8B2F-C0AA443D5507}"/>
              </a:ext>
            </a:extLst>
          </p:cNvPr>
          <p:cNvCxnSpPr>
            <a:stCxn id="194" idx="3"/>
          </p:cNvCxnSpPr>
          <p:nvPr/>
        </p:nvCxnSpPr>
        <p:spPr>
          <a:xfrm>
            <a:off x="7566365" y="2474227"/>
            <a:ext cx="3677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8" name="Straight Arrow Connector 227">
            <a:extLst>
              <a:ext uri="{FF2B5EF4-FFF2-40B4-BE49-F238E27FC236}">
                <a16:creationId xmlns:a16="http://schemas.microsoft.com/office/drawing/2014/main" id="{C3819CB5-821B-FEF1-5DB6-2DF6E24764B9}"/>
              </a:ext>
            </a:extLst>
          </p:cNvPr>
          <p:cNvCxnSpPr/>
          <p:nvPr/>
        </p:nvCxnSpPr>
        <p:spPr>
          <a:xfrm>
            <a:off x="7566364" y="2834240"/>
            <a:ext cx="3677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9" name="Straight Arrow Connector 228">
            <a:extLst>
              <a:ext uri="{FF2B5EF4-FFF2-40B4-BE49-F238E27FC236}">
                <a16:creationId xmlns:a16="http://schemas.microsoft.com/office/drawing/2014/main" id="{6D8F0A60-581D-DEC9-7BEA-324FCF79CA72}"/>
              </a:ext>
            </a:extLst>
          </p:cNvPr>
          <p:cNvCxnSpPr/>
          <p:nvPr/>
        </p:nvCxnSpPr>
        <p:spPr>
          <a:xfrm>
            <a:off x="7558655" y="3599179"/>
            <a:ext cx="3677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0" name="Straight Arrow Connector 229">
            <a:extLst>
              <a:ext uri="{FF2B5EF4-FFF2-40B4-BE49-F238E27FC236}">
                <a16:creationId xmlns:a16="http://schemas.microsoft.com/office/drawing/2014/main" id="{45C341F4-E461-F76C-2774-0F456E6559A7}"/>
              </a:ext>
            </a:extLst>
          </p:cNvPr>
          <p:cNvCxnSpPr/>
          <p:nvPr/>
        </p:nvCxnSpPr>
        <p:spPr>
          <a:xfrm>
            <a:off x="7558654" y="3957646"/>
            <a:ext cx="3677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1" name="Straight Connector 230">
            <a:extLst>
              <a:ext uri="{FF2B5EF4-FFF2-40B4-BE49-F238E27FC236}">
                <a16:creationId xmlns:a16="http://schemas.microsoft.com/office/drawing/2014/main" id="{EED0EDD4-83CA-341D-990C-A3A19DE67DBE}"/>
              </a:ext>
            </a:extLst>
          </p:cNvPr>
          <p:cNvCxnSpPr>
            <a:cxnSpLocks/>
          </p:cNvCxnSpPr>
          <p:nvPr/>
        </p:nvCxnSpPr>
        <p:spPr>
          <a:xfrm flipV="1">
            <a:off x="6355705" y="1747085"/>
            <a:ext cx="0" cy="2367184"/>
          </a:xfrm>
          <a:prstGeom prst="line">
            <a:avLst/>
          </a:prstGeom>
          <a:ln w="57150">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32" name="Straight Connector 231">
            <a:extLst>
              <a:ext uri="{FF2B5EF4-FFF2-40B4-BE49-F238E27FC236}">
                <a16:creationId xmlns:a16="http://schemas.microsoft.com/office/drawing/2014/main" id="{961BDD99-0352-44C2-B019-2E6A147070A0}"/>
              </a:ext>
            </a:extLst>
          </p:cNvPr>
          <p:cNvCxnSpPr>
            <a:cxnSpLocks/>
          </p:cNvCxnSpPr>
          <p:nvPr/>
        </p:nvCxnSpPr>
        <p:spPr>
          <a:xfrm>
            <a:off x="4935574" y="1747085"/>
            <a:ext cx="4274641" cy="4223"/>
          </a:xfrm>
          <a:prstGeom prst="line">
            <a:avLst/>
          </a:prstGeom>
          <a:ln w="57150">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33" name="Straight Arrow Connector 232">
            <a:extLst>
              <a:ext uri="{FF2B5EF4-FFF2-40B4-BE49-F238E27FC236}">
                <a16:creationId xmlns:a16="http://schemas.microsoft.com/office/drawing/2014/main" id="{A5A66921-158F-CADB-2515-8EDD62A8E5BB}"/>
              </a:ext>
            </a:extLst>
          </p:cNvPr>
          <p:cNvCxnSpPr>
            <a:cxnSpLocks/>
          </p:cNvCxnSpPr>
          <p:nvPr/>
        </p:nvCxnSpPr>
        <p:spPr>
          <a:xfrm>
            <a:off x="5880266" y="1547156"/>
            <a:ext cx="0" cy="1891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4" name="Straight Arrow Connector 233">
            <a:extLst>
              <a:ext uri="{FF2B5EF4-FFF2-40B4-BE49-F238E27FC236}">
                <a16:creationId xmlns:a16="http://schemas.microsoft.com/office/drawing/2014/main" id="{E8745EE3-CCCF-29F3-AE55-41D5EDE24EE5}"/>
              </a:ext>
            </a:extLst>
          </p:cNvPr>
          <p:cNvCxnSpPr>
            <a:cxnSpLocks/>
          </p:cNvCxnSpPr>
          <p:nvPr/>
        </p:nvCxnSpPr>
        <p:spPr>
          <a:xfrm>
            <a:off x="6966116" y="1547156"/>
            <a:ext cx="0" cy="1891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5" name="Straight Arrow Connector 234">
            <a:extLst>
              <a:ext uri="{FF2B5EF4-FFF2-40B4-BE49-F238E27FC236}">
                <a16:creationId xmlns:a16="http://schemas.microsoft.com/office/drawing/2014/main" id="{FF679171-9668-046D-D8C7-385129C4556C}"/>
              </a:ext>
            </a:extLst>
          </p:cNvPr>
          <p:cNvCxnSpPr>
            <a:cxnSpLocks/>
          </p:cNvCxnSpPr>
          <p:nvPr/>
        </p:nvCxnSpPr>
        <p:spPr>
          <a:xfrm>
            <a:off x="8051966" y="1556267"/>
            <a:ext cx="0" cy="1800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6" name="Straight Arrow Connector 235">
            <a:extLst>
              <a:ext uri="{FF2B5EF4-FFF2-40B4-BE49-F238E27FC236}">
                <a16:creationId xmlns:a16="http://schemas.microsoft.com/office/drawing/2014/main" id="{7D53912E-430F-7DE7-FCEB-49718FE015F8}"/>
              </a:ext>
            </a:extLst>
          </p:cNvPr>
          <p:cNvCxnSpPr>
            <a:cxnSpLocks/>
          </p:cNvCxnSpPr>
          <p:nvPr/>
        </p:nvCxnSpPr>
        <p:spPr>
          <a:xfrm>
            <a:off x="9133053" y="1556267"/>
            <a:ext cx="0" cy="1800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7" name="Straight Arrow Connector 236">
            <a:extLst>
              <a:ext uri="{FF2B5EF4-FFF2-40B4-BE49-F238E27FC236}">
                <a16:creationId xmlns:a16="http://schemas.microsoft.com/office/drawing/2014/main" id="{B4AC7C07-527E-74A4-F01D-8D2CDFCBCA8C}"/>
              </a:ext>
            </a:extLst>
          </p:cNvPr>
          <p:cNvCxnSpPr>
            <a:cxnSpLocks/>
            <a:endCxn id="194" idx="1"/>
          </p:cNvCxnSpPr>
          <p:nvPr/>
        </p:nvCxnSpPr>
        <p:spPr>
          <a:xfrm flipV="1">
            <a:off x="6355705" y="2474227"/>
            <a:ext cx="200046" cy="317"/>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38" name="Straight Arrow Connector 237">
            <a:extLst>
              <a:ext uri="{FF2B5EF4-FFF2-40B4-BE49-F238E27FC236}">
                <a16:creationId xmlns:a16="http://schemas.microsoft.com/office/drawing/2014/main" id="{1DDBFFDC-17AD-5631-81AC-0E322B5918C8}"/>
              </a:ext>
            </a:extLst>
          </p:cNvPr>
          <p:cNvCxnSpPr>
            <a:cxnSpLocks/>
          </p:cNvCxnSpPr>
          <p:nvPr/>
        </p:nvCxnSpPr>
        <p:spPr>
          <a:xfrm flipV="1">
            <a:off x="6355705" y="2821941"/>
            <a:ext cx="200046" cy="317"/>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39" name="Straight Arrow Connector 238">
            <a:extLst>
              <a:ext uri="{FF2B5EF4-FFF2-40B4-BE49-F238E27FC236}">
                <a16:creationId xmlns:a16="http://schemas.microsoft.com/office/drawing/2014/main" id="{39F04A2C-C4CE-DFDC-F141-12CDB7C4FE8D}"/>
              </a:ext>
            </a:extLst>
          </p:cNvPr>
          <p:cNvCxnSpPr>
            <a:cxnSpLocks/>
            <a:endCxn id="225" idx="1"/>
          </p:cNvCxnSpPr>
          <p:nvPr/>
        </p:nvCxnSpPr>
        <p:spPr>
          <a:xfrm>
            <a:off x="6355705" y="3598862"/>
            <a:ext cx="192336" cy="0"/>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40" name="Straight Arrow Connector 239">
            <a:extLst>
              <a:ext uri="{FF2B5EF4-FFF2-40B4-BE49-F238E27FC236}">
                <a16:creationId xmlns:a16="http://schemas.microsoft.com/office/drawing/2014/main" id="{D7285580-DCDB-56D0-756C-EFB577A4FFC3}"/>
              </a:ext>
            </a:extLst>
          </p:cNvPr>
          <p:cNvCxnSpPr>
            <a:cxnSpLocks/>
            <a:endCxn id="226" idx="1"/>
          </p:cNvCxnSpPr>
          <p:nvPr/>
        </p:nvCxnSpPr>
        <p:spPr>
          <a:xfrm>
            <a:off x="6355705" y="3957646"/>
            <a:ext cx="192336" cy="0"/>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41" name="Rectangle 240">
            <a:extLst>
              <a:ext uri="{FF2B5EF4-FFF2-40B4-BE49-F238E27FC236}">
                <a16:creationId xmlns:a16="http://schemas.microsoft.com/office/drawing/2014/main" id="{2AED262E-E38F-650F-1D2F-3F5AAAC59447}"/>
              </a:ext>
            </a:extLst>
          </p:cNvPr>
          <p:cNvSpPr/>
          <p:nvPr/>
        </p:nvSpPr>
        <p:spPr>
          <a:xfrm>
            <a:off x="7934163" y="5392820"/>
            <a:ext cx="1079257" cy="313247"/>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Data_bus_2 : Mux</a:t>
            </a:r>
            <a:endParaRPr lang="en-IL" sz="1200" dirty="0">
              <a:solidFill>
                <a:schemeClr val="tx1"/>
              </a:solidFill>
            </a:endParaRPr>
          </a:p>
        </p:txBody>
      </p:sp>
      <p:cxnSp>
        <p:nvCxnSpPr>
          <p:cNvPr id="242" name="Straight Connector 241">
            <a:extLst>
              <a:ext uri="{FF2B5EF4-FFF2-40B4-BE49-F238E27FC236}">
                <a16:creationId xmlns:a16="http://schemas.microsoft.com/office/drawing/2014/main" id="{C1A4811D-ADD5-E05F-571D-F7ABA50C8EB0}"/>
              </a:ext>
            </a:extLst>
          </p:cNvPr>
          <p:cNvCxnSpPr>
            <a:cxnSpLocks/>
          </p:cNvCxnSpPr>
          <p:nvPr/>
        </p:nvCxnSpPr>
        <p:spPr>
          <a:xfrm>
            <a:off x="4940336" y="743754"/>
            <a:ext cx="4771830"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3" name="Straight Connector 242">
            <a:extLst>
              <a:ext uri="{FF2B5EF4-FFF2-40B4-BE49-F238E27FC236}">
                <a16:creationId xmlns:a16="http://schemas.microsoft.com/office/drawing/2014/main" id="{5621A438-0215-1FCD-7E02-79202272231C}"/>
              </a:ext>
            </a:extLst>
          </p:cNvPr>
          <p:cNvCxnSpPr>
            <a:cxnSpLocks/>
          </p:cNvCxnSpPr>
          <p:nvPr/>
        </p:nvCxnSpPr>
        <p:spPr>
          <a:xfrm>
            <a:off x="4935574" y="835845"/>
            <a:ext cx="4602293"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4" name="Straight Connector 243">
            <a:extLst>
              <a:ext uri="{FF2B5EF4-FFF2-40B4-BE49-F238E27FC236}">
                <a16:creationId xmlns:a16="http://schemas.microsoft.com/office/drawing/2014/main" id="{BD9E028B-5C52-6CAA-B623-25982A128C9D}"/>
              </a:ext>
            </a:extLst>
          </p:cNvPr>
          <p:cNvCxnSpPr>
            <a:cxnSpLocks/>
          </p:cNvCxnSpPr>
          <p:nvPr/>
        </p:nvCxnSpPr>
        <p:spPr>
          <a:xfrm flipH="1" flipV="1">
            <a:off x="9531517" y="807272"/>
            <a:ext cx="6350" cy="4008235"/>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5" name="Straight Connector 244">
            <a:extLst>
              <a:ext uri="{FF2B5EF4-FFF2-40B4-BE49-F238E27FC236}">
                <a16:creationId xmlns:a16="http://schemas.microsoft.com/office/drawing/2014/main" id="{5B98B1DC-63EC-DD11-CC22-16C718214452}"/>
              </a:ext>
            </a:extLst>
          </p:cNvPr>
          <p:cNvCxnSpPr>
            <a:cxnSpLocks/>
            <a:endCxn id="193" idx="3"/>
          </p:cNvCxnSpPr>
          <p:nvPr/>
        </p:nvCxnSpPr>
        <p:spPr>
          <a:xfrm flipH="1">
            <a:off x="9013420" y="4815507"/>
            <a:ext cx="555312" cy="1"/>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6" name="Straight Connector 245">
            <a:extLst>
              <a:ext uri="{FF2B5EF4-FFF2-40B4-BE49-F238E27FC236}">
                <a16:creationId xmlns:a16="http://schemas.microsoft.com/office/drawing/2014/main" id="{C36C4ACB-2F63-F7EF-565D-AB1EBE61F316}"/>
              </a:ext>
            </a:extLst>
          </p:cNvPr>
          <p:cNvCxnSpPr>
            <a:cxnSpLocks/>
            <a:endCxn id="241" idx="3"/>
          </p:cNvCxnSpPr>
          <p:nvPr/>
        </p:nvCxnSpPr>
        <p:spPr>
          <a:xfrm flipH="1">
            <a:off x="9013420" y="5549444"/>
            <a:ext cx="698746"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7" name="Straight Connector 246">
            <a:extLst>
              <a:ext uri="{FF2B5EF4-FFF2-40B4-BE49-F238E27FC236}">
                <a16:creationId xmlns:a16="http://schemas.microsoft.com/office/drawing/2014/main" id="{27D68E20-4594-152A-22F5-4D73A171256F}"/>
              </a:ext>
            </a:extLst>
          </p:cNvPr>
          <p:cNvCxnSpPr>
            <a:cxnSpLocks/>
          </p:cNvCxnSpPr>
          <p:nvPr/>
        </p:nvCxnSpPr>
        <p:spPr>
          <a:xfrm>
            <a:off x="9684259" y="743754"/>
            <a:ext cx="0" cy="480569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248" name="Rectangle 247">
            <a:extLst>
              <a:ext uri="{FF2B5EF4-FFF2-40B4-BE49-F238E27FC236}">
                <a16:creationId xmlns:a16="http://schemas.microsoft.com/office/drawing/2014/main" id="{C8986DCE-C28E-E0C5-4BDF-D585D3A841CB}"/>
              </a:ext>
            </a:extLst>
          </p:cNvPr>
          <p:cNvSpPr/>
          <p:nvPr/>
        </p:nvSpPr>
        <p:spPr>
          <a:xfrm>
            <a:off x="8450276" y="2056141"/>
            <a:ext cx="740471" cy="19251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Reg_sel_2 : Mux</a:t>
            </a:r>
            <a:endParaRPr lang="en-IL" sz="800" dirty="0">
              <a:solidFill>
                <a:schemeClr val="tx1"/>
              </a:solidFill>
            </a:endParaRPr>
          </a:p>
        </p:txBody>
      </p:sp>
      <p:cxnSp>
        <p:nvCxnSpPr>
          <p:cNvPr id="249" name="Straight Connector 248">
            <a:extLst>
              <a:ext uri="{FF2B5EF4-FFF2-40B4-BE49-F238E27FC236}">
                <a16:creationId xmlns:a16="http://schemas.microsoft.com/office/drawing/2014/main" id="{81BFD42B-F256-1B4C-1B31-54F7A5EF3167}"/>
              </a:ext>
            </a:extLst>
          </p:cNvPr>
          <p:cNvCxnSpPr>
            <a:cxnSpLocks/>
          </p:cNvCxnSpPr>
          <p:nvPr/>
        </p:nvCxnSpPr>
        <p:spPr>
          <a:xfrm flipV="1">
            <a:off x="8236667" y="1761472"/>
            <a:ext cx="0" cy="487540"/>
          </a:xfrm>
          <a:prstGeom prst="line">
            <a:avLst/>
          </a:prstGeom>
          <a:ln w="57150">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250" name="Straight Arrow Connector 249">
            <a:extLst>
              <a:ext uri="{FF2B5EF4-FFF2-40B4-BE49-F238E27FC236}">
                <a16:creationId xmlns:a16="http://schemas.microsoft.com/office/drawing/2014/main" id="{0A1C1ED0-78FF-94EA-1CDE-D80214A28CF4}"/>
              </a:ext>
            </a:extLst>
          </p:cNvPr>
          <p:cNvCxnSpPr>
            <a:cxnSpLocks/>
          </p:cNvCxnSpPr>
          <p:nvPr/>
        </p:nvCxnSpPr>
        <p:spPr>
          <a:xfrm flipV="1">
            <a:off x="8259075" y="1931760"/>
            <a:ext cx="200046" cy="317"/>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51" name="Straight Arrow Connector 250">
            <a:extLst>
              <a:ext uri="{FF2B5EF4-FFF2-40B4-BE49-F238E27FC236}">
                <a16:creationId xmlns:a16="http://schemas.microsoft.com/office/drawing/2014/main" id="{CF6EF8A3-5ECE-ABA1-E5D9-19CD378DB672}"/>
              </a:ext>
            </a:extLst>
          </p:cNvPr>
          <p:cNvCxnSpPr>
            <a:cxnSpLocks/>
          </p:cNvCxnSpPr>
          <p:nvPr/>
        </p:nvCxnSpPr>
        <p:spPr>
          <a:xfrm flipV="1">
            <a:off x="8259075" y="2152398"/>
            <a:ext cx="200046" cy="317"/>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52" name="Straight Arrow Connector 251">
            <a:extLst>
              <a:ext uri="{FF2B5EF4-FFF2-40B4-BE49-F238E27FC236}">
                <a16:creationId xmlns:a16="http://schemas.microsoft.com/office/drawing/2014/main" id="{A083EDB0-CEE0-B3E8-0573-4FC92EC0073A}"/>
              </a:ext>
            </a:extLst>
          </p:cNvPr>
          <p:cNvCxnSpPr>
            <a:cxnSpLocks/>
          </p:cNvCxnSpPr>
          <p:nvPr/>
        </p:nvCxnSpPr>
        <p:spPr>
          <a:xfrm>
            <a:off x="5057046" y="835845"/>
            <a:ext cx="0" cy="15495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3" name="Straight Arrow Connector 252">
            <a:extLst>
              <a:ext uri="{FF2B5EF4-FFF2-40B4-BE49-F238E27FC236}">
                <a16:creationId xmlns:a16="http://schemas.microsoft.com/office/drawing/2014/main" id="{49B8153B-C66E-935E-E45C-AA1B8B8459B8}"/>
              </a:ext>
            </a:extLst>
          </p:cNvPr>
          <p:cNvCxnSpPr>
            <a:cxnSpLocks/>
          </p:cNvCxnSpPr>
          <p:nvPr/>
        </p:nvCxnSpPr>
        <p:spPr>
          <a:xfrm>
            <a:off x="6161946" y="835845"/>
            <a:ext cx="0" cy="15495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4" name="Straight Arrow Connector 253">
            <a:extLst>
              <a:ext uri="{FF2B5EF4-FFF2-40B4-BE49-F238E27FC236}">
                <a16:creationId xmlns:a16="http://schemas.microsoft.com/office/drawing/2014/main" id="{93A558B9-83F3-C799-AF9C-B1C3EF1F1D8C}"/>
              </a:ext>
            </a:extLst>
          </p:cNvPr>
          <p:cNvCxnSpPr>
            <a:cxnSpLocks/>
          </p:cNvCxnSpPr>
          <p:nvPr/>
        </p:nvCxnSpPr>
        <p:spPr>
          <a:xfrm>
            <a:off x="7236720" y="835844"/>
            <a:ext cx="0" cy="15495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5" name="Straight Arrow Connector 254">
            <a:extLst>
              <a:ext uri="{FF2B5EF4-FFF2-40B4-BE49-F238E27FC236}">
                <a16:creationId xmlns:a16="http://schemas.microsoft.com/office/drawing/2014/main" id="{7D2FA47F-E72E-0D57-3ACE-946E4A7BB567}"/>
              </a:ext>
            </a:extLst>
          </p:cNvPr>
          <p:cNvCxnSpPr>
            <a:cxnSpLocks/>
          </p:cNvCxnSpPr>
          <p:nvPr/>
        </p:nvCxnSpPr>
        <p:spPr>
          <a:xfrm>
            <a:off x="8341358" y="859735"/>
            <a:ext cx="0" cy="15495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6" name="Straight Arrow Connector 255">
            <a:extLst>
              <a:ext uri="{FF2B5EF4-FFF2-40B4-BE49-F238E27FC236}">
                <a16:creationId xmlns:a16="http://schemas.microsoft.com/office/drawing/2014/main" id="{64DB2286-6FE2-12F8-8838-1B664AFCD3C3}"/>
              </a:ext>
            </a:extLst>
          </p:cNvPr>
          <p:cNvCxnSpPr>
            <a:cxnSpLocks/>
          </p:cNvCxnSpPr>
          <p:nvPr/>
        </p:nvCxnSpPr>
        <p:spPr>
          <a:xfrm>
            <a:off x="5185633" y="738991"/>
            <a:ext cx="0" cy="25180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7" name="Straight Arrow Connector 256">
            <a:extLst>
              <a:ext uri="{FF2B5EF4-FFF2-40B4-BE49-F238E27FC236}">
                <a16:creationId xmlns:a16="http://schemas.microsoft.com/office/drawing/2014/main" id="{1940A625-FE63-F2A5-23B6-A0AB643A0D29}"/>
              </a:ext>
            </a:extLst>
          </p:cNvPr>
          <p:cNvCxnSpPr>
            <a:cxnSpLocks/>
          </p:cNvCxnSpPr>
          <p:nvPr/>
        </p:nvCxnSpPr>
        <p:spPr>
          <a:xfrm>
            <a:off x="6290533" y="738991"/>
            <a:ext cx="0" cy="25180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8" name="Straight Arrow Connector 257">
            <a:extLst>
              <a:ext uri="{FF2B5EF4-FFF2-40B4-BE49-F238E27FC236}">
                <a16:creationId xmlns:a16="http://schemas.microsoft.com/office/drawing/2014/main" id="{62810AA7-9CF2-9CAE-3E7B-2DB34B6D04A2}"/>
              </a:ext>
            </a:extLst>
          </p:cNvPr>
          <p:cNvCxnSpPr>
            <a:cxnSpLocks/>
          </p:cNvCxnSpPr>
          <p:nvPr/>
        </p:nvCxnSpPr>
        <p:spPr>
          <a:xfrm>
            <a:off x="7366858" y="738991"/>
            <a:ext cx="0" cy="25180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9" name="Straight Arrow Connector 258">
            <a:extLst>
              <a:ext uri="{FF2B5EF4-FFF2-40B4-BE49-F238E27FC236}">
                <a16:creationId xmlns:a16="http://schemas.microsoft.com/office/drawing/2014/main" id="{18B2107C-1153-3307-AB75-C7CE107EE81D}"/>
              </a:ext>
            </a:extLst>
          </p:cNvPr>
          <p:cNvCxnSpPr>
            <a:cxnSpLocks/>
          </p:cNvCxnSpPr>
          <p:nvPr/>
        </p:nvCxnSpPr>
        <p:spPr>
          <a:xfrm>
            <a:off x="8473791" y="762882"/>
            <a:ext cx="0" cy="25180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0" name="Straight Arrow Connector 259">
            <a:extLst>
              <a:ext uri="{FF2B5EF4-FFF2-40B4-BE49-F238E27FC236}">
                <a16:creationId xmlns:a16="http://schemas.microsoft.com/office/drawing/2014/main" id="{DD6D38DE-30C2-5D81-4C8C-871AE20FBBE5}"/>
              </a:ext>
            </a:extLst>
          </p:cNvPr>
          <p:cNvCxnSpPr>
            <a:cxnSpLocks/>
            <a:stCxn id="192" idx="3"/>
          </p:cNvCxnSpPr>
          <p:nvPr/>
        </p:nvCxnSpPr>
        <p:spPr>
          <a:xfrm>
            <a:off x="9189882" y="1920809"/>
            <a:ext cx="91693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1" name="Straight Arrow Connector 260">
            <a:extLst>
              <a:ext uri="{FF2B5EF4-FFF2-40B4-BE49-F238E27FC236}">
                <a16:creationId xmlns:a16="http://schemas.microsoft.com/office/drawing/2014/main" id="{E358D698-D0B2-BB2E-D78A-BC328B449D8A}"/>
              </a:ext>
            </a:extLst>
          </p:cNvPr>
          <p:cNvCxnSpPr>
            <a:cxnSpLocks/>
          </p:cNvCxnSpPr>
          <p:nvPr/>
        </p:nvCxnSpPr>
        <p:spPr>
          <a:xfrm>
            <a:off x="9189882" y="2152398"/>
            <a:ext cx="91693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2" name="TextBox 261">
            <a:extLst>
              <a:ext uri="{FF2B5EF4-FFF2-40B4-BE49-F238E27FC236}">
                <a16:creationId xmlns:a16="http://schemas.microsoft.com/office/drawing/2014/main" id="{F50EF059-F67A-60D8-DDA0-867796050822}"/>
              </a:ext>
            </a:extLst>
          </p:cNvPr>
          <p:cNvSpPr txBox="1"/>
          <p:nvPr/>
        </p:nvSpPr>
        <p:spPr>
          <a:xfrm>
            <a:off x="10070345" y="1821160"/>
            <a:ext cx="833883" cy="215444"/>
          </a:xfrm>
          <a:prstGeom prst="rect">
            <a:avLst/>
          </a:prstGeom>
          <a:noFill/>
        </p:spPr>
        <p:txBody>
          <a:bodyPr wrap="none" rtlCol="0">
            <a:spAutoFit/>
          </a:bodyPr>
          <a:lstStyle/>
          <a:p>
            <a:r>
              <a:rPr lang="en-US" sz="800" dirty="0"/>
              <a:t>data_bus_in_1</a:t>
            </a:r>
            <a:endParaRPr lang="en-IL" sz="800" dirty="0"/>
          </a:p>
        </p:txBody>
      </p:sp>
      <p:sp>
        <p:nvSpPr>
          <p:cNvPr id="263" name="TextBox 262">
            <a:extLst>
              <a:ext uri="{FF2B5EF4-FFF2-40B4-BE49-F238E27FC236}">
                <a16:creationId xmlns:a16="http://schemas.microsoft.com/office/drawing/2014/main" id="{56552C5D-378D-0C52-7C36-598C62BB0D11}"/>
              </a:ext>
            </a:extLst>
          </p:cNvPr>
          <p:cNvSpPr txBox="1"/>
          <p:nvPr/>
        </p:nvSpPr>
        <p:spPr>
          <a:xfrm>
            <a:off x="10070462" y="2035637"/>
            <a:ext cx="833883" cy="215444"/>
          </a:xfrm>
          <a:prstGeom prst="rect">
            <a:avLst/>
          </a:prstGeom>
          <a:noFill/>
        </p:spPr>
        <p:txBody>
          <a:bodyPr wrap="none" rtlCol="0">
            <a:spAutoFit/>
          </a:bodyPr>
          <a:lstStyle/>
          <a:p>
            <a:r>
              <a:rPr lang="en-US" sz="800" dirty="0"/>
              <a:t>data_bus_in_2</a:t>
            </a:r>
            <a:endParaRPr lang="en-IL" sz="800" dirty="0"/>
          </a:p>
        </p:txBody>
      </p:sp>
      <p:cxnSp>
        <p:nvCxnSpPr>
          <p:cNvPr id="264" name="Straight Arrow Connector 263">
            <a:extLst>
              <a:ext uri="{FF2B5EF4-FFF2-40B4-BE49-F238E27FC236}">
                <a16:creationId xmlns:a16="http://schemas.microsoft.com/office/drawing/2014/main" id="{9200D23D-C127-BC6F-B69F-8DB93501A8A7}"/>
              </a:ext>
            </a:extLst>
          </p:cNvPr>
          <p:cNvCxnSpPr>
            <a:cxnSpLocks/>
          </p:cNvCxnSpPr>
          <p:nvPr/>
        </p:nvCxnSpPr>
        <p:spPr>
          <a:xfrm>
            <a:off x="4410715" y="5213208"/>
            <a:ext cx="19530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5" name="Straight Arrow Connector 264">
            <a:extLst>
              <a:ext uri="{FF2B5EF4-FFF2-40B4-BE49-F238E27FC236}">
                <a16:creationId xmlns:a16="http://schemas.microsoft.com/office/drawing/2014/main" id="{6EB2190D-D207-85E2-4D50-B5C2CEDB5A23}"/>
              </a:ext>
            </a:extLst>
          </p:cNvPr>
          <p:cNvCxnSpPr>
            <a:cxnSpLocks/>
          </p:cNvCxnSpPr>
          <p:nvPr/>
        </p:nvCxnSpPr>
        <p:spPr>
          <a:xfrm>
            <a:off x="4410715" y="5465453"/>
            <a:ext cx="19530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6" name="TextBox 265">
            <a:extLst>
              <a:ext uri="{FF2B5EF4-FFF2-40B4-BE49-F238E27FC236}">
                <a16:creationId xmlns:a16="http://schemas.microsoft.com/office/drawing/2014/main" id="{A3D5FA7D-C285-6383-D61B-9F505BEB06C0}"/>
              </a:ext>
            </a:extLst>
          </p:cNvPr>
          <p:cNvSpPr txBox="1"/>
          <p:nvPr/>
        </p:nvSpPr>
        <p:spPr>
          <a:xfrm>
            <a:off x="4330243" y="5215854"/>
            <a:ext cx="716863" cy="215444"/>
          </a:xfrm>
          <a:prstGeom prst="rect">
            <a:avLst/>
          </a:prstGeom>
          <a:noFill/>
        </p:spPr>
        <p:txBody>
          <a:bodyPr wrap="none" rtlCol="0">
            <a:spAutoFit/>
          </a:bodyPr>
          <a:lstStyle/>
          <a:p>
            <a:r>
              <a:rPr lang="en-US" sz="800" dirty="0"/>
              <a:t>Instructions</a:t>
            </a:r>
          </a:p>
        </p:txBody>
      </p:sp>
      <p:sp>
        <p:nvSpPr>
          <p:cNvPr id="267" name="TextBox 266">
            <a:extLst>
              <a:ext uri="{FF2B5EF4-FFF2-40B4-BE49-F238E27FC236}">
                <a16:creationId xmlns:a16="http://schemas.microsoft.com/office/drawing/2014/main" id="{A71AEE94-C0D0-6C51-A19B-214DC14C7356}"/>
              </a:ext>
            </a:extLst>
          </p:cNvPr>
          <p:cNvSpPr txBox="1"/>
          <p:nvPr/>
        </p:nvSpPr>
        <p:spPr>
          <a:xfrm>
            <a:off x="3537300" y="4895114"/>
            <a:ext cx="926857" cy="215444"/>
          </a:xfrm>
          <a:prstGeom prst="rect">
            <a:avLst/>
          </a:prstGeom>
          <a:noFill/>
        </p:spPr>
        <p:txBody>
          <a:bodyPr wrap="none" rtlCol="0">
            <a:spAutoFit/>
          </a:bodyPr>
          <a:lstStyle/>
          <a:p>
            <a:r>
              <a:rPr lang="en-US" sz="800" dirty="0"/>
              <a:t>Program counter</a:t>
            </a:r>
            <a:endParaRPr lang="en-IL" sz="800" dirty="0"/>
          </a:p>
        </p:txBody>
      </p:sp>
      <p:cxnSp>
        <p:nvCxnSpPr>
          <p:cNvPr id="268" name="Straight Arrow Connector 267">
            <a:extLst>
              <a:ext uri="{FF2B5EF4-FFF2-40B4-BE49-F238E27FC236}">
                <a16:creationId xmlns:a16="http://schemas.microsoft.com/office/drawing/2014/main" id="{6D0C9CB5-931B-4849-71CA-DD306480EFE1}"/>
              </a:ext>
            </a:extLst>
          </p:cNvPr>
          <p:cNvCxnSpPr>
            <a:cxnSpLocks/>
          </p:cNvCxnSpPr>
          <p:nvPr/>
        </p:nvCxnSpPr>
        <p:spPr>
          <a:xfrm>
            <a:off x="6235867" y="3220818"/>
            <a:ext cx="16905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9" name="Straight Arrow Connector 268">
            <a:extLst>
              <a:ext uri="{FF2B5EF4-FFF2-40B4-BE49-F238E27FC236}">
                <a16:creationId xmlns:a16="http://schemas.microsoft.com/office/drawing/2014/main" id="{2C6B8A7F-B5D6-AD1C-B2E1-EB51D4F20DA5}"/>
              </a:ext>
            </a:extLst>
          </p:cNvPr>
          <p:cNvCxnSpPr>
            <a:cxnSpLocks/>
          </p:cNvCxnSpPr>
          <p:nvPr/>
        </p:nvCxnSpPr>
        <p:spPr>
          <a:xfrm>
            <a:off x="6243578" y="4262218"/>
            <a:ext cx="16905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0" name="Straight Connector 269">
            <a:extLst>
              <a:ext uri="{FF2B5EF4-FFF2-40B4-BE49-F238E27FC236}">
                <a16:creationId xmlns:a16="http://schemas.microsoft.com/office/drawing/2014/main" id="{F244B100-7A4B-E2FE-E2A5-604FDFA238EB}"/>
              </a:ext>
            </a:extLst>
          </p:cNvPr>
          <p:cNvCxnSpPr>
            <a:cxnSpLocks/>
          </p:cNvCxnSpPr>
          <p:nvPr/>
        </p:nvCxnSpPr>
        <p:spPr>
          <a:xfrm flipV="1">
            <a:off x="6234474" y="3212645"/>
            <a:ext cx="0" cy="22854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71" name="Straight Connector 270">
            <a:extLst>
              <a:ext uri="{FF2B5EF4-FFF2-40B4-BE49-F238E27FC236}">
                <a16:creationId xmlns:a16="http://schemas.microsoft.com/office/drawing/2014/main" id="{5A9DF737-44AC-72B5-00BE-1D04EDBBACB9}"/>
              </a:ext>
            </a:extLst>
          </p:cNvPr>
          <p:cNvCxnSpPr>
            <a:cxnSpLocks/>
          </p:cNvCxnSpPr>
          <p:nvPr/>
        </p:nvCxnSpPr>
        <p:spPr>
          <a:xfrm flipH="1">
            <a:off x="6077349" y="4592209"/>
            <a:ext cx="15534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2" name="Straight Connector 271">
            <a:extLst>
              <a:ext uri="{FF2B5EF4-FFF2-40B4-BE49-F238E27FC236}">
                <a16:creationId xmlns:a16="http://schemas.microsoft.com/office/drawing/2014/main" id="{96CCC9EA-6D24-CF2A-0684-98612DFB58B1}"/>
              </a:ext>
            </a:extLst>
          </p:cNvPr>
          <p:cNvCxnSpPr>
            <a:cxnSpLocks/>
          </p:cNvCxnSpPr>
          <p:nvPr/>
        </p:nvCxnSpPr>
        <p:spPr>
          <a:xfrm flipH="1">
            <a:off x="6074809" y="5497084"/>
            <a:ext cx="169790" cy="0"/>
          </a:xfrm>
          <a:prstGeom prst="line">
            <a:avLst/>
          </a:prstGeom>
        </p:spPr>
        <p:style>
          <a:lnRef idx="2">
            <a:schemeClr val="accent1"/>
          </a:lnRef>
          <a:fillRef idx="0">
            <a:schemeClr val="accent1"/>
          </a:fillRef>
          <a:effectRef idx="1">
            <a:schemeClr val="accent1"/>
          </a:effectRef>
          <a:fontRef idx="minor">
            <a:schemeClr val="tx1"/>
          </a:fontRef>
        </p:style>
      </p:cxnSp>
      <p:sp>
        <p:nvSpPr>
          <p:cNvPr id="273" name="TextBox 272">
            <a:extLst>
              <a:ext uri="{FF2B5EF4-FFF2-40B4-BE49-F238E27FC236}">
                <a16:creationId xmlns:a16="http://schemas.microsoft.com/office/drawing/2014/main" id="{A9713E3A-CFFC-996B-67E7-286CF10D792D}"/>
              </a:ext>
            </a:extLst>
          </p:cNvPr>
          <p:cNvSpPr txBox="1"/>
          <p:nvPr/>
        </p:nvSpPr>
        <p:spPr>
          <a:xfrm>
            <a:off x="6672989" y="3054555"/>
            <a:ext cx="587020" cy="215444"/>
          </a:xfrm>
          <a:prstGeom prst="rect">
            <a:avLst/>
          </a:prstGeom>
          <a:noFill/>
        </p:spPr>
        <p:txBody>
          <a:bodyPr wrap="none" rtlCol="0">
            <a:spAutoFit/>
          </a:bodyPr>
          <a:lstStyle/>
          <a:p>
            <a:r>
              <a:rPr lang="en-US" sz="800" dirty="0" err="1"/>
              <a:t>Op_code</a:t>
            </a:r>
            <a:endParaRPr lang="en-IL" sz="800" dirty="0"/>
          </a:p>
        </p:txBody>
      </p:sp>
      <p:sp>
        <p:nvSpPr>
          <p:cNvPr id="274" name="TextBox 273">
            <a:extLst>
              <a:ext uri="{FF2B5EF4-FFF2-40B4-BE49-F238E27FC236}">
                <a16:creationId xmlns:a16="http://schemas.microsoft.com/office/drawing/2014/main" id="{7B9B390C-BA79-4BAB-1C00-DA268A461B91}"/>
              </a:ext>
            </a:extLst>
          </p:cNvPr>
          <p:cNvSpPr txBox="1"/>
          <p:nvPr/>
        </p:nvSpPr>
        <p:spPr>
          <a:xfrm>
            <a:off x="6670986" y="4089304"/>
            <a:ext cx="587020" cy="215444"/>
          </a:xfrm>
          <a:prstGeom prst="rect">
            <a:avLst/>
          </a:prstGeom>
          <a:noFill/>
        </p:spPr>
        <p:txBody>
          <a:bodyPr wrap="none" rtlCol="0">
            <a:spAutoFit/>
          </a:bodyPr>
          <a:lstStyle/>
          <a:p>
            <a:r>
              <a:rPr lang="en-US" sz="800" dirty="0" err="1"/>
              <a:t>Op_code</a:t>
            </a:r>
            <a:endParaRPr lang="en-IL" sz="800" dirty="0"/>
          </a:p>
        </p:txBody>
      </p:sp>
      <p:cxnSp>
        <p:nvCxnSpPr>
          <p:cNvPr id="275" name="Straight Arrow Connector 274">
            <a:extLst>
              <a:ext uri="{FF2B5EF4-FFF2-40B4-BE49-F238E27FC236}">
                <a16:creationId xmlns:a16="http://schemas.microsoft.com/office/drawing/2014/main" id="{043DF268-4BF4-B0B9-4BE5-98EB0643C2DA}"/>
              </a:ext>
            </a:extLst>
          </p:cNvPr>
          <p:cNvCxnSpPr>
            <a:cxnSpLocks/>
            <a:endCxn id="193" idx="1"/>
          </p:cNvCxnSpPr>
          <p:nvPr/>
        </p:nvCxnSpPr>
        <p:spPr>
          <a:xfrm>
            <a:off x="6070047" y="4815508"/>
            <a:ext cx="18641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6" name="Straight Arrow Connector 275">
            <a:extLst>
              <a:ext uri="{FF2B5EF4-FFF2-40B4-BE49-F238E27FC236}">
                <a16:creationId xmlns:a16="http://schemas.microsoft.com/office/drawing/2014/main" id="{7A3ABC7F-645C-67ED-A0A6-CA9DD691825C}"/>
              </a:ext>
            </a:extLst>
          </p:cNvPr>
          <p:cNvCxnSpPr>
            <a:cxnSpLocks/>
            <a:endCxn id="241" idx="1"/>
          </p:cNvCxnSpPr>
          <p:nvPr/>
        </p:nvCxnSpPr>
        <p:spPr>
          <a:xfrm>
            <a:off x="6070047" y="5549444"/>
            <a:ext cx="18641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7" name="TextBox 276">
            <a:extLst>
              <a:ext uri="{FF2B5EF4-FFF2-40B4-BE49-F238E27FC236}">
                <a16:creationId xmlns:a16="http://schemas.microsoft.com/office/drawing/2014/main" id="{629CB23C-ED11-A780-A541-10557641B33C}"/>
              </a:ext>
            </a:extLst>
          </p:cNvPr>
          <p:cNvSpPr txBox="1"/>
          <p:nvPr/>
        </p:nvSpPr>
        <p:spPr>
          <a:xfrm>
            <a:off x="7034197" y="4623519"/>
            <a:ext cx="917239" cy="215444"/>
          </a:xfrm>
          <a:prstGeom prst="rect">
            <a:avLst/>
          </a:prstGeom>
          <a:noFill/>
        </p:spPr>
        <p:txBody>
          <a:bodyPr wrap="none" rtlCol="0">
            <a:spAutoFit/>
          </a:bodyPr>
          <a:lstStyle/>
          <a:p>
            <a:r>
              <a:rPr lang="en-US" sz="800" dirty="0"/>
              <a:t>Data_Selector_1</a:t>
            </a:r>
            <a:endParaRPr lang="en-IL" sz="800" dirty="0"/>
          </a:p>
        </p:txBody>
      </p:sp>
      <p:sp>
        <p:nvSpPr>
          <p:cNvPr id="278" name="TextBox 277">
            <a:extLst>
              <a:ext uri="{FF2B5EF4-FFF2-40B4-BE49-F238E27FC236}">
                <a16:creationId xmlns:a16="http://schemas.microsoft.com/office/drawing/2014/main" id="{9B12182D-696B-2F10-1B05-657FB37BD4B3}"/>
              </a:ext>
            </a:extLst>
          </p:cNvPr>
          <p:cNvSpPr txBox="1"/>
          <p:nvPr/>
        </p:nvSpPr>
        <p:spPr>
          <a:xfrm>
            <a:off x="7032328" y="5526373"/>
            <a:ext cx="917239" cy="215444"/>
          </a:xfrm>
          <a:prstGeom prst="rect">
            <a:avLst/>
          </a:prstGeom>
          <a:noFill/>
        </p:spPr>
        <p:txBody>
          <a:bodyPr wrap="none" rtlCol="0">
            <a:spAutoFit/>
          </a:bodyPr>
          <a:lstStyle/>
          <a:p>
            <a:r>
              <a:rPr lang="en-US" sz="800" dirty="0"/>
              <a:t>Data_Selector_2</a:t>
            </a:r>
            <a:endParaRPr lang="en-IL" sz="800" dirty="0"/>
          </a:p>
        </p:txBody>
      </p:sp>
      <p:cxnSp>
        <p:nvCxnSpPr>
          <p:cNvPr id="279" name="Connector: Elbow 278">
            <a:extLst>
              <a:ext uri="{FF2B5EF4-FFF2-40B4-BE49-F238E27FC236}">
                <a16:creationId xmlns:a16="http://schemas.microsoft.com/office/drawing/2014/main" id="{A7532393-7D26-8B21-2AA6-3BE0F49101DF}"/>
              </a:ext>
            </a:extLst>
          </p:cNvPr>
          <p:cNvCxnSpPr>
            <a:cxnSpLocks/>
          </p:cNvCxnSpPr>
          <p:nvPr/>
        </p:nvCxnSpPr>
        <p:spPr>
          <a:xfrm rot="10800000">
            <a:off x="8850858" y="4979039"/>
            <a:ext cx="1258339" cy="137046"/>
          </a:xfrm>
          <a:prstGeom prst="bentConnector3">
            <a:avLst>
              <a:gd name="adj1" fmla="val 99959"/>
            </a:avLst>
          </a:prstGeom>
          <a:ln>
            <a:tailEnd type="triangle"/>
          </a:ln>
        </p:spPr>
        <p:style>
          <a:lnRef idx="2">
            <a:schemeClr val="accent1"/>
          </a:lnRef>
          <a:fillRef idx="0">
            <a:schemeClr val="accent1"/>
          </a:fillRef>
          <a:effectRef idx="1">
            <a:schemeClr val="accent1"/>
          </a:effectRef>
          <a:fontRef idx="minor">
            <a:schemeClr val="tx1"/>
          </a:fontRef>
        </p:style>
      </p:cxnSp>
      <p:sp>
        <p:nvSpPr>
          <p:cNvPr id="281" name="TextBox 280">
            <a:extLst>
              <a:ext uri="{FF2B5EF4-FFF2-40B4-BE49-F238E27FC236}">
                <a16:creationId xmlns:a16="http://schemas.microsoft.com/office/drawing/2014/main" id="{DE74DCE0-D766-2940-B529-F56447CF56A6}"/>
              </a:ext>
            </a:extLst>
          </p:cNvPr>
          <p:cNvSpPr txBox="1"/>
          <p:nvPr/>
        </p:nvSpPr>
        <p:spPr>
          <a:xfrm>
            <a:off x="10069749" y="5008977"/>
            <a:ext cx="790601" cy="215444"/>
          </a:xfrm>
          <a:prstGeom prst="rect">
            <a:avLst/>
          </a:prstGeom>
          <a:noFill/>
        </p:spPr>
        <p:txBody>
          <a:bodyPr wrap="none" rtlCol="0">
            <a:spAutoFit/>
          </a:bodyPr>
          <a:lstStyle/>
          <a:p>
            <a:r>
              <a:rPr lang="en-US" sz="800" dirty="0" err="1"/>
              <a:t>data_bus_out</a:t>
            </a:r>
            <a:endParaRPr lang="en-IL" sz="800" dirty="0"/>
          </a:p>
        </p:txBody>
      </p:sp>
      <p:sp>
        <p:nvSpPr>
          <p:cNvPr id="282" name="TextBox 281">
            <a:extLst>
              <a:ext uri="{FF2B5EF4-FFF2-40B4-BE49-F238E27FC236}">
                <a16:creationId xmlns:a16="http://schemas.microsoft.com/office/drawing/2014/main" id="{DF7B4812-AACF-D877-4A99-D4E5536831D1}"/>
              </a:ext>
            </a:extLst>
          </p:cNvPr>
          <p:cNvSpPr txBox="1"/>
          <p:nvPr/>
        </p:nvSpPr>
        <p:spPr>
          <a:xfrm>
            <a:off x="10071766" y="5177376"/>
            <a:ext cx="891591" cy="215444"/>
          </a:xfrm>
          <a:prstGeom prst="rect">
            <a:avLst/>
          </a:prstGeom>
          <a:noFill/>
        </p:spPr>
        <p:txBody>
          <a:bodyPr wrap="none" rtlCol="0">
            <a:spAutoFit/>
          </a:bodyPr>
          <a:lstStyle/>
          <a:p>
            <a:r>
              <a:rPr lang="en-US" sz="800" dirty="0"/>
              <a:t>data_bus_out_2</a:t>
            </a:r>
            <a:endParaRPr lang="en-IL" sz="800" dirty="0"/>
          </a:p>
        </p:txBody>
      </p:sp>
      <p:cxnSp>
        <p:nvCxnSpPr>
          <p:cNvPr id="283" name="Connector: Elbow 282">
            <a:extLst>
              <a:ext uri="{FF2B5EF4-FFF2-40B4-BE49-F238E27FC236}">
                <a16:creationId xmlns:a16="http://schemas.microsoft.com/office/drawing/2014/main" id="{5327A871-B68C-95D4-7FF0-9E101B20ACDB}"/>
              </a:ext>
            </a:extLst>
          </p:cNvPr>
          <p:cNvCxnSpPr>
            <a:cxnSpLocks/>
          </p:cNvCxnSpPr>
          <p:nvPr/>
        </p:nvCxnSpPr>
        <p:spPr>
          <a:xfrm rot="10800000">
            <a:off x="8459121" y="4978077"/>
            <a:ext cx="939568" cy="163796"/>
          </a:xfrm>
          <a:prstGeom prst="bentConnector3">
            <a:avLst>
              <a:gd name="adj1" fmla="val 10001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4" name="Straight Connector 283">
            <a:extLst>
              <a:ext uri="{FF2B5EF4-FFF2-40B4-BE49-F238E27FC236}">
                <a16:creationId xmlns:a16="http://schemas.microsoft.com/office/drawing/2014/main" id="{DC7E5C35-3C82-19B8-8D71-FCD45FEC5472}"/>
              </a:ext>
            </a:extLst>
          </p:cNvPr>
          <p:cNvCxnSpPr>
            <a:cxnSpLocks/>
          </p:cNvCxnSpPr>
          <p:nvPr/>
        </p:nvCxnSpPr>
        <p:spPr>
          <a:xfrm flipV="1">
            <a:off x="9392288" y="2834240"/>
            <a:ext cx="0" cy="2316195"/>
          </a:xfrm>
          <a:prstGeom prst="line">
            <a:avLst/>
          </a:prstGeom>
        </p:spPr>
        <p:style>
          <a:lnRef idx="2">
            <a:schemeClr val="accent1"/>
          </a:lnRef>
          <a:fillRef idx="0">
            <a:schemeClr val="accent1"/>
          </a:fillRef>
          <a:effectRef idx="1">
            <a:schemeClr val="accent1"/>
          </a:effectRef>
          <a:fontRef idx="minor">
            <a:schemeClr val="tx1"/>
          </a:fontRef>
        </p:style>
      </p:cxnSp>
      <p:cxnSp>
        <p:nvCxnSpPr>
          <p:cNvPr id="285" name="Straight Connector 284">
            <a:extLst>
              <a:ext uri="{FF2B5EF4-FFF2-40B4-BE49-F238E27FC236}">
                <a16:creationId xmlns:a16="http://schemas.microsoft.com/office/drawing/2014/main" id="{339EBD37-9A1A-1EC9-FC0C-1A90098DC537}"/>
              </a:ext>
            </a:extLst>
          </p:cNvPr>
          <p:cNvCxnSpPr>
            <a:cxnSpLocks/>
          </p:cNvCxnSpPr>
          <p:nvPr/>
        </p:nvCxnSpPr>
        <p:spPr>
          <a:xfrm>
            <a:off x="8768603" y="2834240"/>
            <a:ext cx="633533" cy="0"/>
          </a:xfrm>
          <a:prstGeom prst="line">
            <a:avLst/>
          </a:prstGeom>
        </p:spPr>
        <p:style>
          <a:lnRef idx="2">
            <a:schemeClr val="accent1"/>
          </a:lnRef>
          <a:fillRef idx="0">
            <a:schemeClr val="accent1"/>
          </a:fillRef>
          <a:effectRef idx="1">
            <a:schemeClr val="accent1"/>
          </a:effectRef>
          <a:fontRef idx="minor">
            <a:schemeClr val="tx1"/>
          </a:fontRef>
        </p:style>
      </p:cxnSp>
      <p:sp>
        <p:nvSpPr>
          <p:cNvPr id="286" name="TextBox 285">
            <a:extLst>
              <a:ext uri="{FF2B5EF4-FFF2-40B4-BE49-F238E27FC236}">
                <a16:creationId xmlns:a16="http://schemas.microsoft.com/office/drawing/2014/main" id="{D00A06B4-B6D1-1B0E-1699-5F27C1641D28}"/>
              </a:ext>
            </a:extLst>
          </p:cNvPr>
          <p:cNvSpPr txBox="1"/>
          <p:nvPr/>
        </p:nvSpPr>
        <p:spPr>
          <a:xfrm>
            <a:off x="8724773" y="2658443"/>
            <a:ext cx="625492" cy="215444"/>
          </a:xfrm>
          <a:prstGeom prst="rect">
            <a:avLst/>
          </a:prstGeom>
          <a:noFill/>
        </p:spPr>
        <p:txBody>
          <a:bodyPr wrap="none" rtlCol="0">
            <a:spAutoFit/>
          </a:bodyPr>
          <a:lstStyle/>
          <a:p>
            <a:r>
              <a:rPr lang="en-US" sz="800" dirty="0"/>
              <a:t>Alu_1_out</a:t>
            </a:r>
            <a:endParaRPr lang="en-IL" sz="800" dirty="0"/>
          </a:p>
        </p:txBody>
      </p:sp>
      <p:cxnSp>
        <p:nvCxnSpPr>
          <p:cNvPr id="287" name="Straight Connector 286">
            <a:extLst>
              <a:ext uri="{FF2B5EF4-FFF2-40B4-BE49-F238E27FC236}">
                <a16:creationId xmlns:a16="http://schemas.microsoft.com/office/drawing/2014/main" id="{209DA501-A002-368B-A5D5-00F349147C5E}"/>
              </a:ext>
            </a:extLst>
          </p:cNvPr>
          <p:cNvCxnSpPr>
            <a:cxnSpLocks/>
            <a:stCxn id="223" idx="3"/>
          </p:cNvCxnSpPr>
          <p:nvPr/>
        </p:nvCxnSpPr>
        <p:spPr>
          <a:xfrm flipV="1">
            <a:off x="8766221" y="3957384"/>
            <a:ext cx="596572" cy="1491"/>
          </a:xfrm>
          <a:prstGeom prst="line">
            <a:avLst/>
          </a:prstGeom>
        </p:spPr>
        <p:style>
          <a:lnRef idx="2">
            <a:schemeClr val="accent1"/>
          </a:lnRef>
          <a:fillRef idx="0">
            <a:schemeClr val="accent1"/>
          </a:fillRef>
          <a:effectRef idx="1">
            <a:schemeClr val="accent1"/>
          </a:effectRef>
          <a:fontRef idx="minor">
            <a:schemeClr val="tx1"/>
          </a:fontRef>
        </p:style>
      </p:cxnSp>
      <p:cxnSp>
        <p:nvCxnSpPr>
          <p:cNvPr id="288" name="Straight Connector 287">
            <a:extLst>
              <a:ext uri="{FF2B5EF4-FFF2-40B4-BE49-F238E27FC236}">
                <a16:creationId xmlns:a16="http://schemas.microsoft.com/office/drawing/2014/main" id="{0E66507C-A7E1-0168-EF3B-D5140F5FC45F}"/>
              </a:ext>
            </a:extLst>
          </p:cNvPr>
          <p:cNvCxnSpPr>
            <a:cxnSpLocks/>
          </p:cNvCxnSpPr>
          <p:nvPr/>
        </p:nvCxnSpPr>
        <p:spPr>
          <a:xfrm flipH="1" flipV="1">
            <a:off x="9356443" y="3951296"/>
            <a:ext cx="6350" cy="1299608"/>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Connector: Elbow 288">
            <a:extLst>
              <a:ext uri="{FF2B5EF4-FFF2-40B4-BE49-F238E27FC236}">
                <a16:creationId xmlns:a16="http://schemas.microsoft.com/office/drawing/2014/main" id="{3C4B92F7-09DE-198B-CA25-5D1C04490FF0}"/>
              </a:ext>
            </a:extLst>
          </p:cNvPr>
          <p:cNvCxnSpPr>
            <a:cxnSpLocks/>
            <a:endCxn id="241" idx="0"/>
          </p:cNvCxnSpPr>
          <p:nvPr/>
        </p:nvCxnSpPr>
        <p:spPr>
          <a:xfrm rot="10800000" flipV="1">
            <a:off x="8473793" y="5236196"/>
            <a:ext cx="897053" cy="15662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0" name="Connector: Elbow 289">
            <a:extLst>
              <a:ext uri="{FF2B5EF4-FFF2-40B4-BE49-F238E27FC236}">
                <a16:creationId xmlns:a16="http://schemas.microsoft.com/office/drawing/2014/main" id="{2018F2C7-F507-2D03-6214-888113BD84BB}"/>
              </a:ext>
            </a:extLst>
          </p:cNvPr>
          <p:cNvCxnSpPr>
            <a:cxnSpLocks/>
          </p:cNvCxnSpPr>
          <p:nvPr/>
        </p:nvCxnSpPr>
        <p:spPr>
          <a:xfrm flipV="1">
            <a:off x="6067251" y="4972131"/>
            <a:ext cx="2069618" cy="88160"/>
          </a:xfrm>
          <a:prstGeom prst="bentConnector3">
            <a:avLst>
              <a:gd name="adj1" fmla="val 10016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1" name="Connector: Elbow 290">
            <a:extLst>
              <a:ext uri="{FF2B5EF4-FFF2-40B4-BE49-F238E27FC236}">
                <a16:creationId xmlns:a16="http://schemas.microsoft.com/office/drawing/2014/main" id="{E0BAF729-98B3-BE78-F053-E529E053F010}"/>
              </a:ext>
            </a:extLst>
          </p:cNvPr>
          <p:cNvCxnSpPr>
            <a:cxnSpLocks/>
          </p:cNvCxnSpPr>
          <p:nvPr/>
        </p:nvCxnSpPr>
        <p:spPr>
          <a:xfrm>
            <a:off x="6755447" y="5305350"/>
            <a:ext cx="1389054" cy="85201"/>
          </a:xfrm>
          <a:prstGeom prst="bentConnector3">
            <a:avLst>
              <a:gd name="adj1" fmla="val 9982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2" name="Straight Connector 291">
            <a:extLst>
              <a:ext uri="{FF2B5EF4-FFF2-40B4-BE49-F238E27FC236}">
                <a16:creationId xmlns:a16="http://schemas.microsoft.com/office/drawing/2014/main" id="{2E7E3971-0953-7035-CC87-A6C85F3CB33F}"/>
              </a:ext>
            </a:extLst>
          </p:cNvPr>
          <p:cNvCxnSpPr>
            <a:cxnSpLocks/>
          </p:cNvCxnSpPr>
          <p:nvPr/>
        </p:nvCxnSpPr>
        <p:spPr>
          <a:xfrm flipH="1">
            <a:off x="6070047" y="5620909"/>
            <a:ext cx="68334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3" name="Straight Connector 292">
            <a:extLst>
              <a:ext uri="{FF2B5EF4-FFF2-40B4-BE49-F238E27FC236}">
                <a16:creationId xmlns:a16="http://schemas.microsoft.com/office/drawing/2014/main" id="{BF9A97CC-AA5E-7B45-AF27-2377372E711E}"/>
              </a:ext>
            </a:extLst>
          </p:cNvPr>
          <p:cNvCxnSpPr>
            <a:cxnSpLocks/>
          </p:cNvCxnSpPr>
          <p:nvPr/>
        </p:nvCxnSpPr>
        <p:spPr>
          <a:xfrm flipV="1">
            <a:off x="6750217" y="5296484"/>
            <a:ext cx="0" cy="330200"/>
          </a:xfrm>
          <a:prstGeom prst="line">
            <a:avLst/>
          </a:prstGeom>
        </p:spPr>
        <p:style>
          <a:lnRef idx="2">
            <a:schemeClr val="accent1"/>
          </a:lnRef>
          <a:fillRef idx="0">
            <a:schemeClr val="accent1"/>
          </a:fillRef>
          <a:effectRef idx="1">
            <a:schemeClr val="accent1"/>
          </a:effectRef>
          <a:fontRef idx="minor">
            <a:schemeClr val="tx1"/>
          </a:fontRef>
        </p:style>
      </p:cxnSp>
      <p:sp>
        <p:nvSpPr>
          <p:cNvPr id="294" name="TextBox 293">
            <a:extLst>
              <a:ext uri="{FF2B5EF4-FFF2-40B4-BE49-F238E27FC236}">
                <a16:creationId xmlns:a16="http://schemas.microsoft.com/office/drawing/2014/main" id="{9E9475F0-2FF1-8F53-4269-AE627800421D}"/>
              </a:ext>
            </a:extLst>
          </p:cNvPr>
          <p:cNvSpPr txBox="1"/>
          <p:nvPr/>
        </p:nvSpPr>
        <p:spPr>
          <a:xfrm>
            <a:off x="7458242" y="5083509"/>
            <a:ext cx="675185" cy="215444"/>
          </a:xfrm>
          <a:prstGeom prst="rect">
            <a:avLst/>
          </a:prstGeom>
          <a:noFill/>
        </p:spPr>
        <p:txBody>
          <a:bodyPr wrap="none" rtlCol="0">
            <a:spAutoFit/>
          </a:bodyPr>
          <a:lstStyle/>
          <a:p>
            <a:r>
              <a:rPr lang="en-US" sz="800" dirty="0" err="1"/>
              <a:t>Input_data</a:t>
            </a:r>
            <a:endParaRPr lang="en-IL" sz="800" dirty="0"/>
          </a:p>
        </p:txBody>
      </p:sp>
      <p:cxnSp>
        <p:nvCxnSpPr>
          <p:cNvPr id="295" name="Straight Connector 294">
            <a:extLst>
              <a:ext uri="{FF2B5EF4-FFF2-40B4-BE49-F238E27FC236}">
                <a16:creationId xmlns:a16="http://schemas.microsoft.com/office/drawing/2014/main" id="{90C2EA03-BE7A-AB45-2AB2-4DEDD0ED2D25}"/>
              </a:ext>
            </a:extLst>
          </p:cNvPr>
          <p:cNvCxnSpPr>
            <a:cxnSpLocks/>
          </p:cNvCxnSpPr>
          <p:nvPr/>
        </p:nvCxnSpPr>
        <p:spPr>
          <a:xfrm>
            <a:off x="4627924"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6" name="Straight Connector 295">
            <a:extLst>
              <a:ext uri="{FF2B5EF4-FFF2-40B4-BE49-F238E27FC236}">
                <a16:creationId xmlns:a16="http://schemas.microsoft.com/office/drawing/2014/main" id="{F0BA4473-4717-71AF-1A9B-ECE50C154207}"/>
              </a:ext>
            </a:extLst>
          </p:cNvPr>
          <p:cNvCxnSpPr>
            <a:cxnSpLocks/>
          </p:cNvCxnSpPr>
          <p:nvPr/>
        </p:nvCxnSpPr>
        <p:spPr>
          <a:xfrm>
            <a:off x="4673168"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7" name="Straight Connector 296">
            <a:extLst>
              <a:ext uri="{FF2B5EF4-FFF2-40B4-BE49-F238E27FC236}">
                <a16:creationId xmlns:a16="http://schemas.microsoft.com/office/drawing/2014/main" id="{F10D1161-E356-8B88-DF7C-8F2FC14F024D}"/>
              </a:ext>
            </a:extLst>
          </p:cNvPr>
          <p:cNvCxnSpPr>
            <a:cxnSpLocks/>
          </p:cNvCxnSpPr>
          <p:nvPr/>
        </p:nvCxnSpPr>
        <p:spPr>
          <a:xfrm>
            <a:off x="4720793"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8" name="Straight Connector 297">
            <a:extLst>
              <a:ext uri="{FF2B5EF4-FFF2-40B4-BE49-F238E27FC236}">
                <a16:creationId xmlns:a16="http://schemas.microsoft.com/office/drawing/2014/main" id="{80920A70-BEAE-1B6E-AF39-848914449C70}"/>
              </a:ext>
            </a:extLst>
          </p:cNvPr>
          <p:cNvCxnSpPr>
            <a:cxnSpLocks/>
          </p:cNvCxnSpPr>
          <p:nvPr/>
        </p:nvCxnSpPr>
        <p:spPr>
          <a:xfrm>
            <a:off x="4766036"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9" name="Straight Connector 298">
            <a:extLst>
              <a:ext uri="{FF2B5EF4-FFF2-40B4-BE49-F238E27FC236}">
                <a16:creationId xmlns:a16="http://schemas.microsoft.com/office/drawing/2014/main" id="{66C0FBEA-A618-D464-63F3-8564C403FF9D}"/>
              </a:ext>
            </a:extLst>
          </p:cNvPr>
          <p:cNvCxnSpPr>
            <a:cxnSpLocks/>
          </p:cNvCxnSpPr>
          <p:nvPr/>
        </p:nvCxnSpPr>
        <p:spPr>
          <a:xfrm>
            <a:off x="4813662"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0" name="Straight Connector 299">
            <a:extLst>
              <a:ext uri="{FF2B5EF4-FFF2-40B4-BE49-F238E27FC236}">
                <a16:creationId xmlns:a16="http://schemas.microsoft.com/office/drawing/2014/main" id="{8D3625C5-9579-0517-25CB-250A69690CD2}"/>
              </a:ext>
            </a:extLst>
          </p:cNvPr>
          <p:cNvCxnSpPr>
            <a:cxnSpLocks/>
          </p:cNvCxnSpPr>
          <p:nvPr/>
        </p:nvCxnSpPr>
        <p:spPr>
          <a:xfrm>
            <a:off x="4858906"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1" name="Straight Connector 300">
            <a:extLst>
              <a:ext uri="{FF2B5EF4-FFF2-40B4-BE49-F238E27FC236}">
                <a16:creationId xmlns:a16="http://schemas.microsoft.com/office/drawing/2014/main" id="{146A15DC-8E35-BE87-2BEB-94B025D3090C}"/>
              </a:ext>
            </a:extLst>
          </p:cNvPr>
          <p:cNvCxnSpPr>
            <a:cxnSpLocks/>
          </p:cNvCxnSpPr>
          <p:nvPr/>
        </p:nvCxnSpPr>
        <p:spPr>
          <a:xfrm>
            <a:off x="4906531"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2" name="Straight Connector 301">
            <a:extLst>
              <a:ext uri="{FF2B5EF4-FFF2-40B4-BE49-F238E27FC236}">
                <a16:creationId xmlns:a16="http://schemas.microsoft.com/office/drawing/2014/main" id="{41207B4D-000F-5668-9A9E-C7609150AF00}"/>
              </a:ext>
            </a:extLst>
          </p:cNvPr>
          <p:cNvCxnSpPr>
            <a:cxnSpLocks/>
          </p:cNvCxnSpPr>
          <p:nvPr/>
        </p:nvCxnSpPr>
        <p:spPr>
          <a:xfrm>
            <a:off x="4951774"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3" name="Straight Connector 302">
            <a:extLst>
              <a:ext uri="{FF2B5EF4-FFF2-40B4-BE49-F238E27FC236}">
                <a16:creationId xmlns:a16="http://schemas.microsoft.com/office/drawing/2014/main" id="{582B0DE0-47DE-B263-90D8-2FA404FCF014}"/>
              </a:ext>
            </a:extLst>
          </p:cNvPr>
          <p:cNvCxnSpPr>
            <a:cxnSpLocks/>
          </p:cNvCxnSpPr>
          <p:nvPr/>
        </p:nvCxnSpPr>
        <p:spPr>
          <a:xfrm>
            <a:off x="4631099" y="610099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4" name="Straight Connector 303">
            <a:extLst>
              <a:ext uri="{FF2B5EF4-FFF2-40B4-BE49-F238E27FC236}">
                <a16:creationId xmlns:a16="http://schemas.microsoft.com/office/drawing/2014/main" id="{3D6CD11A-C8F0-87BA-AE22-ADB0C13BE061}"/>
              </a:ext>
            </a:extLst>
          </p:cNvPr>
          <p:cNvCxnSpPr>
            <a:cxnSpLocks/>
          </p:cNvCxnSpPr>
          <p:nvPr/>
        </p:nvCxnSpPr>
        <p:spPr>
          <a:xfrm>
            <a:off x="4676343" y="610099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5" name="Straight Connector 304">
            <a:extLst>
              <a:ext uri="{FF2B5EF4-FFF2-40B4-BE49-F238E27FC236}">
                <a16:creationId xmlns:a16="http://schemas.microsoft.com/office/drawing/2014/main" id="{97F8C832-9653-247F-7ABD-5523D648BA64}"/>
              </a:ext>
            </a:extLst>
          </p:cNvPr>
          <p:cNvCxnSpPr>
            <a:cxnSpLocks/>
          </p:cNvCxnSpPr>
          <p:nvPr/>
        </p:nvCxnSpPr>
        <p:spPr>
          <a:xfrm>
            <a:off x="4723968" y="610099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6" name="Straight Connector 305">
            <a:extLst>
              <a:ext uri="{FF2B5EF4-FFF2-40B4-BE49-F238E27FC236}">
                <a16:creationId xmlns:a16="http://schemas.microsoft.com/office/drawing/2014/main" id="{7FCF00C6-6E9C-301D-4D51-72A714BBC7E3}"/>
              </a:ext>
            </a:extLst>
          </p:cNvPr>
          <p:cNvCxnSpPr>
            <a:cxnSpLocks/>
          </p:cNvCxnSpPr>
          <p:nvPr/>
        </p:nvCxnSpPr>
        <p:spPr>
          <a:xfrm>
            <a:off x="4769211" y="610099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7" name="Straight Connector 306">
            <a:extLst>
              <a:ext uri="{FF2B5EF4-FFF2-40B4-BE49-F238E27FC236}">
                <a16:creationId xmlns:a16="http://schemas.microsoft.com/office/drawing/2014/main" id="{EA6B5A19-5FF0-B1F3-BDAF-959391BACC38}"/>
              </a:ext>
            </a:extLst>
          </p:cNvPr>
          <p:cNvCxnSpPr>
            <a:cxnSpLocks/>
          </p:cNvCxnSpPr>
          <p:nvPr/>
        </p:nvCxnSpPr>
        <p:spPr>
          <a:xfrm>
            <a:off x="4816837" y="610099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8" name="Straight Connector 307">
            <a:extLst>
              <a:ext uri="{FF2B5EF4-FFF2-40B4-BE49-F238E27FC236}">
                <a16:creationId xmlns:a16="http://schemas.microsoft.com/office/drawing/2014/main" id="{C54ACD99-DEDB-98AE-EFC6-05618649B684}"/>
              </a:ext>
            </a:extLst>
          </p:cNvPr>
          <p:cNvCxnSpPr>
            <a:cxnSpLocks/>
          </p:cNvCxnSpPr>
          <p:nvPr/>
        </p:nvCxnSpPr>
        <p:spPr>
          <a:xfrm>
            <a:off x="4862081" y="610099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9" name="Straight Connector 308">
            <a:extLst>
              <a:ext uri="{FF2B5EF4-FFF2-40B4-BE49-F238E27FC236}">
                <a16:creationId xmlns:a16="http://schemas.microsoft.com/office/drawing/2014/main" id="{9C32741B-64FA-ECB2-8A80-A7747B8DA617}"/>
              </a:ext>
            </a:extLst>
          </p:cNvPr>
          <p:cNvCxnSpPr>
            <a:cxnSpLocks/>
          </p:cNvCxnSpPr>
          <p:nvPr/>
        </p:nvCxnSpPr>
        <p:spPr>
          <a:xfrm>
            <a:off x="4909706" y="610099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0" name="Straight Connector 309">
            <a:extLst>
              <a:ext uri="{FF2B5EF4-FFF2-40B4-BE49-F238E27FC236}">
                <a16:creationId xmlns:a16="http://schemas.microsoft.com/office/drawing/2014/main" id="{7632E967-1ECE-5AEC-E3B5-CE01B4A3D711}"/>
              </a:ext>
            </a:extLst>
          </p:cNvPr>
          <p:cNvCxnSpPr>
            <a:cxnSpLocks/>
          </p:cNvCxnSpPr>
          <p:nvPr/>
        </p:nvCxnSpPr>
        <p:spPr>
          <a:xfrm>
            <a:off x="4954949" y="6100997"/>
            <a:ext cx="0" cy="116850"/>
          </a:xfrm>
          <a:prstGeom prst="line">
            <a:avLst/>
          </a:prstGeom>
        </p:spPr>
        <p:style>
          <a:lnRef idx="2">
            <a:schemeClr val="accent1"/>
          </a:lnRef>
          <a:fillRef idx="0">
            <a:schemeClr val="accent1"/>
          </a:fillRef>
          <a:effectRef idx="1">
            <a:schemeClr val="accent1"/>
          </a:effectRef>
          <a:fontRef idx="minor">
            <a:schemeClr val="tx1"/>
          </a:fontRef>
        </p:style>
      </p:cxnSp>
      <p:sp>
        <p:nvSpPr>
          <p:cNvPr id="311" name="TextBox 310">
            <a:extLst>
              <a:ext uri="{FF2B5EF4-FFF2-40B4-BE49-F238E27FC236}">
                <a16:creationId xmlns:a16="http://schemas.microsoft.com/office/drawing/2014/main" id="{DCC01F8E-36FF-886E-E89A-9DD8982CD5F9}"/>
              </a:ext>
            </a:extLst>
          </p:cNvPr>
          <p:cNvSpPr txBox="1"/>
          <p:nvPr/>
        </p:nvSpPr>
        <p:spPr>
          <a:xfrm>
            <a:off x="4523642" y="6169008"/>
            <a:ext cx="946093" cy="215444"/>
          </a:xfrm>
          <a:prstGeom prst="rect">
            <a:avLst/>
          </a:prstGeom>
          <a:noFill/>
        </p:spPr>
        <p:txBody>
          <a:bodyPr wrap="none" rtlCol="0">
            <a:spAutoFit/>
          </a:bodyPr>
          <a:lstStyle/>
          <a:p>
            <a:r>
              <a:rPr lang="en-US" sz="800" dirty="0"/>
              <a:t>Registers we + re</a:t>
            </a:r>
            <a:endParaRPr lang="en-IL" sz="800" dirty="0"/>
          </a:p>
        </p:txBody>
      </p:sp>
      <p:sp>
        <p:nvSpPr>
          <p:cNvPr id="312" name="TextBox 311">
            <a:extLst>
              <a:ext uri="{FF2B5EF4-FFF2-40B4-BE49-F238E27FC236}">
                <a16:creationId xmlns:a16="http://schemas.microsoft.com/office/drawing/2014/main" id="{2EA1057D-B250-B21F-0872-DBDCD1FCF1BF}"/>
              </a:ext>
            </a:extLst>
          </p:cNvPr>
          <p:cNvSpPr txBox="1"/>
          <p:nvPr/>
        </p:nvSpPr>
        <p:spPr>
          <a:xfrm>
            <a:off x="4517585" y="4278891"/>
            <a:ext cx="946093" cy="215444"/>
          </a:xfrm>
          <a:prstGeom prst="rect">
            <a:avLst/>
          </a:prstGeom>
          <a:noFill/>
        </p:spPr>
        <p:txBody>
          <a:bodyPr wrap="none" rtlCol="0">
            <a:spAutoFit/>
          </a:bodyPr>
          <a:lstStyle/>
          <a:p>
            <a:r>
              <a:rPr lang="en-US" sz="800" dirty="0"/>
              <a:t>Registers we + re</a:t>
            </a:r>
            <a:endParaRPr lang="en-IL" sz="800" dirty="0"/>
          </a:p>
        </p:txBody>
      </p:sp>
      <p:cxnSp>
        <p:nvCxnSpPr>
          <p:cNvPr id="313" name="Straight Connector 312">
            <a:extLst>
              <a:ext uri="{FF2B5EF4-FFF2-40B4-BE49-F238E27FC236}">
                <a16:creationId xmlns:a16="http://schemas.microsoft.com/office/drawing/2014/main" id="{01BC961D-F738-427A-204F-242C148695F9}"/>
              </a:ext>
            </a:extLst>
          </p:cNvPr>
          <p:cNvCxnSpPr>
            <a:cxnSpLocks/>
          </p:cNvCxnSpPr>
          <p:nvPr/>
        </p:nvCxnSpPr>
        <p:spPr>
          <a:xfrm>
            <a:off x="5978340" y="4440823"/>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4" name="Straight Connector 313">
            <a:extLst>
              <a:ext uri="{FF2B5EF4-FFF2-40B4-BE49-F238E27FC236}">
                <a16:creationId xmlns:a16="http://schemas.microsoft.com/office/drawing/2014/main" id="{4ED9342B-DF59-E504-89CF-A0B8786FA104}"/>
              </a:ext>
            </a:extLst>
          </p:cNvPr>
          <p:cNvCxnSpPr>
            <a:cxnSpLocks/>
          </p:cNvCxnSpPr>
          <p:nvPr/>
        </p:nvCxnSpPr>
        <p:spPr>
          <a:xfrm>
            <a:off x="6023583" y="4440823"/>
            <a:ext cx="0" cy="116850"/>
          </a:xfrm>
          <a:prstGeom prst="line">
            <a:avLst/>
          </a:prstGeom>
        </p:spPr>
        <p:style>
          <a:lnRef idx="2">
            <a:schemeClr val="accent1"/>
          </a:lnRef>
          <a:fillRef idx="0">
            <a:schemeClr val="accent1"/>
          </a:fillRef>
          <a:effectRef idx="1">
            <a:schemeClr val="accent1"/>
          </a:effectRef>
          <a:fontRef idx="minor">
            <a:schemeClr val="tx1"/>
          </a:fontRef>
        </p:style>
      </p:cxnSp>
      <p:sp>
        <p:nvSpPr>
          <p:cNvPr id="315" name="TextBox 314">
            <a:extLst>
              <a:ext uri="{FF2B5EF4-FFF2-40B4-BE49-F238E27FC236}">
                <a16:creationId xmlns:a16="http://schemas.microsoft.com/office/drawing/2014/main" id="{9348AA45-03C1-D8FE-755D-85D2887FA467}"/>
              </a:ext>
            </a:extLst>
          </p:cNvPr>
          <p:cNvSpPr txBox="1"/>
          <p:nvPr/>
        </p:nvSpPr>
        <p:spPr>
          <a:xfrm>
            <a:off x="5504240" y="4270539"/>
            <a:ext cx="761747" cy="215444"/>
          </a:xfrm>
          <a:prstGeom prst="rect">
            <a:avLst/>
          </a:prstGeom>
          <a:noFill/>
        </p:spPr>
        <p:txBody>
          <a:bodyPr wrap="none" rtlCol="0">
            <a:spAutoFit/>
          </a:bodyPr>
          <a:lstStyle/>
          <a:p>
            <a:r>
              <a:rPr lang="en-US" sz="800" dirty="0"/>
              <a:t>Mem we + re</a:t>
            </a:r>
            <a:endParaRPr lang="en-IL" sz="800" dirty="0"/>
          </a:p>
        </p:txBody>
      </p:sp>
      <p:cxnSp>
        <p:nvCxnSpPr>
          <p:cNvPr id="316" name="Straight Connector 315">
            <a:extLst>
              <a:ext uri="{FF2B5EF4-FFF2-40B4-BE49-F238E27FC236}">
                <a16:creationId xmlns:a16="http://schemas.microsoft.com/office/drawing/2014/main" id="{C0961EDF-7BF1-65CB-A65C-B6E291F0F964}"/>
              </a:ext>
            </a:extLst>
          </p:cNvPr>
          <p:cNvCxnSpPr>
            <a:cxnSpLocks/>
          </p:cNvCxnSpPr>
          <p:nvPr/>
        </p:nvCxnSpPr>
        <p:spPr>
          <a:xfrm>
            <a:off x="5978340" y="610099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7" name="Straight Connector 316">
            <a:extLst>
              <a:ext uri="{FF2B5EF4-FFF2-40B4-BE49-F238E27FC236}">
                <a16:creationId xmlns:a16="http://schemas.microsoft.com/office/drawing/2014/main" id="{B273C2EC-D62A-C84B-F8C2-054B97963FA8}"/>
              </a:ext>
            </a:extLst>
          </p:cNvPr>
          <p:cNvCxnSpPr>
            <a:cxnSpLocks/>
          </p:cNvCxnSpPr>
          <p:nvPr/>
        </p:nvCxnSpPr>
        <p:spPr>
          <a:xfrm>
            <a:off x="6023583" y="6100997"/>
            <a:ext cx="0" cy="116850"/>
          </a:xfrm>
          <a:prstGeom prst="line">
            <a:avLst/>
          </a:prstGeom>
        </p:spPr>
        <p:style>
          <a:lnRef idx="2">
            <a:schemeClr val="accent1"/>
          </a:lnRef>
          <a:fillRef idx="0">
            <a:schemeClr val="accent1"/>
          </a:fillRef>
          <a:effectRef idx="1">
            <a:schemeClr val="accent1"/>
          </a:effectRef>
          <a:fontRef idx="minor">
            <a:schemeClr val="tx1"/>
          </a:fontRef>
        </p:style>
      </p:cxnSp>
      <p:sp>
        <p:nvSpPr>
          <p:cNvPr id="318" name="TextBox 317">
            <a:extLst>
              <a:ext uri="{FF2B5EF4-FFF2-40B4-BE49-F238E27FC236}">
                <a16:creationId xmlns:a16="http://schemas.microsoft.com/office/drawing/2014/main" id="{F052FD9E-5B57-5560-024E-E46DB9F07874}"/>
              </a:ext>
            </a:extLst>
          </p:cNvPr>
          <p:cNvSpPr txBox="1"/>
          <p:nvPr/>
        </p:nvSpPr>
        <p:spPr>
          <a:xfrm>
            <a:off x="5509010" y="6155967"/>
            <a:ext cx="761747" cy="215444"/>
          </a:xfrm>
          <a:prstGeom prst="rect">
            <a:avLst/>
          </a:prstGeom>
          <a:noFill/>
        </p:spPr>
        <p:txBody>
          <a:bodyPr wrap="none" rtlCol="0">
            <a:spAutoFit/>
          </a:bodyPr>
          <a:lstStyle/>
          <a:p>
            <a:r>
              <a:rPr lang="en-US" sz="800" dirty="0"/>
              <a:t>Mem we + re</a:t>
            </a:r>
            <a:endParaRPr lang="en-IL" sz="800" dirty="0"/>
          </a:p>
        </p:txBody>
      </p:sp>
    </p:spTree>
    <p:extLst>
      <p:ext uri="{BB962C8B-B14F-4D97-AF65-F5344CB8AC3E}">
        <p14:creationId xmlns:p14="http://schemas.microsoft.com/office/powerpoint/2010/main" val="3751842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226E17D-FF00-B032-821C-9E0DAEB81503}"/>
              </a:ext>
            </a:extLst>
          </p:cNvPr>
          <p:cNvSpPr>
            <a:spLocks noGrp="1"/>
          </p:cNvSpPr>
          <p:nvPr>
            <p:ph type="sldNum" sz="quarter" idx="13"/>
          </p:nvPr>
        </p:nvSpPr>
        <p:spPr/>
        <p:txBody>
          <a:bodyPr/>
          <a:lstStyle/>
          <a:p>
            <a:pPr rtl="0"/>
            <a:fld id="{A49DFD55-3C28-40EF-9E31-A92D2E4017FF}" type="slidenum">
              <a:rPr lang="ru-RU" smtClean="0"/>
              <a:pPr rtl="0"/>
              <a:t>6</a:t>
            </a:fld>
            <a:endParaRPr lang="ru-RU" dirty="0"/>
          </a:p>
        </p:txBody>
      </p:sp>
      <p:sp>
        <p:nvSpPr>
          <p:cNvPr id="8" name="Заголовок 1">
            <a:extLst>
              <a:ext uri="{FF2B5EF4-FFF2-40B4-BE49-F238E27FC236}">
                <a16:creationId xmlns:a16="http://schemas.microsoft.com/office/drawing/2014/main" id="{CFB95246-986A-8E95-D693-829488F861AD}"/>
              </a:ext>
            </a:extLst>
          </p:cNvPr>
          <p:cNvSpPr>
            <a:spLocks noGrp="1"/>
          </p:cNvSpPr>
          <p:nvPr>
            <p:ph type="title"/>
          </p:nvPr>
        </p:nvSpPr>
        <p:spPr>
          <a:xfrm>
            <a:off x="350252" y="295527"/>
            <a:ext cx="5876109" cy="543518"/>
          </a:xfrm>
        </p:spPr>
        <p:txBody>
          <a:bodyPr rtlCol="0"/>
          <a:lstStyle>
            <a:defPPr>
              <a:defRPr lang="ru-RU"/>
            </a:defPPr>
          </a:lstStyle>
          <a:p>
            <a:pPr rtl="0"/>
            <a:r>
              <a:rPr lang="en-US" cap="none" dirty="0">
                <a:latin typeface="+mj-lt"/>
              </a:rPr>
              <a:t>Instructions breakdown</a:t>
            </a:r>
            <a:endParaRPr lang="ru-RU" dirty="0">
              <a:latin typeface="+mj-lt"/>
            </a:endParaRPr>
          </a:p>
        </p:txBody>
      </p:sp>
      <p:sp>
        <p:nvSpPr>
          <p:cNvPr id="9" name="TextBox 8">
            <a:extLst>
              <a:ext uri="{FF2B5EF4-FFF2-40B4-BE49-F238E27FC236}">
                <a16:creationId xmlns:a16="http://schemas.microsoft.com/office/drawing/2014/main" id="{496BB793-E1DF-FA16-9A2C-98D00C3F9108}"/>
              </a:ext>
            </a:extLst>
          </p:cNvPr>
          <p:cNvSpPr txBox="1"/>
          <p:nvPr/>
        </p:nvSpPr>
        <p:spPr>
          <a:xfrm>
            <a:off x="350252" y="1015543"/>
            <a:ext cx="9584323" cy="646331"/>
          </a:xfrm>
          <a:prstGeom prst="rect">
            <a:avLst/>
          </a:prstGeom>
          <a:noFill/>
        </p:spPr>
        <p:txBody>
          <a:bodyPr wrap="square" rtlCol="0">
            <a:spAutoFit/>
          </a:bodyPr>
          <a:lstStyle/>
          <a:p>
            <a:r>
              <a:rPr lang="en-US" dirty="0"/>
              <a:t>Our processor uses 16bit instructions that he break down and understands the following way:</a:t>
            </a:r>
          </a:p>
          <a:p>
            <a:r>
              <a:rPr lang="en-US" dirty="0"/>
              <a:t>            For ALU operations                            For memory operations</a:t>
            </a:r>
            <a:endParaRPr lang="ru-RU" dirty="0"/>
          </a:p>
        </p:txBody>
      </p:sp>
      <p:grpSp>
        <p:nvGrpSpPr>
          <p:cNvPr id="2" name="Group 1">
            <a:extLst>
              <a:ext uri="{FF2B5EF4-FFF2-40B4-BE49-F238E27FC236}">
                <a16:creationId xmlns:a16="http://schemas.microsoft.com/office/drawing/2014/main" id="{3DFA6998-B82A-6863-B54E-AFF663ED9AE6}"/>
              </a:ext>
            </a:extLst>
          </p:cNvPr>
          <p:cNvGrpSpPr/>
          <p:nvPr/>
        </p:nvGrpSpPr>
        <p:grpSpPr>
          <a:xfrm>
            <a:off x="589485" y="1647369"/>
            <a:ext cx="2944912" cy="916588"/>
            <a:chOff x="7533564" y="2153274"/>
            <a:chExt cx="2944912" cy="916588"/>
          </a:xfrm>
        </p:grpSpPr>
        <p:sp>
          <p:nvSpPr>
            <p:cNvPr id="12" name="TextBox 11">
              <a:extLst>
                <a:ext uri="{FF2B5EF4-FFF2-40B4-BE49-F238E27FC236}">
                  <a16:creationId xmlns:a16="http://schemas.microsoft.com/office/drawing/2014/main" id="{6ACFF9B8-EBEA-FCA3-AEFA-E086FB2F6199}"/>
                </a:ext>
              </a:extLst>
            </p:cNvPr>
            <p:cNvSpPr txBox="1"/>
            <p:nvPr/>
          </p:nvSpPr>
          <p:spPr>
            <a:xfrm>
              <a:off x="7533564" y="2161634"/>
              <a:ext cx="736228" cy="369332"/>
            </a:xfrm>
            <a:prstGeom prst="rect">
              <a:avLst/>
            </a:prstGeom>
            <a:noFill/>
          </p:spPr>
          <p:txBody>
            <a:bodyPr wrap="square" rtlCol="0">
              <a:spAutoFit/>
            </a:bodyPr>
            <a:lstStyle/>
            <a:p>
              <a:pPr algn="r"/>
              <a:r>
                <a:rPr lang="en-US" dirty="0"/>
                <a:t>XXXX</a:t>
              </a:r>
              <a:endParaRPr lang="ru-RU" dirty="0"/>
            </a:p>
          </p:txBody>
        </p:sp>
        <p:sp>
          <p:nvSpPr>
            <p:cNvPr id="13" name="TextBox 12">
              <a:extLst>
                <a:ext uri="{FF2B5EF4-FFF2-40B4-BE49-F238E27FC236}">
                  <a16:creationId xmlns:a16="http://schemas.microsoft.com/office/drawing/2014/main" id="{0110DCE0-5178-9E96-3EEB-23E4409F4D04}"/>
                </a:ext>
              </a:extLst>
            </p:cNvPr>
            <p:cNvSpPr txBox="1"/>
            <p:nvPr/>
          </p:nvSpPr>
          <p:spPr>
            <a:xfrm>
              <a:off x="7648730" y="2670390"/>
              <a:ext cx="490233" cy="369332"/>
            </a:xfrm>
            <a:prstGeom prst="rect">
              <a:avLst/>
            </a:prstGeom>
            <a:noFill/>
          </p:spPr>
          <p:txBody>
            <a:bodyPr wrap="square" rtlCol="0">
              <a:spAutoFit/>
            </a:bodyPr>
            <a:lstStyle/>
            <a:p>
              <a:pPr algn="r"/>
              <a:r>
                <a:rPr lang="en-US" dirty="0"/>
                <a:t>OP</a:t>
              </a:r>
              <a:endParaRPr lang="ru-RU" dirty="0"/>
            </a:p>
          </p:txBody>
        </p:sp>
        <p:sp>
          <p:nvSpPr>
            <p:cNvPr id="14" name="TextBox 13">
              <a:extLst>
                <a:ext uri="{FF2B5EF4-FFF2-40B4-BE49-F238E27FC236}">
                  <a16:creationId xmlns:a16="http://schemas.microsoft.com/office/drawing/2014/main" id="{15DFB0D7-9AC3-968A-30FB-F8BC90095425}"/>
                </a:ext>
              </a:extLst>
            </p:cNvPr>
            <p:cNvSpPr txBox="1"/>
            <p:nvPr/>
          </p:nvSpPr>
          <p:spPr>
            <a:xfrm>
              <a:off x="8269792" y="2161634"/>
              <a:ext cx="736228" cy="369332"/>
            </a:xfrm>
            <a:prstGeom prst="rect">
              <a:avLst/>
            </a:prstGeom>
            <a:noFill/>
          </p:spPr>
          <p:txBody>
            <a:bodyPr wrap="square" rtlCol="0">
              <a:spAutoFit/>
            </a:bodyPr>
            <a:lstStyle/>
            <a:p>
              <a:pPr algn="r"/>
              <a:r>
                <a:rPr lang="en-US" dirty="0"/>
                <a:t>XXXX</a:t>
              </a:r>
              <a:endParaRPr lang="ru-RU" dirty="0"/>
            </a:p>
          </p:txBody>
        </p:sp>
        <p:sp>
          <p:nvSpPr>
            <p:cNvPr id="15" name="TextBox 14">
              <a:extLst>
                <a:ext uri="{FF2B5EF4-FFF2-40B4-BE49-F238E27FC236}">
                  <a16:creationId xmlns:a16="http://schemas.microsoft.com/office/drawing/2014/main" id="{93D42970-7DB8-0D99-5888-79ACABC9679A}"/>
                </a:ext>
              </a:extLst>
            </p:cNvPr>
            <p:cNvSpPr txBox="1"/>
            <p:nvPr/>
          </p:nvSpPr>
          <p:spPr>
            <a:xfrm>
              <a:off x="9006020" y="2161634"/>
              <a:ext cx="736228" cy="369332"/>
            </a:xfrm>
            <a:prstGeom prst="rect">
              <a:avLst/>
            </a:prstGeom>
            <a:noFill/>
          </p:spPr>
          <p:txBody>
            <a:bodyPr wrap="square" rtlCol="0">
              <a:spAutoFit/>
            </a:bodyPr>
            <a:lstStyle/>
            <a:p>
              <a:pPr algn="r"/>
              <a:r>
                <a:rPr lang="en-US" dirty="0"/>
                <a:t>XXXX</a:t>
              </a:r>
              <a:endParaRPr lang="ru-RU" dirty="0"/>
            </a:p>
          </p:txBody>
        </p:sp>
        <p:sp>
          <p:nvSpPr>
            <p:cNvPr id="16" name="TextBox 15">
              <a:extLst>
                <a:ext uri="{FF2B5EF4-FFF2-40B4-BE49-F238E27FC236}">
                  <a16:creationId xmlns:a16="http://schemas.microsoft.com/office/drawing/2014/main" id="{4F18F040-700F-0A5E-0DFB-0661B72E0441}"/>
                </a:ext>
              </a:extLst>
            </p:cNvPr>
            <p:cNvSpPr txBox="1"/>
            <p:nvPr/>
          </p:nvSpPr>
          <p:spPr>
            <a:xfrm>
              <a:off x="9742248" y="2153274"/>
              <a:ext cx="736228" cy="369332"/>
            </a:xfrm>
            <a:prstGeom prst="rect">
              <a:avLst/>
            </a:prstGeom>
            <a:noFill/>
          </p:spPr>
          <p:txBody>
            <a:bodyPr wrap="square" rtlCol="0">
              <a:spAutoFit/>
            </a:bodyPr>
            <a:lstStyle/>
            <a:p>
              <a:pPr algn="r"/>
              <a:r>
                <a:rPr lang="en-US" dirty="0"/>
                <a:t>XXXX</a:t>
              </a:r>
              <a:endParaRPr lang="ru-RU" dirty="0"/>
            </a:p>
          </p:txBody>
        </p:sp>
        <p:sp>
          <p:nvSpPr>
            <p:cNvPr id="17" name="TextBox 16">
              <a:extLst>
                <a:ext uri="{FF2B5EF4-FFF2-40B4-BE49-F238E27FC236}">
                  <a16:creationId xmlns:a16="http://schemas.microsoft.com/office/drawing/2014/main" id="{5799DFD5-68A7-E4D6-F3DE-441279B1ED9F}"/>
                </a:ext>
              </a:extLst>
            </p:cNvPr>
            <p:cNvSpPr txBox="1"/>
            <p:nvPr/>
          </p:nvSpPr>
          <p:spPr>
            <a:xfrm>
              <a:off x="8269793" y="2700530"/>
              <a:ext cx="652442" cy="369332"/>
            </a:xfrm>
            <a:prstGeom prst="rect">
              <a:avLst/>
            </a:prstGeom>
            <a:noFill/>
          </p:spPr>
          <p:txBody>
            <a:bodyPr wrap="square" rtlCol="0">
              <a:spAutoFit/>
            </a:bodyPr>
            <a:lstStyle/>
            <a:p>
              <a:pPr algn="r"/>
              <a:r>
                <a:rPr lang="en-US" dirty="0" err="1"/>
                <a:t>dest</a:t>
              </a:r>
              <a:endParaRPr lang="ru-RU" dirty="0"/>
            </a:p>
          </p:txBody>
        </p:sp>
        <p:sp>
          <p:nvSpPr>
            <p:cNvPr id="18" name="TextBox 17">
              <a:extLst>
                <a:ext uri="{FF2B5EF4-FFF2-40B4-BE49-F238E27FC236}">
                  <a16:creationId xmlns:a16="http://schemas.microsoft.com/office/drawing/2014/main" id="{7DB7724C-3B60-5B46-DC23-CD076CC0AAD3}"/>
                </a:ext>
              </a:extLst>
            </p:cNvPr>
            <p:cNvSpPr txBox="1"/>
            <p:nvPr/>
          </p:nvSpPr>
          <p:spPr>
            <a:xfrm>
              <a:off x="9029915" y="2700530"/>
              <a:ext cx="652442" cy="369332"/>
            </a:xfrm>
            <a:prstGeom prst="rect">
              <a:avLst/>
            </a:prstGeom>
            <a:noFill/>
          </p:spPr>
          <p:txBody>
            <a:bodyPr wrap="square" rtlCol="0">
              <a:spAutoFit/>
            </a:bodyPr>
            <a:lstStyle/>
            <a:p>
              <a:pPr algn="r"/>
              <a:r>
                <a:rPr lang="en-US" dirty="0"/>
                <a:t>src1</a:t>
              </a:r>
              <a:endParaRPr lang="ru-RU" dirty="0"/>
            </a:p>
          </p:txBody>
        </p:sp>
        <p:sp>
          <p:nvSpPr>
            <p:cNvPr id="19" name="TextBox 18">
              <a:extLst>
                <a:ext uri="{FF2B5EF4-FFF2-40B4-BE49-F238E27FC236}">
                  <a16:creationId xmlns:a16="http://schemas.microsoft.com/office/drawing/2014/main" id="{2F33C6BD-E78C-EF64-35E7-9DA9636FCE94}"/>
                </a:ext>
              </a:extLst>
            </p:cNvPr>
            <p:cNvSpPr txBox="1"/>
            <p:nvPr/>
          </p:nvSpPr>
          <p:spPr>
            <a:xfrm>
              <a:off x="9790037" y="2700530"/>
              <a:ext cx="652442" cy="369332"/>
            </a:xfrm>
            <a:prstGeom prst="rect">
              <a:avLst/>
            </a:prstGeom>
            <a:noFill/>
          </p:spPr>
          <p:txBody>
            <a:bodyPr wrap="square" rtlCol="0">
              <a:spAutoFit/>
            </a:bodyPr>
            <a:lstStyle/>
            <a:p>
              <a:pPr algn="r"/>
              <a:r>
                <a:rPr lang="en-US" dirty="0"/>
                <a:t>src2</a:t>
              </a:r>
              <a:endParaRPr lang="ru-RU" dirty="0"/>
            </a:p>
          </p:txBody>
        </p:sp>
        <p:cxnSp>
          <p:nvCxnSpPr>
            <p:cNvPr id="30" name="Straight Arrow Connector 29">
              <a:extLst>
                <a:ext uri="{FF2B5EF4-FFF2-40B4-BE49-F238E27FC236}">
                  <a16:creationId xmlns:a16="http://schemas.microsoft.com/office/drawing/2014/main" id="{C4BDF7C9-E7F7-7E47-29BB-1B4C0145A3BE}"/>
                </a:ext>
              </a:extLst>
            </p:cNvPr>
            <p:cNvCxnSpPr>
              <a:cxnSpLocks/>
              <a:stCxn id="13" idx="0"/>
              <a:endCxn id="12" idx="2"/>
            </p:cNvCxnSpPr>
            <p:nvPr/>
          </p:nvCxnSpPr>
          <p:spPr>
            <a:xfrm flipV="1">
              <a:off x="7893847" y="2530966"/>
              <a:ext cx="7831" cy="1394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E628F56-3E9B-1CB9-4837-9F5416BD566B}"/>
                </a:ext>
              </a:extLst>
            </p:cNvPr>
            <p:cNvCxnSpPr/>
            <p:nvPr/>
          </p:nvCxnSpPr>
          <p:spPr>
            <a:xfrm flipV="1">
              <a:off x="8637906" y="2547373"/>
              <a:ext cx="0" cy="1531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ACD7CA-0FCB-8E0B-CF87-E96DACB05112}"/>
                </a:ext>
              </a:extLst>
            </p:cNvPr>
            <p:cNvCxnSpPr/>
            <p:nvPr/>
          </p:nvCxnSpPr>
          <p:spPr>
            <a:xfrm flipV="1">
              <a:off x="9374134" y="2563780"/>
              <a:ext cx="0" cy="1531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1F8B47E-A1AB-D4C4-2CA1-27BE0DC501EB}"/>
                </a:ext>
              </a:extLst>
            </p:cNvPr>
            <p:cNvCxnSpPr/>
            <p:nvPr/>
          </p:nvCxnSpPr>
          <p:spPr>
            <a:xfrm flipV="1">
              <a:off x="10110362" y="2580187"/>
              <a:ext cx="0" cy="1531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8EE3C910-857F-C79D-234D-81BC4FB42B59}"/>
              </a:ext>
            </a:extLst>
          </p:cNvPr>
          <p:cNvGrpSpPr/>
          <p:nvPr/>
        </p:nvGrpSpPr>
        <p:grpSpPr>
          <a:xfrm>
            <a:off x="4455049" y="1655729"/>
            <a:ext cx="2786589" cy="908228"/>
            <a:chOff x="7617349" y="3818278"/>
            <a:chExt cx="2786589" cy="908228"/>
          </a:xfrm>
        </p:grpSpPr>
        <p:sp>
          <p:nvSpPr>
            <p:cNvPr id="21" name="TextBox 20">
              <a:extLst>
                <a:ext uri="{FF2B5EF4-FFF2-40B4-BE49-F238E27FC236}">
                  <a16:creationId xmlns:a16="http://schemas.microsoft.com/office/drawing/2014/main" id="{457F1F1F-BB65-D16B-8A40-4827E99B9201}"/>
                </a:ext>
              </a:extLst>
            </p:cNvPr>
            <p:cNvSpPr txBox="1"/>
            <p:nvPr/>
          </p:nvSpPr>
          <p:spPr>
            <a:xfrm>
              <a:off x="7617349" y="3818278"/>
              <a:ext cx="736228" cy="369332"/>
            </a:xfrm>
            <a:prstGeom prst="rect">
              <a:avLst/>
            </a:prstGeom>
            <a:noFill/>
          </p:spPr>
          <p:txBody>
            <a:bodyPr wrap="square" rtlCol="0">
              <a:spAutoFit/>
            </a:bodyPr>
            <a:lstStyle/>
            <a:p>
              <a:pPr algn="r"/>
              <a:r>
                <a:rPr lang="en-US" dirty="0"/>
                <a:t>XXXX</a:t>
              </a:r>
              <a:endParaRPr lang="ru-RU" dirty="0"/>
            </a:p>
          </p:txBody>
        </p:sp>
        <p:sp>
          <p:nvSpPr>
            <p:cNvPr id="22" name="TextBox 21">
              <a:extLst>
                <a:ext uri="{FF2B5EF4-FFF2-40B4-BE49-F238E27FC236}">
                  <a16:creationId xmlns:a16="http://schemas.microsoft.com/office/drawing/2014/main" id="{AF188B9E-8F64-5D5F-2D05-5572E35C021E}"/>
                </a:ext>
              </a:extLst>
            </p:cNvPr>
            <p:cNvSpPr txBox="1"/>
            <p:nvPr/>
          </p:nvSpPr>
          <p:spPr>
            <a:xfrm>
              <a:off x="7745727" y="4338134"/>
              <a:ext cx="463593" cy="369332"/>
            </a:xfrm>
            <a:prstGeom prst="rect">
              <a:avLst/>
            </a:prstGeom>
            <a:noFill/>
          </p:spPr>
          <p:txBody>
            <a:bodyPr wrap="square" rtlCol="0">
              <a:spAutoFit/>
            </a:bodyPr>
            <a:lstStyle/>
            <a:p>
              <a:pPr algn="r"/>
              <a:r>
                <a:rPr lang="en-US" dirty="0"/>
                <a:t>OP</a:t>
              </a:r>
              <a:endParaRPr lang="ru-RU" dirty="0"/>
            </a:p>
          </p:txBody>
        </p:sp>
        <p:sp>
          <p:nvSpPr>
            <p:cNvPr id="23" name="TextBox 22">
              <a:extLst>
                <a:ext uri="{FF2B5EF4-FFF2-40B4-BE49-F238E27FC236}">
                  <a16:creationId xmlns:a16="http://schemas.microsoft.com/office/drawing/2014/main" id="{5FEFE8D7-A90A-61D3-103B-F261D15EB233}"/>
                </a:ext>
              </a:extLst>
            </p:cNvPr>
            <p:cNvSpPr txBox="1"/>
            <p:nvPr/>
          </p:nvSpPr>
          <p:spPr>
            <a:xfrm>
              <a:off x="8353577" y="3818278"/>
              <a:ext cx="736228" cy="369332"/>
            </a:xfrm>
            <a:prstGeom prst="rect">
              <a:avLst/>
            </a:prstGeom>
            <a:noFill/>
          </p:spPr>
          <p:txBody>
            <a:bodyPr wrap="square" rtlCol="0">
              <a:spAutoFit/>
            </a:bodyPr>
            <a:lstStyle/>
            <a:p>
              <a:pPr algn="r"/>
              <a:r>
                <a:rPr lang="en-US" dirty="0"/>
                <a:t>XXXX</a:t>
              </a:r>
              <a:endParaRPr lang="ru-RU" dirty="0"/>
            </a:p>
          </p:txBody>
        </p:sp>
        <p:sp>
          <p:nvSpPr>
            <p:cNvPr id="24" name="TextBox 23">
              <a:extLst>
                <a:ext uri="{FF2B5EF4-FFF2-40B4-BE49-F238E27FC236}">
                  <a16:creationId xmlns:a16="http://schemas.microsoft.com/office/drawing/2014/main" id="{7F8E50A9-6F9F-8341-E654-B93BDDAED4F4}"/>
                </a:ext>
              </a:extLst>
            </p:cNvPr>
            <p:cNvSpPr txBox="1"/>
            <p:nvPr/>
          </p:nvSpPr>
          <p:spPr>
            <a:xfrm>
              <a:off x="9089805" y="3825292"/>
              <a:ext cx="1215702" cy="369332"/>
            </a:xfrm>
            <a:prstGeom prst="rect">
              <a:avLst/>
            </a:prstGeom>
            <a:noFill/>
          </p:spPr>
          <p:txBody>
            <a:bodyPr wrap="square" rtlCol="0">
              <a:spAutoFit/>
            </a:bodyPr>
            <a:lstStyle/>
            <a:p>
              <a:pPr algn="r"/>
              <a:r>
                <a:rPr lang="en-US" dirty="0"/>
                <a:t>XXXXXXXX</a:t>
              </a:r>
              <a:endParaRPr lang="ru-RU" dirty="0"/>
            </a:p>
          </p:txBody>
        </p:sp>
        <p:sp>
          <p:nvSpPr>
            <p:cNvPr id="26" name="TextBox 25">
              <a:extLst>
                <a:ext uri="{FF2B5EF4-FFF2-40B4-BE49-F238E27FC236}">
                  <a16:creationId xmlns:a16="http://schemas.microsoft.com/office/drawing/2014/main" id="{3D304917-858A-1A1D-7F46-D2F31873454B}"/>
                </a:ext>
              </a:extLst>
            </p:cNvPr>
            <p:cNvSpPr txBox="1"/>
            <p:nvPr/>
          </p:nvSpPr>
          <p:spPr>
            <a:xfrm>
              <a:off x="8353332" y="4340767"/>
              <a:ext cx="652442" cy="369332"/>
            </a:xfrm>
            <a:prstGeom prst="rect">
              <a:avLst/>
            </a:prstGeom>
            <a:noFill/>
          </p:spPr>
          <p:txBody>
            <a:bodyPr wrap="square" rtlCol="0">
              <a:spAutoFit/>
            </a:bodyPr>
            <a:lstStyle/>
            <a:p>
              <a:pPr algn="r"/>
              <a:r>
                <a:rPr lang="en-US" dirty="0" err="1"/>
                <a:t>dest</a:t>
              </a:r>
              <a:endParaRPr lang="ru-RU" dirty="0"/>
            </a:p>
          </p:txBody>
        </p:sp>
        <p:sp>
          <p:nvSpPr>
            <p:cNvPr id="27" name="TextBox 26">
              <a:extLst>
                <a:ext uri="{FF2B5EF4-FFF2-40B4-BE49-F238E27FC236}">
                  <a16:creationId xmlns:a16="http://schemas.microsoft.com/office/drawing/2014/main" id="{6C564CA6-5096-1292-FF09-0D8DCDD00A5F}"/>
                </a:ext>
              </a:extLst>
            </p:cNvPr>
            <p:cNvSpPr txBox="1"/>
            <p:nvPr/>
          </p:nvSpPr>
          <p:spPr>
            <a:xfrm>
              <a:off x="8991374" y="4357174"/>
              <a:ext cx="1412564" cy="369332"/>
            </a:xfrm>
            <a:prstGeom prst="rect">
              <a:avLst/>
            </a:prstGeom>
            <a:noFill/>
          </p:spPr>
          <p:txBody>
            <a:bodyPr wrap="square" rtlCol="0">
              <a:spAutoFit/>
            </a:bodyPr>
            <a:lstStyle/>
            <a:p>
              <a:pPr algn="r"/>
              <a:r>
                <a:rPr lang="en-US" dirty="0" err="1"/>
                <a:t>Addr</a:t>
              </a:r>
              <a:r>
                <a:rPr lang="en-US" dirty="0"/>
                <a:t>/value</a:t>
              </a:r>
              <a:endParaRPr lang="ru-RU" dirty="0"/>
            </a:p>
          </p:txBody>
        </p:sp>
        <p:cxnSp>
          <p:nvCxnSpPr>
            <p:cNvPr id="34" name="Straight Arrow Connector 33">
              <a:extLst>
                <a:ext uri="{FF2B5EF4-FFF2-40B4-BE49-F238E27FC236}">
                  <a16:creationId xmlns:a16="http://schemas.microsoft.com/office/drawing/2014/main" id="{B2499CD4-D005-67BA-A9C8-668B47C16167}"/>
                </a:ext>
              </a:extLst>
            </p:cNvPr>
            <p:cNvCxnSpPr/>
            <p:nvPr/>
          </p:nvCxnSpPr>
          <p:spPr>
            <a:xfrm flipV="1">
              <a:off x="7985462" y="4205330"/>
              <a:ext cx="0" cy="1531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F2DF7F9-78B3-9C37-9E81-DAE87D2A7505}"/>
                </a:ext>
              </a:extLst>
            </p:cNvPr>
            <p:cNvCxnSpPr/>
            <p:nvPr/>
          </p:nvCxnSpPr>
          <p:spPr>
            <a:xfrm flipV="1">
              <a:off x="8721691" y="4207338"/>
              <a:ext cx="0" cy="1531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7FA8BCC-9704-05B0-6E98-B5F9E27677BB}"/>
                </a:ext>
              </a:extLst>
            </p:cNvPr>
            <p:cNvCxnSpPr/>
            <p:nvPr/>
          </p:nvCxnSpPr>
          <p:spPr>
            <a:xfrm flipV="1">
              <a:off x="9697656" y="4205330"/>
              <a:ext cx="0" cy="1531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18B3A6F5-ACEA-5B75-6BC5-D0C505ECF539}"/>
              </a:ext>
            </a:extLst>
          </p:cNvPr>
          <p:cNvSpPr txBox="1"/>
          <p:nvPr/>
        </p:nvSpPr>
        <p:spPr>
          <a:xfrm>
            <a:off x="226427" y="2760190"/>
            <a:ext cx="10269081" cy="2308324"/>
          </a:xfrm>
          <a:prstGeom prst="rect">
            <a:avLst/>
          </a:prstGeom>
          <a:noFill/>
        </p:spPr>
        <p:txBody>
          <a:bodyPr wrap="square" rtlCol="0">
            <a:spAutoFit/>
          </a:bodyPr>
          <a:lstStyle/>
          <a:p>
            <a:r>
              <a:rPr lang="en-US" dirty="0"/>
              <a:t>RISC utilizes </a:t>
            </a:r>
            <a:r>
              <a:rPr lang="en-US" b="1" u="sng" dirty="0"/>
              <a:t>load-store architecture</a:t>
            </a:r>
            <a:r>
              <a:rPr lang="en-US" dirty="0"/>
              <a:t> meaning that instructions are divided into two categories: memory access and ALU operations that only occur between registers.</a:t>
            </a:r>
          </a:p>
          <a:p>
            <a:endParaRPr lang="en-US" b="1" u="sng" dirty="0"/>
          </a:p>
          <a:p>
            <a:r>
              <a:rPr lang="en-US" dirty="0"/>
              <a:t>OP – operation code, the full list available next slide.</a:t>
            </a:r>
          </a:p>
          <a:p>
            <a:r>
              <a:rPr lang="en-US" dirty="0"/>
              <a:t>Dest – target of the operation, can only be a register.</a:t>
            </a:r>
          </a:p>
          <a:p>
            <a:r>
              <a:rPr lang="en-US" dirty="0"/>
              <a:t>Src1/2 – operands, can only be registers.</a:t>
            </a:r>
          </a:p>
          <a:p>
            <a:r>
              <a:rPr lang="en-US" dirty="0" err="1"/>
              <a:t>Addr</a:t>
            </a:r>
            <a:r>
              <a:rPr lang="en-US" dirty="0"/>
              <a:t> – memory address in the RAM</a:t>
            </a:r>
          </a:p>
          <a:p>
            <a:r>
              <a:rPr lang="en-US" dirty="0"/>
              <a:t>Value – an immediate  value to load into a register.</a:t>
            </a:r>
            <a:endParaRPr lang="ru-RU" dirty="0"/>
          </a:p>
        </p:txBody>
      </p:sp>
    </p:spTree>
    <p:extLst>
      <p:ext uri="{BB962C8B-B14F-4D97-AF65-F5344CB8AC3E}">
        <p14:creationId xmlns:p14="http://schemas.microsoft.com/office/powerpoint/2010/main" val="2114711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08E40-2596-D726-843F-CA7DC6D8145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010EF7-9DF8-C3DE-39A9-13D0DE08D817}"/>
              </a:ext>
            </a:extLst>
          </p:cNvPr>
          <p:cNvSpPr>
            <a:spLocks noGrp="1"/>
          </p:cNvSpPr>
          <p:nvPr>
            <p:ph type="sldNum" sz="quarter" idx="13"/>
          </p:nvPr>
        </p:nvSpPr>
        <p:spPr/>
        <p:txBody>
          <a:bodyPr/>
          <a:lstStyle/>
          <a:p>
            <a:pPr rtl="0"/>
            <a:fld id="{A49DFD55-3C28-40EF-9E31-A92D2E4017FF}" type="slidenum">
              <a:rPr lang="ru-RU" smtClean="0"/>
              <a:pPr rtl="0"/>
              <a:t>7</a:t>
            </a:fld>
            <a:endParaRPr lang="ru-RU" dirty="0"/>
          </a:p>
        </p:txBody>
      </p:sp>
      <p:sp>
        <p:nvSpPr>
          <p:cNvPr id="8" name="Заголовок 1">
            <a:extLst>
              <a:ext uri="{FF2B5EF4-FFF2-40B4-BE49-F238E27FC236}">
                <a16:creationId xmlns:a16="http://schemas.microsoft.com/office/drawing/2014/main" id="{9BFADD5D-6156-65E5-5255-EAF78BDAF1E9}"/>
              </a:ext>
            </a:extLst>
          </p:cNvPr>
          <p:cNvSpPr>
            <a:spLocks noGrp="1"/>
          </p:cNvSpPr>
          <p:nvPr>
            <p:ph type="title"/>
          </p:nvPr>
        </p:nvSpPr>
        <p:spPr>
          <a:xfrm>
            <a:off x="350252" y="295527"/>
            <a:ext cx="5876109" cy="543518"/>
          </a:xfrm>
        </p:spPr>
        <p:txBody>
          <a:bodyPr rtlCol="0"/>
          <a:lstStyle>
            <a:defPPr>
              <a:defRPr lang="ru-RU"/>
            </a:defPPr>
          </a:lstStyle>
          <a:p>
            <a:pPr rtl="0"/>
            <a:r>
              <a:rPr lang="en-US" cap="none" dirty="0">
                <a:latin typeface="+mj-lt"/>
              </a:rPr>
              <a:t>Instructions breakdown</a:t>
            </a:r>
            <a:endParaRPr lang="ru-RU" dirty="0">
              <a:latin typeface="+mj-lt"/>
            </a:endParaRPr>
          </a:p>
        </p:txBody>
      </p:sp>
      <p:sp>
        <p:nvSpPr>
          <p:cNvPr id="4" name="TextBox 3">
            <a:extLst>
              <a:ext uri="{FF2B5EF4-FFF2-40B4-BE49-F238E27FC236}">
                <a16:creationId xmlns:a16="http://schemas.microsoft.com/office/drawing/2014/main" id="{89BF9AF0-C960-5F84-56CB-CD3ED2102FD0}"/>
              </a:ext>
            </a:extLst>
          </p:cNvPr>
          <p:cNvSpPr txBox="1"/>
          <p:nvPr/>
        </p:nvSpPr>
        <p:spPr>
          <a:xfrm>
            <a:off x="4531727" y="418753"/>
            <a:ext cx="10269081" cy="646331"/>
          </a:xfrm>
          <a:prstGeom prst="rect">
            <a:avLst/>
          </a:prstGeom>
          <a:noFill/>
        </p:spPr>
        <p:txBody>
          <a:bodyPr wrap="square" rtlCol="0">
            <a:spAutoFit/>
          </a:bodyPr>
          <a:lstStyle/>
          <a:p>
            <a:r>
              <a:rPr lang="en-US" dirty="0"/>
              <a:t>Available instructions:</a:t>
            </a:r>
          </a:p>
          <a:p>
            <a:endParaRPr lang="ru-RU" dirty="0"/>
          </a:p>
        </p:txBody>
      </p:sp>
      <p:graphicFrame>
        <p:nvGraphicFramePr>
          <p:cNvPr id="5" name="Table 4">
            <a:extLst>
              <a:ext uri="{FF2B5EF4-FFF2-40B4-BE49-F238E27FC236}">
                <a16:creationId xmlns:a16="http://schemas.microsoft.com/office/drawing/2014/main" id="{B9F80B87-7365-A94E-8AD2-3F03C3BC9F25}"/>
              </a:ext>
            </a:extLst>
          </p:cNvPr>
          <p:cNvGraphicFramePr>
            <a:graphicFrameLocks noGrp="1"/>
          </p:cNvGraphicFramePr>
          <p:nvPr>
            <p:extLst>
              <p:ext uri="{D42A27DB-BD31-4B8C-83A1-F6EECF244321}">
                <p14:modId xmlns:p14="http://schemas.microsoft.com/office/powerpoint/2010/main" val="2694828661"/>
              </p:ext>
            </p:extLst>
          </p:nvPr>
        </p:nvGraphicFramePr>
        <p:xfrm>
          <a:off x="350252" y="1443388"/>
          <a:ext cx="5536620" cy="3971224"/>
        </p:xfrm>
        <a:graphic>
          <a:graphicData uri="http://schemas.openxmlformats.org/drawingml/2006/table">
            <a:tbl>
              <a:tblPr firstRow="1" bandRow="1">
                <a:tableStyleId>{073A0DAA-6AF3-43AB-8588-CEC1D06C72B9}</a:tableStyleId>
              </a:tblPr>
              <a:tblGrid>
                <a:gridCol w="2768310">
                  <a:extLst>
                    <a:ext uri="{9D8B030D-6E8A-4147-A177-3AD203B41FA5}">
                      <a16:colId xmlns:a16="http://schemas.microsoft.com/office/drawing/2014/main" val="1689607509"/>
                    </a:ext>
                  </a:extLst>
                </a:gridCol>
                <a:gridCol w="2768310">
                  <a:extLst>
                    <a:ext uri="{9D8B030D-6E8A-4147-A177-3AD203B41FA5}">
                      <a16:colId xmlns:a16="http://schemas.microsoft.com/office/drawing/2014/main" val="59521120"/>
                    </a:ext>
                  </a:extLst>
                </a:gridCol>
              </a:tblGrid>
              <a:tr h="345106">
                <a:tc>
                  <a:txBody>
                    <a:bodyPr/>
                    <a:lstStyle/>
                    <a:p>
                      <a:pPr algn="ctr"/>
                      <a:r>
                        <a:rPr lang="en-US" sz="1400" b="0" dirty="0">
                          <a:highlight>
                            <a:srgbClr val="000000"/>
                          </a:highlight>
                        </a:rPr>
                        <a:t>Instruction</a:t>
                      </a:r>
                      <a:endParaRPr lang="en-IL" sz="1400" b="0" dirty="0">
                        <a:highlight>
                          <a:srgbClr val="000000"/>
                        </a:highlight>
                      </a:endParaRPr>
                    </a:p>
                  </a:txBody>
                  <a:tcPr/>
                </a:tc>
                <a:tc>
                  <a:txBody>
                    <a:bodyPr/>
                    <a:lstStyle/>
                    <a:p>
                      <a:pPr algn="ctr"/>
                      <a:r>
                        <a:rPr lang="en-US" sz="1400" dirty="0">
                          <a:highlight>
                            <a:srgbClr val="000000"/>
                          </a:highlight>
                        </a:rPr>
                        <a:t>Binary</a:t>
                      </a:r>
                      <a:endParaRPr lang="en-IL" sz="1400" dirty="0">
                        <a:highlight>
                          <a:srgbClr val="000000"/>
                        </a:highlight>
                      </a:endParaRPr>
                    </a:p>
                  </a:txBody>
                  <a:tcPr/>
                </a:tc>
                <a:extLst>
                  <a:ext uri="{0D108BD9-81ED-4DB2-BD59-A6C34878D82A}">
                    <a16:rowId xmlns:a16="http://schemas.microsoft.com/office/drawing/2014/main" val="2539321712"/>
                  </a:ext>
                </a:extLst>
              </a:tr>
              <a:tr h="345106">
                <a:tc>
                  <a:txBody>
                    <a:bodyPr/>
                    <a:lstStyle/>
                    <a:p>
                      <a:pPr algn="ctr"/>
                      <a:r>
                        <a:rPr lang="en-US" sz="1400" dirty="0"/>
                        <a:t>NOP – no op, ‘do nothing’</a:t>
                      </a:r>
                      <a:endParaRPr lang="en-IL" sz="1400" dirty="0"/>
                    </a:p>
                  </a:txBody>
                  <a:tcPr/>
                </a:tc>
                <a:tc>
                  <a:txBody>
                    <a:bodyPr/>
                    <a:lstStyle/>
                    <a:p>
                      <a:pPr algn="ctr"/>
                      <a:r>
                        <a:rPr lang="en-US" sz="1400" dirty="0"/>
                        <a:t>0000</a:t>
                      </a:r>
                      <a:endParaRPr lang="en-IL" sz="1400" dirty="0"/>
                    </a:p>
                  </a:txBody>
                  <a:tcPr/>
                </a:tc>
                <a:extLst>
                  <a:ext uri="{0D108BD9-81ED-4DB2-BD59-A6C34878D82A}">
                    <a16:rowId xmlns:a16="http://schemas.microsoft.com/office/drawing/2014/main" val="2589189733"/>
                  </a:ext>
                </a:extLst>
              </a:tr>
              <a:tr h="488901">
                <a:tc>
                  <a:txBody>
                    <a:bodyPr/>
                    <a:lstStyle/>
                    <a:p>
                      <a:pPr algn="ctr"/>
                      <a:r>
                        <a:rPr lang="en-US" sz="1400" dirty="0"/>
                        <a:t>LOAD – load from memory to register</a:t>
                      </a:r>
                      <a:endParaRPr lang="en-IL" sz="1400" dirty="0"/>
                    </a:p>
                  </a:txBody>
                  <a:tcPr/>
                </a:tc>
                <a:tc>
                  <a:txBody>
                    <a:bodyPr/>
                    <a:lstStyle/>
                    <a:p>
                      <a:pPr algn="ctr"/>
                      <a:r>
                        <a:rPr lang="en-US" sz="1400" dirty="0"/>
                        <a:t>0001</a:t>
                      </a:r>
                      <a:endParaRPr lang="en-IL" sz="1400" dirty="0"/>
                    </a:p>
                  </a:txBody>
                  <a:tcPr/>
                </a:tc>
                <a:extLst>
                  <a:ext uri="{0D108BD9-81ED-4DB2-BD59-A6C34878D82A}">
                    <a16:rowId xmlns:a16="http://schemas.microsoft.com/office/drawing/2014/main" val="1633100740"/>
                  </a:ext>
                </a:extLst>
              </a:tr>
              <a:tr h="488901">
                <a:tc>
                  <a:txBody>
                    <a:bodyPr/>
                    <a:lstStyle/>
                    <a:p>
                      <a:pPr algn="ctr"/>
                      <a:r>
                        <a:rPr lang="en-US" sz="1400" dirty="0"/>
                        <a:t>STORE – save data from register to memory</a:t>
                      </a:r>
                      <a:endParaRPr lang="en-IL" sz="1400" dirty="0"/>
                    </a:p>
                  </a:txBody>
                  <a:tcPr/>
                </a:tc>
                <a:tc>
                  <a:txBody>
                    <a:bodyPr/>
                    <a:lstStyle/>
                    <a:p>
                      <a:pPr algn="ctr"/>
                      <a:r>
                        <a:rPr lang="en-US" sz="1400" dirty="0"/>
                        <a:t>0010</a:t>
                      </a:r>
                      <a:endParaRPr lang="en-IL" sz="1400" dirty="0"/>
                    </a:p>
                  </a:txBody>
                  <a:tcPr/>
                </a:tc>
                <a:extLst>
                  <a:ext uri="{0D108BD9-81ED-4DB2-BD59-A6C34878D82A}">
                    <a16:rowId xmlns:a16="http://schemas.microsoft.com/office/drawing/2014/main" val="4219396502"/>
                  </a:ext>
                </a:extLst>
              </a:tr>
              <a:tr h="345106">
                <a:tc>
                  <a:txBody>
                    <a:bodyPr/>
                    <a:lstStyle/>
                    <a:p>
                      <a:pPr algn="ctr"/>
                      <a:r>
                        <a:rPr lang="en-US" sz="1400" dirty="0"/>
                        <a:t>LOADI – load an immediate value to a register</a:t>
                      </a:r>
                      <a:endParaRPr lang="en-IL" sz="1400" dirty="0"/>
                    </a:p>
                  </a:txBody>
                  <a:tcPr/>
                </a:tc>
                <a:tc>
                  <a:txBody>
                    <a:bodyPr/>
                    <a:lstStyle/>
                    <a:p>
                      <a:pPr algn="ctr"/>
                      <a:r>
                        <a:rPr lang="en-US" sz="1400" dirty="0"/>
                        <a:t>0011</a:t>
                      </a:r>
                      <a:endParaRPr lang="en-IL" sz="1400" dirty="0"/>
                    </a:p>
                  </a:txBody>
                  <a:tcPr/>
                </a:tc>
                <a:extLst>
                  <a:ext uri="{0D108BD9-81ED-4DB2-BD59-A6C34878D82A}">
                    <a16:rowId xmlns:a16="http://schemas.microsoft.com/office/drawing/2014/main" val="504886811"/>
                  </a:ext>
                </a:extLst>
              </a:tr>
              <a:tr h="345106">
                <a:tc>
                  <a:txBody>
                    <a:bodyPr/>
                    <a:lstStyle/>
                    <a:p>
                      <a:pPr algn="ctr"/>
                      <a:r>
                        <a:rPr lang="en-US" sz="1400" dirty="0"/>
                        <a:t>ADD – Add 2 registers into a register</a:t>
                      </a:r>
                      <a:endParaRPr lang="en-IL" sz="1400" dirty="0"/>
                    </a:p>
                  </a:txBody>
                  <a:tcPr/>
                </a:tc>
                <a:tc>
                  <a:txBody>
                    <a:bodyPr/>
                    <a:lstStyle/>
                    <a:p>
                      <a:pPr algn="ctr"/>
                      <a:r>
                        <a:rPr lang="en-US" sz="1400" dirty="0"/>
                        <a:t>0100</a:t>
                      </a:r>
                      <a:endParaRPr lang="en-IL" sz="1400" dirty="0"/>
                    </a:p>
                  </a:txBody>
                  <a:tcPr/>
                </a:tc>
                <a:extLst>
                  <a:ext uri="{0D108BD9-81ED-4DB2-BD59-A6C34878D82A}">
                    <a16:rowId xmlns:a16="http://schemas.microsoft.com/office/drawing/2014/main" val="1621151493"/>
                  </a:ext>
                </a:extLst>
              </a:tr>
              <a:tr h="345106">
                <a:tc>
                  <a:txBody>
                    <a:bodyPr/>
                    <a:lstStyle/>
                    <a:p>
                      <a:pPr algn="ctr"/>
                      <a:r>
                        <a:rPr lang="en-US" sz="1400" dirty="0"/>
                        <a:t>SUB – subtract 2 registers </a:t>
                      </a:r>
                      <a:endParaRPr lang="en-IL" sz="1400" dirty="0"/>
                    </a:p>
                  </a:txBody>
                  <a:tcPr/>
                </a:tc>
                <a:tc>
                  <a:txBody>
                    <a:bodyPr/>
                    <a:lstStyle/>
                    <a:p>
                      <a:pPr algn="ctr"/>
                      <a:r>
                        <a:rPr lang="en-US" sz="1400" dirty="0"/>
                        <a:t>0101</a:t>
                      </a:r>
                      <a:endParaRPr lang="en-IL" sz="1400" dirty="0"/>
                    </a:p>
                  </a:txBody>
                  <a:tcPr/>
                </a:tc>
                <a:extLst>
                  <a:ext uri="{0D108BD9-81ED-4DB2-BD59-A6C34878D82A}">
                    <a16:rowId xmlns:a16="http://schemas.microsoft.com/office/drawing/2014/main" val="399576290"/>
                  </a:ext>
                </a:extLst>
              </a:tr>
              <a:tr h="345106">
                <a:tc>
                  <a:txBody>
                    <a:bodyPr/>
                    <a:lstStyle/>
                    <a:p>
                      <a:pPr algn="ctr"/>
                      <a:r>
                        <a:rPr lang="en-US" sz="1400" dirty="0"/>
                        <a:t>MUL – multiply 2 registers</a:t>
                      </a:r>
                      <a:endParaRPr lang="en-IL" sz="1400" dirty="0"/>
                    </a:p>
                  </a:txBody>
                  <a:tcPr/>
                </a:tc>
                <a:tc>
                  <a:txBody>
                    <a:bodyPr/>
                    <a:lstStyle/>
                    <a:p>
                      <a:pPr algn="ctr"/>
                      <a:r>
                        <a:rPr lang="en-US" sz="1400" dirty="0"/>
                        <a:t>0110</a:t>
                      </a:r>
                      <a:endParaRPr lang="en-IL" sz="1400" dirty="0"/>
                    </a:p>
                  </a:txBody>
                  <a:tcPr/>
                </a:tc>
                <a:extLst>
                  <a:ext uri="{0D108BD9-81ED-4DB2-BD59-A6C34878D82A}">
                    <a16:rowId xmlns:a16="http://schemas.microsoft.com/office/drawing/2014/main" val="2525088378"/>
                  </a:ext>
                </a:extLst>
              </a:tr>
              <a:tr h="345106">
                <a:tc>
                  <a:txBody>
                    <a:bodyPr/>
                    <a:lstStyle/>
                    <a:p>
                      <a:pPr algn="ctr"/>
                      <a:r>
                        <a:rPr lang="en-US" sz="1400" dirty="0"/>
                        <a:t>OR – logical OR between registers</a:t>
                      </a:r>
                      <a:endParaRPr lang="en-IL" sz="1400" dirty="0"/>
                    </a:p>
                  </a:txBody>
                  <a:tcPr/>
                </a:tc>
                <a:tc>
                  <a:txBody>
                    <a:bodyPr/>
                    <a:lstStyle/>
                    <a:p>
                      <a:pPr algn="ctr"/>
                      <a:r>
                        <a:rPr lang="en-US" sz="1400" dirty="0"/>
                        <a:t>0111</a:t>
                      </a:r>
                      <a:endParaRPr lang="en-IL" sz="1400" dirty="0"/>
                    </a:p>
                  </a:txBody>
                  <a:tcPr/>
                </a:tc>
                <a:extLst>
                  <a:ext uri="{0D108BD9-81ED-4DB2-BD59-A6C34878D82A}">
                    <a16:rowId xmlns:a16="http://schemas.microsoft.com/office/drawing/2014/main" val="3169354556"/>
                  </a:ext>
                </a:extLst>
              </a:tr>
            </a:tbl>
          </a:graphicData>
        </a:graphic>
      </p:graphicFrame>
      <p:graphicFrame>
        <p:nvGraphicFramePr>
          <p:cNvPr id="6" name="Table 5">
            <a:extLst>
              <a:ext uri="{FF2B5EF4-FFF2-40B4-BE49-F238E27FC236}">
                <a16:creationId xmlns:a16="http://schemas.microsoft.com/office/drawing/2014/main" id="{04CB967A-E7AD-09F5-FB55-6A663A8B1CA2}"/>
              </a:ext>
            </a:extLst>
          </p:cNvPr>
          <p:cNvGraphicFramePr>
            <a:graphicFrameLocks noGrp="1"/>
          </p:cNvGraphicFramePr>
          <p:nvPr>
            <p:extLst>
              <p:ext uri="{D42A27DB-BD31-4B8C-83A1-F6EECF244321}">
                <p14:modId xmlns:p14="http://schemas.microsoft.com/office/powerpoint/2010/main" val="4162172497"/>
              </p:ext>
            </p:extLst>
          </p:nvPr>
        </p:nvGraphicFramePr>
        <p:xfrm>
          <a:off x="6096000" y="1443388"/>
          <a:ext cx="5638160" cy="3688080"/>
        </p:xfrm>
        <a:graphic>
          <a:graphicData uri="http://schemas.openxmlformats.org/drawingml/2006/table">
            <a:tbl>
              <a:tblPr firstRow="1" bandRow="1">
                <a:tableStyleId>{073A0DAA-6AF3-43AB-8588-CEC1D06C72B9}</a:tableStyleId>
              </a:tblPr>
              <a:tblGrid>
                <a:gridCol w="2819080">
                  <a:extLst>
                    <a:ext uri="{9D8B030D-6E8A-4147-A177-3AD203B41FA5}">
                      <a16:colId xmlns:a16="http://schemas.microsoft.com/office/drawing/2014/main" val="1689607509"/>
                    </a:ext>
                  </a:extLst>
                </a:gridCol>
                <a:gridCol w="2819080">
                  <a:extLst>
                    <a:ext uri="{9D8B030D-6E8A-4147-A177-3AD203B41FA5}">
                      <a16:colId xmlns:a16="http://schemas.microsoft.com/office/drawing/2014/main" val="59521120"/>
                    </a:ext>
                  </a:extLst>
                </a:gridCol>
              </a:tblGrid>
              <a:tr h="215008">
                <a:tc>
                  <a:txBody>
                    <a:bodyPr/>
                    <a:lstStyle/>
                    <a:p>
                      <a:pPr algn="ctr"/>
                      <a:endParaRPr lang="en-IL" sz="1400" b="0" dirty="0"/>
                    </a:p>
                  </a:txBody>
                  <a:tcPr/>
                </a:tc>
                <a:tc>
                  <a:txBody>
                    <a:bodyPr/>
                    <a:lstStyle/>
                    <a:p>
                      <a:pPr algn="ctr"/>
                      <a:endParaRPr lang="en-IL" sz="1400" dirty="0"/>
                    </a:p>
                  </a:txBody>
                  <a:tcPr/>
                </a:tc>
                <a:extLst>
                  <a:ext uri="{0D108BD9-81ED-4DB2-BD59-A6C34878D82A}">
                    <a16:rowId xmlns:a16="http://schemas.microsoft.com/office/drawing/2014/main" val="3637866169"/>
                  </a:ext>
                </a:extLst>
              </a:tr>
              <a:tr h="215008">
                <a:tc>
                  <a:txBody>
                    <a:bodyPr/>
                    <a:lstStyle/>
                    <a:p>
                      <a:pPr algn="ctr"/>
                      <a:r>
                        <a:rPr lang="en-US" sz="1400" b="0" dirty="0"/>
                        <a:t>AND – logical AND</a:t>
                      </a:r>
                      <a:endParaRPr lang="en-IL" sz="1400" b="0" dirty="0"/>
                    </a:p>
                  </a:txBody>
                  <a:tcPr/>
                </a:tc>
                <a:tc>
                  <a:txBody>
                    <a:bodyPr/>
                    <a:lstStyle/>
                    <a:p>
                      <a:pPr algn="ctr"/>
                      <a:r>
                        <a:rPr lang="en-US" sz="1400" dirty="0">
                          <a:solidFill>
                            <a:schemeClr val="tx1"/>
                          </a:solidFill>
                        </a:rPr>
                        <a:t>1000</a:t>
                      </a:r>
                      <a:endParaRPr lang="en-IL" sz="1400" dirty="0">
                        <a:solidFill>
                          <a:schemeClr val="tx1"/>
                        </a:solidFill>
                      </a:endParaRPr>
                    </a:p>
                  </a:txBody>
                  <a:tcPr/>
                </a:tc>
                <a:extLst>
                  <a:ext uri="{0D108BD9-81ED-4DB2-BD59-A6C34878D82A}">
                    <a16:rowId xmlns:a16="http://schemas.microsoft.com/office/drawing/2014/main" val="2539321712"/>
                  </a:ext>
                </a:extLst>
              </a:tr>
              <a:tr h="215008">
                <a:tc>
                  <a:txBody>
                    <a:bodyPr/>
                    <a:lstStyle/>
                    <a:p>
                      <a:pPr algn="ctr"/>
                      <a:r>
                        <a:rPr lang="en-US" sz="1400" dirty="0"/>
                        <a:t>XOR – logical XOR</a:t>
                      </a:r>
                      <a:endParaRPr lang="en-IL" sz="1400" dirty="0"/>
                    </a:p>
                  </a:txBody>
                  <a:tcPr/>
                </a:tc>
                <a:tc>
                  <a:txBody>
                    <a:bodyPr/>
                    <a:lstStyle/>
                    <a:p>
                      <a:pPr algn="ctr"/>
                      <a:r>
                        <a:rPr lang="en-US" sz="1400" dirty="0"/>
                        <a:t>1001</a:t>
                      </a:r>
                      <a:endParaRPr lang="en-IL" sz="1400" dirty="0"/>
                    </a:p>
                  </a:txBody>
                  <a:tcPr/>
                </a:tc>
                <a:extLst>
                  <a:ext uri="{0D108BD9-81ED-4DB2-BD59-A6C34878D82A}">
                    <a16:rowId xmlns:a16="http://schemas.microsoft.com/office/drawing/2014/main" val="2589189733"/>
                  </a:ext>
                </a:extLst>
              </a:tr>
              <a:tr h="0">
                <a:tc>
                  <a:txBody>
                    <a:bodyPr/>
                    <a:lstStyle/>
                    <a:p>
                      <a:pPr algn="ctr"/>
                      <a:r>
                        <a:rPr lang="en-US" sz="1400" dirty="0"/>
                        <a:t>SHL – shift left</a:t>
                      </a:r>
                      <a:endParaRPr lang="en-IL" sz="1400" dirty="0"/>
                    </a:p>
                  </a:txBody>
                  <a:tcPr/>
                </a:tc>
                <a:tc>
                  <a:txBody>
                    <a:bodyPr/>
                    <a:lstStyle/>
                    <a:p>
                      <a:pPr algn="ctr"/>
                      <a:r>
                        <a:rPr lang="en-US" sz="1400" dirty="0"/>
                        <a:t>1010</a:t>
                      </a:r>
                      <a:endParaRPr lang="en-IL" sz="1400" dirty="0"/>
                    </a:p>
                  </a:txBody>
                  <a:tcPr/>
                </a:tc>
                <a:extLst>
                  <a:ext uri="{0D108BD9-81ED-4DB2-BD59-A6C34878D82A}">
                    <a16:rowId xmlns:a16="http://schemas.microsoft.com/office/drawing/2014/main" val="1633100740"/>
                  </a:ext>
                </a:extLst>
              </a:tr>
              <a:tr h="215008">
                <a:tc>
                  <a:txBody>
                    <a:bodyPr/>
                    <a:lstStyle/>
                    <a:p>
                      <a:pPr algn="ctr"/>
                      <a:r>
                        <a:rPr lang="en-US" sz="1400" dirty="0"/>
                        <a:t>SHR – shift right</a:t>
                      </a:r>
                      <a:endParaRPr lang="en-IL" sz="1400" dirty="0"/>
                    </a:p>
                  </a:txBody>
                  <a:tcPr/>
                </a:tc>
                <a:tc>
                  <a:txBody>
                    <a:bodyPr/>
                    <a:lstStyle/>
                    <a:p>
                      <a:pPr algn="ctr"/>
                      <a:r>
                        <a:rPr lang="en-US" sz="1400" dirty="0"/>
                        <a:t>1011</a:t>
                      </a:r>
                      <a:endParaRPr lang="en-IL" sz="1400" dirty="0"/>
                    </a:p>
                  </a:txBody>
                  <a:tcPr/>
                </a:tc>
                <a:extLst>
                  <a:ext uri="{0D108BD9-81ED-4DB2-BD59-A6C34878D82A}">
                    <a16:rowId xmlns:a16="http://schemas.microsoft.com/office/drawing/2014/main" val="4219396502"/>
                  </a:ext>
                </a:extLst>
              </a:tr>
              <a:tr h="215008">
                <a:tc>
                  <a:txBody>
                    <a:bodyPr/>
                    <a:lstStyle/>
                    <a:p>
                      <a:pPr algn="ctr"/>
                      <a:r>
                        <a:rPr lang="en-US" sz="1400" dirty="0"/>
                        <a:t>CMP – compare 2 registers, turns on the ZERO_FLAG</a:t>
                      </a:r>
                      <a:endParaRPr lang="en-IL" sz="1400" dirty="0"/>
                    </a:p>
                  </a:txBody>
                  <a:tcPr/>
                </a:tc>
                <a:tc>
                  <a:txBody>
                    <a:bodyPr/>
                    <a:lstStyle/>
                    <a:p>
                      <a:pPr algn="ctr"/>
                      <a:r>
                        <a:rPr lang="en-US" sz="1400" dirty="0"/>
                        <a:t>1100</a:t>
                      </a:r>
                      <a:endParaRPr lang="en-IL" sz="1400" dirty="0"/>
                    </a:p>
                  </a:txBody>
                  <a:tcPr/>
                </a:tc>
                <a:extLst>
                  <a:ext uri="{0D108BD9-81ED-4DB2-BD59-A6C34878D82A}">
                    <a16:rowId xmlns:a16="http://schemas.microsoft.com/office/drawing/2014/main" val="504886811"/>
                  </a:ext>
                </a:extLst>
              </a:tr>
              <a:tr h="215008">
                <a:tc>
                  <a:txBody>
                    <a:bodyPr/>
                    <a:lstStyle/>
                    <a:p>
                      <a:pPr algn="ctr"/>
                      <a:r>
                        <a:rPr lang="en-US" sz="1400" dirty="0"/>
                        <a:t>MOV – moves data from one register to another</a:t>
                      </a:r>
                      <a:endParaRPr lang="en-IL" sz="1400" dirty="0"/>
                    </a:p>
                  </a:txBody>
                  <a:tcPr/>
                </a:tc>
                <a:tc>
                  <a:txBody>
                    <a:bodyPr/>
                    <a:lstStyle/>
                    <a:p>
                      <a:pPr algn="ctr"/>
                      <a:r>
                        <a:rPr lang="en-US" sz="1400" dirty="0"/>
                        <a:t>1101</a:t>
                      </a:r>
                      <a:endParaRPr lang="en-IL" sz="1400" dirty="0"/>
                    </a:p>
                  </a:txBody>
                  <a:tcPr/>
                </a:tc>
                <a:extLst>
                  <a:ext uri="{0D108BD9-81ED-4DB2-BD59-A6C34878D82A}">
                    <a16:rowId xmlns:a16="http://schemas.microsoft.com/office/drawing/2014/main" val="1621151493"/>
                  </a:ext>
                </a:extLst>
              </a:tr>
              <a:tr h="215008">
                <a:tc>
                  <a:txBody>
                    <a:bodyPr/>
                    <a:lstStyle/>
                    <a:p>
                      <a:pPr algn="ctr"/>
                      <a:r>
                        <a:rPr lang="en-US" sz="1400" dirty="0"/>
                        <a:t>JMP – jump to another instruction</a:t>
                      </a:r>
                      <a:endParaRPr lang="en-IL" sz="1400" dirty="0"/>
                    </a:p>
                  </a:txBody>
                  <a:tcPr/>
                </a:tc>
                <a:tc>
                  <a:txBody>
                    <a:bodyPr/>
                    <a:lstStyle/>
                    <a:p>
                      <a:pPr algn="ctr"/>
                      <a:r>
                        <a:rPr lang="en-US" sz="1400" dirty="0"/>
                        <a:t>1110</a:t>
                      </a:r>
                      <a:endParaRPr lang="en-IL" sz="1400" dirty="0"/>
                    </a:p>
                  </a:txBody>
                  <a:tcPr/>
                </a:tc>
                <a:extLst>
                  <a:ext uri="{0D108BD9-81ED-4DB2-BD59-A6C34878D82A}">
                    <a16:rowId xmlns:a16="http://schemas.microsoft.com/office/drawing/2014/main" val="399576290"/>
                  </a:ext>
                </a:extLst>
              </a:tr>
              <a:tr h="215008">
                <a:tc>
                  <a:txBody>
                    <a:bodyPr/>
                    <a:lstStyle/>
                    <a:p>
                      <a:pPr algn="ctr"/>
                      <a:r>
                        <a:rPr lang="en-US" sz="1400" dirty="0"/>
                        <a:t>JE – jump only if ZERO_FLAG is on by the previous instruction</a:t>
                      </a:r>
                      <a:endParaRPr lang="en-IL" sz="1400" dirty="0"/>
                    </a:p>
                  </a:txBody>
                  <a:tcPr/>
                </a:tc>
                <a:tc>
                  <a:txBody>
                    <a:bodyPr/>
                    <a:lstStyle/>
                    <a:p>
                      <a:pPr algn="ctr"/>
                      <a:r>
                        <a:rPr lang="en-US" sz="1400" dirty="0"/>
                        <a:t>1111</a:t>
                      </a:r>
                      <a:endParaRPr lang="en-IL" sz="1400" dirty="0"/>
                    </a:p>
                  </a:txBody>
                  <a:tcPr/>
                </a:tc>
                <a:extLst>
                  <a:ext uri="{0D108BD9-81ED-4DB2-BD59-A6C34878D82A}">
                    <a16:rowId xmlns:a16="http://schemas.microsoft.com/office/drawing/2014/main" val="2525088378"/>
                  </a:ext>
                </a:extLst>
              </a:tr>
              <a:tr h="215008">
                <a:tc>
                  <a:txBody>
                    <a:bodyPr/>
                    <a:lstStyle/>
                    <a:p>
                      <a:pPr algn="ctr"/>
                      <a:endParaRPr lang="en-IL" sz="1400" dirty="0"/>
                    </a:p>
                  </a:txBody>
                  <a:tcPr/>
                </a:tc>
                <a:tc>
                  <a:txBody>
                    <a:bodyPr/>
                    <a:lstStyle/>
                    <a:p>
                      <a:pPr algn="ctr"/>
                      <a:endParaRPr lang="en-IL" sz="1400" dirty="0"/>
                    </a:p>
                  </a:txBody>
                  <a:tcPr/>
                </a:tc>
                <a:extLst>
                  <a:ext uri="{0D108BD9-81ED-4DB2-BD59-A6C34878D82A}">
                    <a16:rowId xmlns:a16="http://schemas.microsoft.com/office/drawing/2014/main" val="3169354556"/>
                  </a:ext>
                </a:extLst>
              </a:tr>
            </a:tbl>
          </a:graphicData>
        </a:graphic>
      </p:graphicFrame>
      <p:sp>
        <p:nvSpPr>
          <p:cNvPr id="2" name="TextBox 1">
            <a:extLst>
              <a:ext uri="{FF2B5EF4-FFF2-40B4-BE49-F238E27FC236}">
                <a16:creationId xmlns:a16="http://schemas.microsoft.com/office/drawing/2014/main" id="{7C84CD4C-443D-AFE9-1C50-08A1FBFE6B85}"/>
              </a:ext>
            </a:extLst>
          </p:cNvPr>
          <p:cNvSpPr txBox="1"/>
          <p:nvPr/>
        </p:nvSpPr>
        <p:spPr>
          <a:xfrm>
            <a:off x="350252" y="5798227"/>
            <a:ext cx="10269081" cy="369332"/>
          </a:xfrm>
          <a:prstGeom prst="rect">
            <a:avLst/>
          </a:prstGeom>
          <a:noFill/>
        </p:spPr>
        <p:txBody>
          <a:bodyPr wrap="square" rtlCol="0">
            <a:spAutoFit/>
          </a:bodyPr>
          <a:lstStyle/>
          <a:p>
            <a:r>
              <a:rPr lang="en-US" dirty="0"/>
              <a:t>*Note: classical RISC CPUs are usually 32bit, meaning they support way more instructions.</a:t>
            </a:r>
          </a:p>
        </p:txBody>
      </p:sp>
    </p:spTree>
    <p:extLst>
      <p:ext uri="{BB962C8B-B14F-4D97-AF65-F5344CB8AC3E}">
        <p14:creationId xmlns:p14="http://schemas.microsoft.com/office/powerpoint/2010/main" val="1495122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9BC5-A94A-C1FF-EB90-878AC9CB42A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8EE83E9-40FD-43CC-8DC5-C667AD993935}"/>
              </a:ext>
            </a:extLst>
          </p:cNvPr>
          <p:cNvSpPr>
            <a:spLocks noGrp="1"/>
          </p:cNvSpPr>
          <p:nvPr>
            <p:ph type="sldNum" sz="quarter" idx="13"/>
          </p:nvPr>
        </p:nvSpPr>
        <p:spPr/>
        <p:txBody>
          <a:bodyPr/>
          <a:lstStyle/>
          <a:p>
            <a:pPr rtl="0"/>
            <a:fld id="{A49DFD55-3C28-40EF-9E31-A92D2E4017FF}" type="slidenum">
              <a:rPr lang="ru-RU" smtClean="0"/>
              <a:pPr rtl="0"/>
              <a:t>8</a:t>
            </a:fld>
            <a:endParaRPr lang="ru-RU" dirty="0"/>
          </a:p>
        </p:txBody>
      </p:sp>
      <p:sp>
        <p:nvSpPr>
          <p:cNvPr id="8" name="Заголовок 1">
            <a:extLst>
              <a:ext uri="{FF2B5EF4-FFF2-40B4-BE49-F238E27FC236}">
                <a16:creationId xmlns:a16="http://schemas.microsoft.com/office/drawing/2014/main" id="{57BB9397-EE8B-324E-CEB9-147517C934CD}"/>
              </a:ext>
            </a:extLst>
          </p:cNvPr>
          <p:cNvSpPr>
            <a:spLocks noGrp="1"/>
          </p:cNvSpPr>
          <p:nvPr>
            <p:ph type="title"/>
          </p:nvPr>
        </p:nvSpPr>
        <p:spPr>
          <a:xfrm>
            <a:off x="350252" y="295527"/>
            <a:ext cx="5876109" cy="543518"/>
          </a:xfrm>
        </p:spPr>
        <p:txBody>
          <a:bodyPr rtlCol="0"/>
          <a:lstStyle>
            <a:defPPr>
              <a:defRPr lang="ru-RU"/>
            </a:defPPr>
          </a:lstStyle>
          <a:p>
            <a:pPr rtl="0"/>
            <a:r>
              <a:rPr lang="en-US" cap="none" dirty="0">
                <a:latin typeface="+mj-lt"/>
              </a:rPr>
              <a:t>Registers</a:t>
            </a:r>
            <a:endParaRPr lang="ru-RU" dirty="0">
              <a:latin typeface="+mj-lt"/>
            </a:endParaRPr>
          </a:p>
        </p:txBody>
      </p:sp>
      <p:sp>
        <p:nvSpPr>
          <p:cNvPr id="4" name="TextBox 3">
            <a:extLst>
              <a:ext uri="{FF2B5EF4-FFF2-40B4-BE49-F238E27FC236}">
                <a16:creationId xmlns:a16="http://schemas.microsoft.com/office/drawing/2014/main" id="{0D43DDFB-ECDC-375D-1C78-4537F512DFC0}"/>
              </a:ext>
            </a:extLst>
          </p:cNvPr>
          <p:cNvSpPr txBox="1"/>
          <p:nvPr/>
        </p:nvSpPr>
        <p:spPr>
          <a:xfrm>
            <a:off x="350252" y="1036165"/>
            <a:ext cx="10269081" cy="4247317"/>
          </a:xfrm>
          <a:prstGeom prst="rect">
            <a:avLst/>
          </a:prstGeom>
          <a:noFill/>
        </p:spPr>
        <p:txBody>
          <a:bodyPr wrap="square" rtlCol="0">
            <a:spAutoFit/>
          </a:bodyPr>
          <a:lstStyle/>
          <a:p>
            <a:r>
              <a:rPr lang="en-US" dirty="0"/>
              <a:t>As discussed before, registers is our main working unit, almost every operation has something to do with a register. Some things worth mentioning:</a:t>
            </a:r>
          </a:p>
          <a:p>
            <a:endParaRPr lang="en-US" dirty="0"/>
          </a:p>
          <a:p>
            <a:r>
              <a:rPr lang="en-US" dirty="0"/>
              <a:t>In the diagram above I showed 4 registers, but that’s not the entire truth, there are many registers around the CPU, but not all of them are available to the programmer, for example:</a:t>
            </a:r>
          </a:p>
          <a:p>
            <a:r>
              <a:rPr lang="en-US" dirty="0"/>
              <a:t>Flags register – to track various flags, </a:t>
            </a:r>
            <a:r>
              <a:rPr lang="en-US" dirty="0" err="1"/>
              <a:t>zero_flag</a:t>
            </a:r>
            <a:r>
              <a:rPr lang="en-US" dirty="0"/>
              <a:t>, </a:t>
            </a:r>
            <a:r>
              <a:rPr lang="en-US" dirty="0" err="1"/>
              <a:t>overflow_flag</a:t>
            </a:r>
            <a:r>
              <a:rPr lang="en-US" dirty="0"/>
              <a:t>, </a:t>
            </a:r>
            <a:r>
              <a:rPr lang="en-US" dirty="0" err="1"/>
              <a:t>sign_flag</a:t>
            </a:r>
            <a:r>
              <a:rPr lang="en-US" dirty="0"/>
              <a:t>.</a:t>
            </a:r>
          </a:p>
          <a:p>
            <a:r>
              <a:rPr lang="en-US" dirty="0"/>
              <a:t>Instruction Counter – points to the current instruction on the stack.</a:t>
            </a:r>
          </a:p>
          <a:p>
            <a:endParaRPr lang="en-US" dirty="0"/>
          </a:p>
          <a:p>
            <a:r>
              <a:rPr lang="en-US" dirty="0"/>
              <a:t>Modern RISC processors may have many utility registers that could be: timers, loop counters, communication with </a:t>
            </a:r>
            <a:r>
              <a:rPr lang="en-US" dirty="0" err="1"/>
              <a:t>pherifiral</a:t>
            </a:r>
            <a:r>
              <a:rPr lang="en-US" dirty="0"/>
              <a:t> devices, </a:t>
            </a:r>
            <a:r>
              <a:rPr lang="en-US" dirty="0" err="1"/>
              <a:t>etc</a:t>
            </a:r>
            <a:r>
              <a:rPr lang="en-US" dirty="0"/>
              <a:t>…</a:t>
            </a:r>
          </a:p>
          <a:p>
            <a:endParaRPr lang="en-US" dirty="0"/>
          </a:p>
          <a:p>
            <a:r>
              <a:rPr lang="en-US" dirty="0"/>
              <a:t>Some RISC architectures choose to have static registers for each ALU, for example R1 and R2 are always connected to ALU_1 and only to it.</a:t>
            </a:r>
          </a:p>
          <a:p>
            <a:endParaRPr lang="en-US" dirty="0"/>
          </a:p>
          <a:p>
            <a:r>
              <a:rPr lang="en-US" dirty="0"/>
              <a:t>I made an arbitrary choice of 4 free use registers. </a:t>
            </a:r>
          </a:p>
        </p:txBody>
      </p:sp>
    </p:spTree>
    <p:extLst>
      <p:ext uri="{BB962C8B-B14F-4D97-AF65-F5344CB8AC3E}">
        <p14:creationId xmlns:p14="http://schemas.microsoft.com/office/powerpoint/2010/main" val="372065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296DBA6-76A1-E4C4-65E0-299D02B55A81}"/>
              </a:ext>
            </a:extLst>
          </p:cNvPr>
          <p:cNvSpPr>
            <a:spLocks noGrp="1"/>
          </p:cNvSpPr>
          <p:nvPr>
            <p:ph type="sldNum" sz="quarter" idx="13"/>
          </p:nvPr>
        </p:nvSpPr>
        <p:spPr/>
        <p:txBody>
          <a:bodyPr/>
          <a:lstStyle/>
          <a:p>
            <a:pPr rtl="0"/>
            <a:fld id="{A49DFD55-3C28-40EF-9E31-A92D2E4017FF}" type="slidenum">
              <a:rPr lang="ru-RU" smtClean="0"/>
              <a:pPr rtl="0"/>
              <a:t>9</a:t>
            </a:fld>
            <a:endParaRPr lang="ru-RU" dirty="0"/>
          </a:p>
        </p:txBody>
      </p:sp>
      <p:sp>
        <p:nvSpPr>
          <p:cNvPr id="8" name="Заголовок 1">
            <a:extLst>
              <a:ext uri="{FF2B5EF4-FFF2-40B4-BE49-F238E27FC236}">
                <a16:creationId xmlns:a16="http://schemas.microsoft.com/office/drawing/2014/main" id="{A54348D5-F1A8-22F0-1D62-7F91B5739722}"/>
              </a:ext>
            </a:extLst>
          </p:cNvPr>
          <p:cNvSpPr>
            <a:spLocks noGrp="1"/>
          </p:cNvSpPr>
          <p:nvPr>
            <p:ph type="title"/>
          </p:nvPr>
        </p:nvSpPr>
        <p:spPr>
          <a:xfrm>
            <a:off x="219891" y="146306"/>
            <a:ext cx="5876109" cy="543518"/>
          </a:xfrm>
        </p:spPr>
        <p:txBody>
          <a:bodyPr rtlCol="0"/>
          <a:lstStyle>
            <a:defPPr>
              <a:defRPr lang="ru-RU"/>
            </a:defPPr>
          </a:lstStyle>
          <a:p>
            <a:pPr algn="l"/>
            <a:r>
              <a:rPr lang="en-US" cap="none" dirty="0">
                <a:latin typeface="+mn-lt"/>
              </a:rPr>
              <a:t>CPU Pipeline</a:t>
            </a:r>
            <a:endParaRPr lang="ru-RU" cap="none" dirty="0">
              <a:latin typeface="+mn-lt"/>
            </a:endParaRPr>
          </a:p>
        </p:txBody>
      </p:sp>
      <p:sp>
        <p:nvSpPr>
          <p:cNvPr id="9" name="Номер слайда 67">
            <a:extLst>
              <a:ext uri="{FF2B5EF4-FFF2-40B4-BE49-F238E27FC236}">
                <a16:creationId xmlns:a16="http://schemas.microsoft.com/office/drawing/2014/main" id="{43AF2F78-340C-03DB-6A52-57F1BBAC6273}"/>
              </a:ext>
            </a:extLst>
          </p:cNvPr>
          <p:cNvSpPr txBox="1">
            <a:spLocks/>
          </p:cNvSpPr>
          <p:nvPr/>
        </p:nvSpPr>
        <p:spPr>
          <a:xfrm>
            <a:off x="10373350" y="6356349"/>
            <a:ext cx="987552" cy="365125"/>
          </a:xfrm>
          <a:prstGeom prst="rect">
            <a:avLst/>
          </a:prstGeom>
        </p:spPr>
        <p:txBody>
          <a:bodyPr vert="horz" lIns="91440" tIns="45720" rIns="91440" bIns="45720" rtlCol="0" anchor="ctr"/>
          <a:lstStyle>
            <a:defPPr rtl="0">
              <a:defRPr lang="ru-RU"/>
            </a:defPPr>
            <a:lvl1pPr marL="0" algn="r" defTabSz="914400" rtl="0" eaLnBrk="1" latinLnBrk="0" hangingPunct="1">
              <a:defRPr lang="ru-RU" sz="900" kern="1200">
                <a:solidFill>
                  <a:schemeClr val="tx1">
                    <a:tint val="75000"/>
                  </a:schemeClr>
                </a:solidFill>
                <a:latin typeface="Arial" panose="020B0604020202020204" pitchFamily="34" charset="0"/>
                <a:ea typeface="+mn-ea"/>
                <a:cs typeface="+mn-cs"/>
              </a:defRPr>
            </a:lvl1pPr>
            <a:lvl2pPr marL="457200" algn="l" defTabSz="914400" rtl="0" eaLnBrk="1" latinLnBrk="0" hangingPunct="1">
              <a:defRPr lang="ru-RU" sz="1800" kern="1200">
                <a:solidFill>
                  <a:schemeClr val="tx1"/>
                </a:solidFill>
                <a:latin typeface="+mn-lt"/>
                <a:ea typeface="+mn-ea"/>
                <a:cs typeface="+mn-cs"/>
              </a:defRPr>
            </a:lvl2pPr>
            <a:lvl3pPr marL="914400" algn="l" defTabSz="914400" rtl="0" eaLnBrk="1" latinLnBrk="0" hangingPunct="1">
              <a:defRPr lang="ru-RU" sz="1800" kern="1200">
                <a:solidFill>
                  <a:schemeClr val="tx1"/>
                </a:solidFill>
                <a:latin typeface="+mn-lt"/>
                <a:ea typeface="+mn-ea"/>
                <a:cs typeface="+mn-cs"/>
              </a:defRPr>
            </a:lvl3pPr>
            <a:lvl4pPr marL="1371600" algn="l" defTabSz="914400" rtl="0" eaLnBrk="1" latinLnBrk="0" hangingPunct="1">
              <a:defRPr lang="ru-RU" sz="1800" kern="1200">
                <a:solidFill>
                  <a:schemeClr val="tx1"/>
                </a:solidFill>
                <a:latin typeface="+mn-lt"/>
                <a:ea typeface="+mn-ea"/>
                <a:cs typeface="+mn-cs"/>
              </a:defRPr>
            </a:lvl4pPr>
            <a:lvl5pPr marL="1828800" algn="l" defTabSz="914400" rtl="0" eaLnBrk="1" latinLnBrk="0" hangingPunct="1">
              <a:defRPr lang="ru-RU" sz="1800" kern="1200">
                <a:solidFill>
                  <a:schemeClr val="tx1"/>
                </a:solidFill>
                <a:latin typeface="+mn-lt"/>
                <a:ea typeface="+mn-ea"/>
                <a:cs typeface="+mn-cs"/>
              </a:defRPr>
            </a:lvl5pPr>
            <a:lvl6pPr marL="2286000" algn="l" defTabSz="914400" rtl="0" eaLnBrk="1" latinLnBrk="0" hangingPunct="1">
              <a:defRPr lang="ru-RU" sz="1800" kern="1200">
                <a:solidFill>
                  <a:schemeClr val="tx1"/>
                </a:solidFill>
                <a:latin typeface="+mn-lt"/>
                <a:ea typeface="+mn-ea"/>
                <a:cs typeface="+mn-cs"/>
              </a:defRPr>
            </a:lvl6pPr>
            <a:lvl7pPr marL="2743200" algn="l" defTabSz="914400" rtl="0" eaLnBrk="1" latinLnBrk="0" hangingPunct="1">
              <a:defRPr lang="ru-RU" sz="1800" kern="1200">
                <a:solidFill>
                  <a:schemeClr val="tx1"/>
                </a:solidFill>
                <a:latin typeface="+mn-lt"/>
                <a:ea typeface="+mn-ea"/>
                <a:cs typeface="+mn-cs"/>
              </a:defRPr>
            </a:lvl7pPr>
            <a:lvl8pPr marL="3200400" algn="l" defTabSz="914400" rtl="0" eaLnBrk="1" latinLnBrk="0" hangingPunct="1">
              <a:defRPr lang="ru-RU" sz="1800" kern="1200">
                <a:solidFill>
                  <a:schemeClr val="tx1"/>
                </a:solidFill>
                <a:latin typeface="+mn-lt"/>
                <a:ea typeface="+mn-ea"/>
                <a:cs typeface="+mn-cs"/>
              </a:defRPr>
            </a:lvl8pPr>
            <a:lvl9pPr marL="3657600" algn="l" defTabSz="914400" rtl="0" eaLnBrk="1" latinLnBrk="0" hangingPunct="1">
              <a:defRPr lang="ru-RU" sz="1800" kern="1200">
                <a:solidFill>
                  <a:schemeClr val="tx1"/>
                </a:solidFill>
                <a:latin typeface="+mn-lt"/>
                <a:ea typeface="+mn-ea"/>
                <a:cs typeface="+mn-cs"/>
              </a:defRPr>
            </a:lvl9pPr>
          </a:lstStyle>
          <a:p>
            <a:fld id="{A49DFD55-3C28-40EF-9E31-A92D2E4017FF}" type="slidenum">
              <a:rPr lang="ru-RU" smtClean="0"/>
              <a:pPr/>
              <a:t>9</a:t>
            </a:fld>
            <a:endParaRPr lang="ru-RU" dirty="0"/>
          </a:p>
        </p:txBody>
      </p:sp>
      <p:sp>
        <p:nvSpPr>
          <p:cNvPr id="12" name="Заголовок 1">
            <a:extLst>
              <a:ext uri="{FF2B5EF4-FFF2-40B4-BE49-F238E27FC236}">
                <a16:creationId xmlns:a16="http://schemas.microsoft.com/office/drawing/2014/main" id="{88D81FE0-1E9A-E8B7-D4A0-DCA63B091321}"/>
              </a:ext>
            </a:extLst>
          </p:cNvPr>
          <p:cNvSpPr txBox="1">
            <a:spLocks/>
          </p:cNvSpPr>
          <p:nvPr/>
        </p:nvSpPr>
        <p:spPr>
          <a:xfrm>
            <a:off x="5692138" y="1698171"/>
            <a:ext cx="5876109" cy="3363686"/>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pPr marL="457200" indent="-457200">
              <a:buFont typeface="Arial" panose="020B0604020202020204" pitchFamily="34" charset="0"/>
              <a:buChar char="•"/>
            </a:pPr>
            <a:endParaRPr lang="he-IL" dirty="0"/>
          </a:p>
        </p:txBody>
      </p:sp>
      <p:sp>
        <p:nvSpPr>
          <p:cNvPr id="13" name="TextBox 12">
            <a:extLst>
              <a:ext uri="{FF2B5EF4-FFF2-40B4-BE49-F238E27FC236}">
                <a16:creationId xmlns:a16="http://schemas.microsoft.com/office/drawing/2014/main" id="{622E47D1-0548-50C5-0CE2-1C74888C892A}"/>
              </a:ext>
            </a:extLst>
          </p:cNvPr>
          <p:cNvSpPr txBox="1"/>
          <p:nvPr/>
        </p:nvSpPr>
        <p:spPr>
          <a:xfrm>
            <a:off x="225389" y="1734074"/>
            <a:ext cx="11135513" cy="2554545"/>
          </a:xfrm>
          <a:prstGeom prst="rect">
            <a:avLst/>
          </a:prstGeom>
          <a:noFill/>
        </p:spPr>
        <p:txBody>
          <a:bodyPr wrap="square" rtlCol="0">
            <a:spAutoFit/>
          </a:bodyPr>
          <a:lstStyle/>
          <a:p>
            <a:pPr marL="285750" indent="-285750" algn="l">
              <a:buFont typeface="Arial" panose="020B0604020202020204" pitchFamily="34" charset="0"/>
              <a:buChar char="•"/>
            </a:pPr>
            <a:r>
              <a:rPr lang="en-US" sz="1600" u="sng" dirty="0"/>
              <a:t>Fetch</a:t>
            </a:r>
            <a:r>
              <a:rPr lang="en-US" sz="1600" dirty="0"/>
              <a:t> – The next instructions get fetched from the Hazard Unit by the Control Unit.</a:t>
            </a:r>
          </a:p>
          <a:p>
            <a:pPr marL="285750" indent="-285750" algn="l">
              <a:buFont typeface="Arial" panose="020B0604020202020204" pitchFamily="34" charset="0"/>
              <a:buChar char="•"/>
            </a:pPr>
            <a:endParaRPr lang="en-US" sz="1600" dirty="0"/>
          </a:p>
          <a:p>
            <a:pPr marL="285750" indent="-285750" algn="l">
              <a:buFont typeface="Arial" panose="020B0604020202020204" pitchFamily="34" charset="0"/>
              <a:buChar char="•"/>
            </a:pPr>
            <a:r>
              <a:rPr lang="en-US" sz="1600" u="sng" dirty="0"/>
              <a:t>Decode</a:t>
            </a:r>
            <a:r>
              <a:rPr lang="en-US" sz="1600" dirty="0"/>
              <a:t> – The Control Unit breaks the instruction down and gets the relevant components ready</a:t>
            </a:r>
          </a:p>
          <a:p>
            <a:pPr marL="285750" indent="-285750" algn="l">
              <a:buFont typeface="Arial" panose="020B0604020202020204" pitchFamily="34" charset="0"/>
              <a:buChar char="•"/>
            </a:pPr>
            <a:endParaRPr lang="en-US" sz="1600" dirty="0"/>
          </a:p>
          <a:p>
            <a:pPr marL="285750" indent="-285750" algn="l">
              <a:buFont typeface="Arial" panose="020B0604020202020204" pitchFamily="34" charset="0"/>
              <a:buChar char="•"/>
            </a:pPr>
            <a:r>
              <a:rPr lang="en-US" sz="1600" u="sng" dirty="0"/>
              <a:t>Execute</a:t>
            </a:r>
            <a:r>
              <a:rPr lang="en-US" sz="1600" dirty="0"/>
              <a:t> – Instruction logic gets executed</a:t>
            </a:r>
          </a:p>
          <a:p>
            <a:pPr marL="285750" indent="-285750" algn="l">
              <a:buFont typeface="Arial" panose="020B0604020202020204" pitchFamily="34" charset="0"/>
              <a:buChar char="•"/>
            </a:pPr>
            <a:endParaRPr lang="en-US" sz="1600" dirty="0"/>
          </a:p>
          <a:p>
            <a:pPr marL="285750" indent="-285750" algn="l">
              <a:buFont typeface="Arial" panose="020B0604020202020204" pitchFamily="34" charset="0"/>
              <a:buChar char="•"/>
            </a:pPr>
            <a:r>
              <a:rPr lang="en-US" sz="1600" u="sng" dirty="0"/>
              <a:t>Writeback</a:t>
            </a:r>
            <a:r>
              <a:rPr lang="en-US" sz="1600" dirty="0"/>
              <a:t> – Result is written to the instruction target</a:t>
            </a:r>
          </a:p>
          <a:p>
            <a:pPr marL="285750" indent="-285750" algn="l">
              <a:buFont typeface="Arial" panose="020B0604020202020204" pitchFamily="34" charset="0"/>
              <a:buChar char="•"/>
            </a:pPr>
            <a:endParaRPr lang="en-US" sz="1600" dirty="0"/>
          </a:p>
          <a:p>
            <a:pPr algn="l"/>
            <a:r>
              <a:rPr lang="en-US" sz="1600" dirty="0"/>
              <a:t>*Note: Classic RISC have a fifth stage, </a:t>
            </a:r>
            <a:r>
              <a:rPr lang="en-US" sz="1600" u="sng" dirty="0"/>
              <a:t>memory</a:t>
            </a:r>
            <a:r>
              <a:rPr lang="en-US" sz="1600" dirty="0"/>
              <a:t> between exec and writeback, It works on memory operations (LOAD, STORE)</a:t>
            </a:r>
          </a:p>
          <a:p>
            <a:pPr algn="l"/>
            <a:r>
              <a:rPr lang="en-US" sz="1600" dirty="0"/>
              <a:t>On our custom RISC, this happens on execute. This approach might scale worse, but for our small project will suffice.</a:t>
            </a:r>
          </a:p>
        </p:txBody>
      </p:sp>
      <p:grpSp>
        <p:nvGrpSpPr>
          <p:cNvPr id="3" name="Group 2">
            <a:extLst>
              <a:ext uri="{FF2B5EF4-FFF2-40B4-BE49-F238E27FC236}">
                <a16:creationId xmlns:a16="http://schemas.microsoft.com/office/drawing/2014/main" id="{5E6DF40C-4E61-1DC3-5C04-1C38F8B7842E}"/>
              </a:ext>
            </a:extLst>
          </p:cNvPr>
          <p:cNvGrpSpPr/>
          <p:nvPr/>
        </p:nvGrpSpPr>
        <p:grpSpPr>
          <a:xfrm>
            <a:off x="50906" y="4562409"/>
            <a:ext cx="9512194" cy="2003491"/>
            <a:chOff x="50906" y="4562409"/>
            <a:chExt cx="9512194" cy="2003491"/>
          </a:xfrm>
        </p:grpSpPr>
        <p:sp>
          <p:nvSpPr>
            <p:cNvPr id="2" name="Rectangle 1">
              <a:extLst>
                <a:ext uri="{FF2B5EF4-FFF2-40B4-BE49-F238E27FC236}">
                  <a16:creationId xmlns:a16="http://schemas.microsoft.com/office/drawing/2014/main" id="{4A588F25-8F2F-1A88-3EBF-BDF5CA0435CD}"/>
                </a:ext>
              </a:extLst>
            </p:cNvPr>
            <p:cNvSpPr/>
            <p:nvPr/>
          </p:nvSpPr>
          <p:spPr>
            <a:xfrm>
              <a:off x="843987" y="5061856"/>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Fetch</a:t>
              </a:r>
              <a:endParaRPr lang="ru-RU" dirty="0">
                <a:solidFill>
                  <a:schemeClr val="tx1"/>
                </a:solidFill>
              </a:endParaRPr>
            </a:p>
          </p:txBody>
        </p:sp>
        <p:sp>
          <p:nvSpPr>
            <p:cNvPr id="10" name="Rectangle 9">
              <a:extLst>
                <a:ext uri="{FF2B5EF4-FFF2-40B4-BE49-F238E27FC236}">
                  <a16:creationId xmlns:a16="http://schemas.microsoft.com/office/drawing/2014/main" id="{8E9DE3C2-3EAE-0A05-BE9F-7B4362DF0C49}"/>
                </a:ext>
              </a:extLst>
            </p:cNvPr>
            <p:cNvSpPr/>
            <p:nvPr/>
          </p:nvSpPr>
          <p:spPr>
            <a:xfrm>
              <a:off x="2306111" y="5061854"/>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Decode</a:t>
              </a:r>
              <a:endParaRPr lang="ru-RU" dirty="0">
                <a:solidFill>
                  <a:schemeClr val="tx1"/>
                </a:solidFill>
              </a:endParaRPr>
            </a:p>
          </p:txBody>
        </p:sp>
        <p:sp>
          <p:nvSpPr>
            <p:cNvPr id="15" name="Rectangle 14">
              <a:extLst>
                <a:ext uri="{FF2B5EF4-FFF2-40B4-BE49-F238E27FC236}">
                  <a16:creationId xmlns:a16="http://schemas.microsoft.com/office/drawing/2014/main" id="{A00D59E9-E1D5-56E3-D66F-CDE73EB8CAC7}"/>
                </a:ext>
              </a:extLst>
            </p:cNvPr>
            <p:cNvSpPr/>
            <p:nvPr/>
          </p:nvSpPr>
          <p:spPr>
            <a:xfrm>
              <a:off x="5224281" y="5062030"/>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WriteBack</a:t>
              </a:r>
              <a:endParaRPr lang="ru-RU" dirty="0">
                <a:solidFill>
                  <a:schemeClr val="tx1"/>
                </a:solidFill>
              </a:endParaRPr>
            </a:p>
          </p:txBody>
        </p:sp>
        <p:sp>
          <p:nvSpPr>
            <p:cNvPr id="16" name="Rectangle 15">
              <a:extLst>
                <a:ext uri="{FF2B5EF4-FFF2-40B4-BE49-F238E27FC236}">
                  <a16:creationId xmlns:a16="http://schemas.microsoft.com/office/drawing/2014/main" id="{5E585E78-A7EB-0EA8-460B-A4300BBCB0E7}"/>
                </a:ext>
              </a:extLst>
            </p:cNvPr>
            <p:cNvSpPr/>
            <p:nvPr/>
          </p:nvSpPr>
          <p:spPr>
            <a:xfrm>
              <a:off x="3763781" y="5061854"/>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Execute</a:t>
              </a:r>
              <a:endParaRPr lang="ru-RU" dirty="0">
                <a:solidFill>
                  <a:schemeClr val="tx1"/>
                </a:solidFill>
              </a:endParaRPr>
            </a:p>
          </p:txBody>
        </p:sp>
        <p:sp>
          <p:nvSpPr>
            <p:cNvPr id="22" name="Rectangle 21">
              <a:extLst>
                <a:ext uri="{FF2B5EF4-FFF2-40B4-BE49-F238E27FC236}">
                  <a16:creationId xmlns:a16="http://schemas.microsoft.com/office/drawing/2014/main" id="{6F4892EA-7BB0-8F9C-7035-C460945553FA}"/>
                </a:ext>
              </a:extLst>
            </p:cNvPr>
            <p:cNvSpPr/>
            <p:nvPr/>
          </p:nvSpPr>
          <p:spPr>
            <a:xfrm>
              <a:off x="2306111" y="5522230"/>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Fetch</a:t>
              </a:r>
              <a:endParaRPr lang="ru-RU" dirty="0">
                <a:solidFill>
                  <a:schemeClr val="tx1"/>
                </a:solidFill>
              </a:endParaRPr>
            </a:p>
          </p:txBody>
        </p:sp>
        <p:sp>
          <p:nvSpPr>
            <p:cNvPr id="23" name="Rectangle 22">
              <a:extLst>
                <a:ext uri="{FF2B5EF4-FFF2-40B4-BE49-F238E27FC236}">
                  <a16:creationId xmlns:a16="http://schemas.microsoft.com/office/drawing/2014/main" id="{5277355A-CD17-BD93-BE9F-1E6505211BC1}"/>
                </a:ext>
              </a:extLst>
            </p:cNvPr>
            <p:cNvSpPr/>
            <p:nvPr/>
          </p:nvSpPr>
          <p:spPr>
            <a:xfrm>
              <a:off x="3768235" y="5522228"/>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Decode</a:t>
              </a:r>
              <a:endParaRPr lang="ru-RU" dirty="0">
                <a:solidFill>
                  <a:schemeClr val="tx1"/>
                </a:solidFill>
              </a:endParaRPr>
            </a:p>
          </p:txBody>
        </p:sp>
        <p:sp>
          <p:nvSpPr>
            <p:cNvPr id="25" name="Rectangle 24">
              <a:extLst>
                <a:ext uri="{FF2B5EF4-FFF2-40B4-BE49-F238E27FC236}">
                  <a16:creationId xmlns:a16="http://schemas.microsoft.com/office/drawing/2014/main" id="{8421398D-66FF-D535-32B6-81E91CBCD0C2}"/>
                </a:ext>
              </a:extLst>
            </p:cNvPr>
            <p:cNvSpPr/>
            <p:nvPr/>
          </p:nvSpPr>
          <p:spPr>
            <a:xfrm>
              <a:off x="6683157" y="5517644"/>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WriteBack</a:t>
              </a:r>
              <a:endParaRPr lang="ru-RU" dirty="0">
                <a:solidFill>
                  <a:schemeClr val="tx1"/>
                </a:solidFill>
              </a:endParaRPr>
            </a:p>
          </p:txBody>
        </p:sp>
        <p:sp>
          <p:nvSpPr>
            <p:cNvPr id="26" name="Rectangle 25">
              <a:extLst>
                <a:ext uri="{FF2B5EF4-FFF2-40B4-BE49-F238E27FC236}">
                  <a16:creationId xmlns:a16="http://schemas.microsoft.com/office/drawing/2014/main" id="{AD883687-2FDB-84CC-EF82-8E3CC65DCD4A}"/>
                </a:ext>
              </a:extLst>
            </p:cNvPr>
            <p:cNvSpPr/>
            <p:nvPr/>
          </p:nvSpPr>
          <p:spPr>
            <a:xfrm>
              <a:off x="5221033" y="5517644"/>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Execute</a:t>
              </a:r>
              <a:endParaRPr lang="ru-RU" dirty="0">
                <a:solidFill>
                  <a:schemeClr val="tx1"/>
                </a:solidFill>
              </a:endParaRPr>
            </a:p>
          </p:txBody>
        </p:sp>
        <p:sp>
          <p:nvSpPr>
            <p:cNvPr id="27" name="Rectangle 26">
              <a:extLst>
                <a:ext uri="{FF2B5EF4-FFF2-40B4-BE49-F238E27FC236}">
                  <a16:creationId xmlns:a16="http://schemas.microsoft.com/office/drawing/2014/main" id="{7F3D24ED-92C4-4915-B77A-0E9EB102D133}"/>
                </a:ext>
              </a:extLst>
            </p:cNvPr>
            <p:cNvSpPr/>
            <p:nvPr/>
          </p:nvSpPr>
          <p:spPr>
            <a:xfrm>
              <a:off x="3768235" y="5982604"/>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Fetch</a:t>
              </a:r>
              <a:endParaRPr lang="ru-RU" dirty="0">
                <a:solidFill>
                  <a:schemeClr val="tx1"/>
                </a:solidFill>
              </a:endParaRPr>
            </a:p>
          </p:txBody>
        </p:sp>
        <p:sp>
          <p:nvSpPr>
            <p:cNvPr id="28" name="Rectangle 27">
              <a:extLst>
                <a:ext uri="{FF2B5EF4-FFF2-40B4-BE49-F238E27FC236}">
                  <a16:creationId xmlns:a16="http://schemas.microsoft.com/office/drawing/2014/main" id="{1A87CE30-F0B4-531A-B87F-AD0179830D34}"/>
                </a:ext>
              </a:extLst>
            </p:cNvPr>
            <p:cNvSpPr/>
            <p:nvPr/>
          </p:nvSpPr>
          <p:spPr>
            <a:xfrm>
              <a:off x="5230359" y="5982602"/>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Decode</a:t>
              </a:r>
              <a:endParaRPr lang="ru-RU" dirty="0">
                <a:solidFill>
                  <a:schemeClr val="tx1"/>
                </a:solidFill>
              </a:endParaRPr>
            </a:p>
          </p:txBody>
        </p:sp>
        <p:sp>
          <p:nvSpPr>
            <p:cNvPr id="30" name="Rectangle 29">
              <a:extLst>
                <a:ext uri="{FF2B5EF4-FFF2-40B4-BE49-F238E27FC236}">
                  <a16:creationId xmlns:a16="http://schemas.microsoft.com/office/drawing/2014/main" id="{FA491593-6D09-E81B-5643-89FBD8519717}"/>
                </a:ext>
              </a:extLst>
            </p:cNvPr>
            <p:cNvSpPr/>
            <p:nvPr/>
          </p:nvSpPr>
          <p:spPr>
            <a:xfrm>
              <a:off x="8145281" y="5973431"/>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WriteBack</a:t>
              </a:r>
              <a:endParaRPr lang="ru-RU" dirty="0">
                <a:solidFill>
                  <a:schemeClr val="tx1"/>
                </a:solidFill>
              </a:endParaRPr>
            </a:p>
          </p:txBody>
        </p:sp>
        <p:sp>
          <p:nvSpPr>
            <p:cNvPr id="31" name="Rectangle 30">
              <a:extLst>
                <a:ext uri="{FF2B5EF4-FFF2-40B4-BE49-F238E27FC236}">
                  <a16:creationId xmlns:a16="http://schemas.microsoft.com/office/drawing/2014/main" id="{9C57419E-52EB-2C2B-928A-C8626173A52E}"/>
                </a:ext>
              </a:extLst>
            </p:cNvPr>
            <p:cNvSpPr/>
            <p:nvPr/>
          </p:nvSpPr>
          <p:spPr>
            <a:xfrm>
              <a:off x="6683157" y="5973431"/>
              <a:ext cx="1365813" cy="373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Execute</a:t>
              </a:r>
              <a:endParaRPr lang="ru-RU" dirty="0">
                <a:solidFill>
                  <a:schemeClr val="tx1"/>
                </a:solidFill>
              </a:endParaRPr>
            </a:p>
          </p:txBody>
        </p:sp>
        <p:sp>
          <p:nvSpPr>
            <p:cNvPr id="37" name="TextBox 36">
              <a:extLst>
                <a:ext uri="{FF2B5EF4-FFF2-40B4-BE49-F238E27FC236}">
                  <a16:creationId xmlns:a16="http://schemas.microsoft.com/office/drawing/2014/main" id="{3697774E-0947-D970-85A9-4F25301C36F1}"/>
                </a:ext>
              </a:extLst>
            </p:cNvPr>
            <p:cNvSpPr txBox="1"/>
            <p:nvPr/>
          </p:nvSpPr>
          <p:spPr>
            <a:xfrm>
              <a:off x="99059" y="5061854"/>
              <a:ext cx="648617" cy="373743"/>
            </a:xfrm>
            <a:prstGeom prst="rect">
              <a:avLst/>
            </a:prstGeom>
            <a:noFill/>
          </p:spPr>
          <p:txBody>
            <a:bodyPr wrap="square" rtlCol="0">
              <a:spAutoFit/>
            </a:bodyPr>
            <a:lstStyle/>
            <a:p>
              <a:r>
                <a:rPr lang="en-US" dirty="0"/>
                <a:t>OP 1</a:t>
              </a:r>
              <a:endParaRPr lang="ru-RU" dirty="0"/>
            </a:p>
          </p:txBody>
        </p:sp>
        <p:sp>
          <p:nvSpPr>
            <p:cNvPr id="38" name="TextBox 37">
              <a:extLst>
                <a:ext uri="{FF2B5EF4-FFF2-40B4-BE49-F238E27FC236}">
                  <a16:creationId xmlns:a16="http://schemas.microsoft.com/office/drawing/2014/main" id="{ACBA9B36-AA6F-53CC-1D4A-FA79503DBD41}"/>
                </a:ext>
              </a:extLst>
            </p:cNvPr>
            <p:cNvSpPr txBox="1"/>
            <p:nvPr/>
          </p:nvSpPr>
          <p:spPr>
            <a:xfrm>
              <a:off x="99059" y="5553523"/>
              <a:ext cx="648617" cy="373743"/>
            </a:xfrm>
            <a:prstGeom prst="rect">
              <a:avLst/>
            </a:prstGeom>
            <a:noFill/>
          </p:spPr>
          <p:txBody>
            <a:bodyPr wrap="square" rtlCol="0">
              <a:spAutoFit/>
            </a:bodyPr>
            <a:lstStyle/>
            <a:p>
              <a:r>
                <a:rPr lang="en-US" dirty="0"/>
                <a:t>OP 2</a:t>
              </a:r>
              <a:endParaRPr lang="ru-RU" dirty="0"/>
            </a:p>
          </p:txBody>
        </p:sp>
        <p:sp>
          <p:nvSpPr>
            <p:cNvPr id="39" name="TextBox 38">
              <a:extLst>
                <a:ext uri="{FF2B5EF4-FFF2-40B4-BE49-F238E27FC236}">
                  <a16:creationId xmlns:a16="http://schemas.microsoft.com/office/drawing/2014/main" id="{B9C44707-0D0D-37F7-80BD-6B7A21E0F0E7}"/>
                </a:ext>
              </a:extLst>
            </p:cNvPr>
            <p:cNvSpPr txBox="1"/>
            <p:nvPr/>
          </p:nvSpPr>
          <p:spPr>
            <a:xfrm>
              <a:off x="99059" y="6045192"/>
              <a:ext cx="648617" cy="373743"/>
            </a:xfrm>
            <a:prstGeom prst="rect">
              <a:avLst/>
            </a:prstGeom>
            <a:noFill/>
          </p:spPr>
          <p:txBody>
            <a:bodyPr wrap="square" rtlCol="0">
              <a:spAutoFit/>
            </a:bodyPr>
            <a:lstStyle/>
            <a:p>
              <a:r>
                <a:rPr lang="en-US" dirty="0"/>
                <a:t>OP 3</a:t>
              </a:r>
              <a:endParaRPr lang="ru-RU" dirty="0"/>
            </a:p>
          </p:txBody>
        </p:sp>
        <p:cxnSp>
          <p:nvCxnSpPr>
            <p:cNvPr id="41" name="Straight Connector 40">
              <a:extLst>
                <a:ext uri="{FF2B5EF4-FFF2-40B4-BE49-F238E27FC236}">
                  <a16:creationId xmlns:a16="http://schemas.microsoft.com/office/drawing/2014/main" id="{B40F0709-F8EC-448C-E3A3-CA2E50CA7406}"/>
                </a:ext>
              </a:extLst>
            </p:cNvPr>
            <p:cNvCxnSpPr>
              <a:cxnSpLocks/>
            </p:cNvCxnSpPr>
            <p:nvPr/>
          </p:nvCxnSpPr>
          <p:spPr>
            <a:xfrm>
              <a:off x="747676" y="4943928"/>
              <a:ext cx="8815424" cy="0"/>
            </a:xfrm>
            <a:prstGeom prst="line">
              <a:avLst/>
            </a:prstGeom>
            <a:ln w="38100">
              <a:solidFill>
                <a:schemeClr val="bg2">
                  <a:lumMod val="1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CB3DEE3-6FB6-3984-6817-CA85CEAF30F7}"/>
                </a:ext>
              </a:extLst>
            </p:cNvPr>
            <p:cNvCxnSpPr>
              <a:cxnSpLocks/>
            </p:cNvCxnSpPr>
            <p:nvPr/>
          </p:nvCxnSpPr>
          <p:spPr>
            <a:xfrm>
              <a:off x="2260600" y="4572000"/>
              <a:ext cx="0" cy="193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6CE37FA-7529-935F-4F6D-1BF72968C604}"/>
                </a:ext>
              </a:extLst>
            </p:cNvPr>
            <p:cNvCxnSpPr>
              <a:cxnSpLocks/>
            </p:cNvCxnSpPr>
            <p:nvPr/>
          </p:nvCxnSpPr>
          <p:spPr>
            <a:xfrm>
              <a:off x="3721100" y="4584700"/>
              <a:ext cx="0" cy="193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F7CADE6-CC1F-5E47-2FFC-028478B9C4B3}"/>
                </a:ext>
              </a:extLst>
            </p:cNvPr>
            <p:cNvCxnSpPr>
              <a:cxnSpLocks/>
            </p:cNvCxnSpPr>
            <p:nvPr/>
          </p:nvCxnSpPr>
          <p:spPr>
            <a:xfrm>
              <a:off x="5181600" y="4597400"/>
              <a:ext cx="0" cy="193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D56E8F6-19D3-ED62-CE51-13D56A5EB6AA}"/>
                </a:ext>
              </a:extLst>
            </p:cNvPr>
            <p:cNvCxnSpPr>
              <a:cxnSpLocks/>
            </p:cNvCxnSpPr>
            <p:nvPr/>
          </p:nvCxnSpPr>
          <p:spPr>
            <a:xfrm>
              <a:off x="6642100" y="4610100"/>
              <a:ext cx="0" cy="193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2F80714-22FC-9032-FFBA-1EEA9831458F}"/>
                </a:ext>
              </a:extLst>
            </p:cNvPr>
            <p:cNvCxnSpPr>
              <a:cxnSpLocks/>
            </p:cNvCxnSpPr>
            <p:nvPr/>
          </p:nvCxnSpPr>
          <p:spPr>
            <a:xfrm>
              <a:off x="8102600" y="4622800"/>
              <a:ext cx="0" cy="193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9D97BC4-1DA9-C6E2-B077-6FEFD019AA52}"/>
                </a:ext>
              </a:extLst>
            </p:cNvPr>
            <p:cNvCxnSpPr>
              <a:cxnSpLocks/>
            </p:cNvCxnSpPr>
            <p:nvPr/>
          </p:nvCxnSpPr>
          <p:spPr>
            <a:xfrm>
              <a:off x="9563100" y="4635500"/>
              <a:ext cx="0" cy="193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80C23996-2AD9-0E6B-BB0F-E4182AA4D689}"/>
                </a:ext>
              </a:extLst>
            </p:cNvPr>
            <p:cNvSpPr txBox="1"/>
            <p:nvPr/>
          </p:nvSpPr>
          <p:spPr>
            <a:xfrm>
              <a:off x="50906" y="4562409"/>
              <a:ext cx="744921" cy="369332"/>
            </a:xfrm>
            <a:prstGeom prst="rect">
              <a:avLst/>
            </a:prstGeom>
            <a:noFill/>
          </p:spPr>
          <p:txBody>
            <a:bodyPr wrap="square" rtlCol="0">
              <a:spAutoFit/>
            </a:bodyPr>
            <a:lstStyle/>
            <a:p>
              <a:r>
                <a:rPr lang="en-US" dirty="0"/>
                <a:t>clock</a:t>
              </a:r>
              <a:endParaRPr lang="ru-RU" dirty="0"/>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DA3395A-A4F8-6F8A-8AFF-69AC9E8A1BC1}"/>
                    </a:ext>
                  </a:extLst>
                </p:cNvPr>
                <p:cNvSpPr txBox="1"/>
                <p:nvPr/>
              </p:nvSpPr>
              <p:spPr>
                <a:xfrm>
                  <a:off x="1165808" y="4604330"/>
                  <a:ext cx="7828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𝛿</m:t>
                        </m:r>
                      </m:oMath>
                    </m:oMathPara>
                  </a14:m>
                  <a:endParaRPr lang="ru-RU" dirty="0"/>
                </a:p>
              </p:txBody>
            </p:sp>
          </mc:Choice>
          <mc:Fallback xmlns="">
            <p:sp>
              <p:nvSpPr>
                <p:cNvPr id="55" name="TextBox 54">
                  <a:extLst>
                    <a:ext uri="{FF2B5EF4-FFF2-40B4-BE49-F238E27FC236}">
                      <a16:creationId xmlns:a16="http://schemas.microsoft.com/office/drawing/2014/main" id="{4DA3395A-A4F8-6F8A-8AFF-69AC9E8A1BC1}"/>
                    </a:ext>
                  </a:extLst>
                </p:cNvPr>
                <p:cNvSpPr txBox="1">
                  <a:spLocks noRot="1" noChangeAspect="1" noMove="1" noResize="1" noEditPoints="1" noAdjustHandles="1" noChangeArrowheads="1" noChangeShapeType="1" noTextEdit="1"/>
                </p:cNvSpPr>
                <p:nvPr/>
              </p:nvSpPr>
              <p:spPr>
                <a:xfrm>
                  <a:off x="1165808" y="4604330"/>
                  <a:ext cx="782819" cy="369332"/>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502D7BB-1822-AAF0-B2F3-2A83A929481F}"/>
                    </a:ext>
                  </a:extLst>
                </p:cNvPr>
                <p:cNvSpPr txBox="1"/>
                <p:nvPr/>
              </p:nvSpPr>
              <p:spPr>
                <a:xfrm>
                  <a:off x="2685025" y="4578679"/>
                  <a:ext cx="7828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𝛿</m:t>
                        </m:r>
                        <m:r>
                          <a:rPr lang="en-US" b="0" i="0" dirty="0" smtClean="0">
                            <a:latin typeface="Cambria Math" panose="02040503050406030204" pitchFamily="18" charset="0"/>
                            <a:ea typeface="Cambria Math" panose="02040503050406030204" pitchFamily="18" charset="0"/>
                          </a:rPr>
                          <m:t>+1</m:t>
                        </m:r>
                      </m:oMath>
                    </m:oMathPara>
                  </a14:m>
                  <a:endParaRPr lang="ru-RU" dirty="0"/>
                </a:p>
              </p:txBody>
            </p:sp>
          </mc:Choice>
          <mc:Fallback xmlns="">
            <p:sp>
              <p:nvSpPr>
                <p:cNvPr id="56" name="TextBox 55">
                  <a:extLst>
                    <a:ext uri="{FF2B5EF4-FFF2-40B4-BE49-F238E27FC236}">
                      <a16:creationId xmlns:a16="http://schemas.microsoft.com/office/drawing/2014/main" id="{D502D7BB-1822-AAF0-B2F3-2A83A929481F}"/>
                    </a:ext>
                  </a:extLst>
                </p:cNvPr>
                <p:cNvSpPr txBox="1">
                  <a:spLocks noRot="1" noChangeAspect="1" noMove="1" noResize="1" noEditPoints="1" noAdjustHandles="1" noChangeArrowheads="1" noChangeShapeType="1" noTextEdit="1"/>
                </p:cNvSpPr>
                <p:nvPr/>
              </p:nvSpPr>
              <p:spPr>
                <a:xfrm>
                  <a:off x="2685025" y="4578679"/>
                  <a:ext cx="782819" cy="369332"/>
                </a:xfrm>
                <a:prstGeom prst="rect">
                  <a:avLst/>
                </a:prstGeom>
                <a:blipFill>
                  <a:blip r:embed="rId3"/>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76DB3E4-F9B6-285B-CC5D-176663E8A665}"/>
                    </a:ext>
                  </a:extLst>
                </p:cNvPr>
                <p:cNvSpPr txBox="1"/>
                <p:nvPr/>
              </p:nvSpPr>
              <p:spPr>
                <a:xfrm>
                  <a:off x="4042929" y="4591630"/>
                  <a:ext cx="7828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𝛿</m:t>
                        </m:r>
                        <m:r>
                          <a:rPr lang="en-US" b="0" i="0" dirty="0" smtClean="0">
                            <a:latin typeface="Cambria Math" panose="02040503050406030204" pitchFamily="18" charset="0"/>
                            <a:ea typeface="Cambria Math" panose="02040503050406030204" pitchFamily="18" charset="0"/>
                          </a:rPr>
                          <m:t>+2</m:t>
                        </m:r>
                      </m:oMath>
                    </m:oMathPara>
                  </a14:m>
                  <a:endParaRPr lang="ru-RU" dirty="0"/>
                </a:p>
              </p:txBody>
            </p:sp>
          </mc:Choice>
          <mc:Fallback xmlns="">
            <p:sp>
              <p:nvSpPr>
                <p:cNvPr id="57" name="TextBox 56">
                  <a:extLst>
                    <a:ext uri="{FF2B5EF4-FFF2-40B4-BE49-F238E27FC236}">
                      <a16:creationId xmlns:a16="http://schemas.microsoft.com/office/drawing/2014/main" id="{676DB3E4-F9B6-285B-CC5D-176663E8A665}"/>
                    </a:ext>
                  </a:extLst>
                </p:cNvPr>
                <p:cNvSpPr txBox="1">
                  <a:spLocks noRot="1" noChangeAspect="1" noMove="1" noResize="1" noEditPoints="1" noAdjustHandles="1" noChangeArrowheads="1" noChangeShapeType="1" noTextEdit="1"/>
                </p:cNvSpPr>
                <p:nvPr/>
              </p:nvSpPr>
              <p:spPr>
                <a:xfrm>
                  <a:off x="4042929" y="4591630"/>
                  <a:ext cx="782819" cy="369332"/>
                </a:xfrm>
                <a:prstGeom prst="rect">
                  <a:avLst/>
                </a:prstGeom>
                <a:blipFill>
                  <a:blip r:embed="rId4"/>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F8CBD75-5D7F-E2CB-56A1-758252895DA6}"/>
                    </a:ext>
                  </a:extLst>
                </p:cNvPr>
                <p:cNvSpPr txBox="1"/>
                <p:nvPr/>
              </p:nvSpPr>
              <p:spPr>
                <a:xfrm>
                  <a:off x="5493064" y="4601483"/>
                  <a:ext cx="7828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𝛿</m:t>
                        </m:r>
                        <m:r>
                          <a:rPr lang="en-US" b="0" i="0" dirty="0" smtClean="0">
                            <a:latin typeface="Cambria Math" panose="02040503050406030204" pitchFamily="18" charset="0"/>
                            <a:ea typeface="Cambria Math" panose="02040503050406030204" pitchFamily="18" charset="0"/>
                          </a:rPr>
                          <m:t>+3</m:t>
                        </m:r>
                      </m:oMath>
                    </m:oMathPara>
                  </a14:m>
                  <a:endParaRPr lang="ru-RU" dirty="0"/>
                </a:p>
              </p:txBody>
            </p:sp>
          </mc:Choice>
          <mc:Fallback xmlns="">
            <p:sp>
              <p:nvSpPr>
                <p:cNvPr id="58" name="TextBox 57">
                  <a:extLst>
                    <a:ext uri="{FF2B5EF4-FFF2-40B4-BE49-F238E27FC236}">
                      <a16:creationId xmlns:a16="http://schemas.microsoft.com/office/drawing/2014/main" id="{8F8CBD75-5D7F-E2CB-56A1-758252895DA6}"/>
                    </a:ext>
                  </a:extLst>
                </p:cNvPr>
                <p:cNvSpPr txBox="1">
                  <a:spLocks noRot="1" noChangeAspect="1" noMove="1" noResize="1" noEditPoints="1" noAdjustHandles="1" noChangeArrowheads="1" noChangeShapeType="1" noTextEdit="1"/>
                </p:cNvSpPr>
                <p:nvPr/>
              </p:nvSpPr>
              <p:spPr>
                <a:xfrm>
                  <a:off x="5493064" y="4601483"/>
                  <a:ext cx="782819" cy="369332"/>
                </a:xfrm>
                <a:prstGeom prst="rect">
                  <a:avLst/>
                </a:prstGeom>
                <a:blipFill>
                  <a:blip r:embed="rId5"/>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54AA4EF-7682-6DC9-3D86-096B75F91AE8}"/>
                    </a:ext>
                  </a:extLst>
                </p:cNvPr>
                <p:cNvSpPr txBox="1"/>
                <p:nvPr/>
              </p:nvSpPr>
              <p:spPr>
                <a:xfrm>
                  <a:off x="6970847" y="4604330"/>
                  <a:ext cx="7828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𝛿</m:t>
                        </m:r>
                        <m:r>
                          <a:rPr lang="en-US" b="0" i="0" dirty="0" smtClean="0">
                            <a:latin typeface="Cambria Math" panose="02040503050406030204" pitchFamily="18" charset="0"/>
                            <a:ea typeface="Cambria Math" panose="02040503050406030204" pitchFamily="18" charset="0"/>
                          </a:rPr>
                          <m:t>+4</m:t>
                        </m:r>
                      </m:oMath>
                    </m:oMathPara>
                  </a14:m>
                  <a:endParaRPr lang="ru-RU" dirty="0"/>
                </a:p>
              </p:txBody>
            </p:sp>
          </mc:Choice>
          <mc:Fallback xmlns="">
            <p:sp>
              <p:nvSpPr>
                <p:cNvPr id="59" name="TextBox 58">
                  <a:extLst>
                    <a:ext uri="{FF2B5EF4-FFF2-40B4-BE49-F238E27FC236}">
                      <a16:creationId xmlns:a16="http://schemas.microsoft.com/office/drawing/2014/main" id="{F54AA4EF-7682-6DC9-3D86-096B75F91AE8}"/>
                    </a:ext>
                  </a:extLst>
                </p:cNvPr>
                <p:cNvSpPr txBox="1">
                  <a:spLocks noRot="1" noChangeAspect="1" noMove="1" noResize="1" noEditPoints="1" noAdjustHandles="1" noChangeArrowheads="1" noChangeShapeType="1" noTextEdit="1"/>
                </p:cNvSpPr>
                <p:nvPr/>
              </p:nvSpPr>
              <p:spPr>
                <a:xfrm>
                  <a:off x="6970847" y="4604330"/>
                  <a:ext cx="782819" cy="369332"/>
                </a:xfrm>
                <a:prstGeom prst="rect">
                  <a:avLst/>
                </a:prstGeom>
                <a:blipFill>
                  <a:blip r:embed="rId6"/>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47CC0E4-DE9B-FCEB-8081-B4EF1D15DB49}"/>
                    </a:ext>
                  </a:extLst>
                </p:cNvPr>
                <p:cNvSpPr txBox="1"/>
                <p:nvPr/>
              </p:nvSpPr>
              <p:spPr>
                <a:xfrm>
                  <a:off x="8463207" y="4605048"/>
                  <a:ext cx="7828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ea typeface="Cambria Math" panose="02040503050406030204" pitchFamily="18" charset="0"/>
                          </a:rPr>
                          <m:t>𝛿</m:t>
                        </m:r>
                        <m:r>
                          <a:rPr lang="en-US" b="0" i="0" dirty="0" smtClean="0">
                            <a:latin typeface="Cambria Math" panose="02040503050406030204" pitchFamily="18" charset="0"/>
                            <a:ea typeface="Cambria Math" panose="02040503050406030204" pitchFamily="18" charset="0"/>
                          </a:rPr>
                          <m:t>+5</m:t>
                        </m:r>
                      </m:oMath>
                    </m:oMathPara>
                  </a14:m>
                  <a:endParaRPr lang="ru-RU" dirty="0"/>
                </a:p>
              </p:txBody>
            </p:sp>
          </mc:Choice>
          <mc:Fallback xmlns="">
            <p:sp>
              <p:nvSpPr>
                <p:cNvPr id="60" name="TextBox 59">
                  <a:extLst>
                    <a:ext uri="{FF2B5EF4-FFF2-40B4-BE49-F238E27FC236}">
                      <a16:creationId xmlns:a16="http://schemas.microsoft.com/office/drawing/2014/main" id="{647CC0E4-DE9B-FCEB-8081-B4EF1D15DB49}"/>
                    </a:ext>
                  </a:extLst>
                </p:cNvPr>
                <p:cNvSpPr txBox="1">
                  <a:spLocks noRot="1" noChangeAspect="1" noMove="1" noResize="1" noEditPoints="1" noAdjustHandles="1" noChangeArrowheads="1" noChangeShapeType="1" noTextEdit="1"/>
                </p:cNvSpPr>
                <p:nvPr/>
              </p:nvSpPr>
              <p:spPr>
                <a:xfrm>
                  <a:off x="8463207" y="4605048"/>
                  <a:ext cx="782819" cy="369332"/>
                </a:xfrm>
                <a:prstGeom prst="rect">
                  <a:avLst/>
                </a:prstGeom>
                <a:blipFill>
                  <a:blip r:embed="rId7"/>
                  <a:stretch>
                    <a:fillRect/>
                  </a:stretch>
                </a:blipFill>
              </p:spPr>
              <p:txBody>
                <a:bodyPr/>
                <a:lstStyle/>
                <a:p>
                  <a:r>
                    <a:rPr lang="en-IL">
                      <a:noFill/>
                    </a:rPr>
                    <a:t> </a:t>
                  </a:r>
                </a:p>
              </p:txBody>
            </p:sp>
          </mc:Fallback>
        </mc:AlternateContent>
      </p:grpSp>
      <p:sp>
        <p:nvSpPr>
          <p:cNvPr id="4" name="TextBox 3">
            <a:extLst>
              <a:ext uri="{FF2B5EF4-FFF2-40B4-BE49-F238E27FC236}">
                <a16:creationId xmlns:a16="http://schemas.microsoft.com/office/drawing/2014/main" id="{413737C4-E3A1-D82D-3193-3D242E5B7CE4}"/>
              </a:ext>
            </a:extLst>
          </p:cNvPr>
          <p:cNvSpPr txBox="1"/>
          <p:nvPr/>
        </p:nvSpPr>
        <p:spPr>
          <a:xfrm>
            <a:off x="281318" y="686437"/>
            <a:ext cx="9498002" cy="830997"/>
          </a:xfrm>
          <a:prstGeom prst="rect">
            <a:avLst/>
          </a:prstGeom>
          <a:noFill/>
        </p:spPr>
        <p:txBody>
          <a:bodyPr wrap="square" rtlCol="0">
            <a:spAutoFit/>
          </a:bodyPr>
          <a:lstStyle/>
          <a:p>
            <a:pPr algn="l"/>
            <a:r>
              <a:rPr lang="en-US" sz="1600" dirty="0"/>
              <a:t>The CPU uses a four stage pipeline and schedules instructions between ALU_1 and ALU_2.</a:t>
            </a:r>
          </a:p>
          <a:p>
            <a:pPr algn="l"/>
            <a:r>
              <a:rPr lang="en-US" sz="1600" dirty="0"/>
              <a:t>If two instructions are independent, they execute in parallel.</a:t>
            </a:r>
          </a:p>
          <a:p>
            <a:pPr algn="l"/>
            <a:r>
              <a:rPr lang="en-US" sz="1600" dirty="0"/>
              <a:t>If a data hazard is detected, the Hazard Unit issues NOPs to maintain correctness.</a:t>
            </a:r>
          </a:p>
        </p:txBody>
      </p:sp>
    </p:spTree>
    <p:extLst>
      <p:ext uri="{BB962C8B-B14F-4D97-AF65-F5344CB8AC3E}">
        <p14:creationId xmlns:p14="http://schemas.microsoft.com/office/powerpoint/2010/main" val="317362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92DCC-30CA-9C73-1EEA-A895CF8EA68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9CB19FD-EDBF-11C0-BE14-F0FD587F9C88}"/>
              </a:ext>
            </a:extLst>
          </p:cNvPr>
          <p:cNvSpPr>
            <a:spLocks noGrp="1"/>
          </p:cNvSpPr>
          <p:nvPr>
            <p:ph type="sldNum" sz="quarter" idx="13"/>
          </p:nvPr>
        </p:nvSpPr>
        <p:spPr/>
        <p:txBody>
          <a:bodyPr/>
          <a:lstStyle/>
          <a:p>
            <a:pPr rtl="0"/>
            <a:fld id="{A49DFD55-3C28-40EF-9E31-A92D2E4017FF}" type="slidenum">
              <a:rPr lang="ru-RU" smtClean="0"/>
              <a:pPr rtl="0"/>
              <a:t>10</a:t>
            </a:fld>
            <a:endParaRPr lang="ru-RU" dirty="0"/>
          </a:p>
        </p:txBody>
      </p:sp>
      <p:sp>
        <p:nvSpPr>
          <p:cNvPr id="11" name="TextBox 10">
            <a:extLst>
              <a:ext uri="{FF2B5EF4-FFF2-40B4-BE49-F238E27FC236}">
                <a16:creationId xmlns:a16="http://schemas.microsoft.com/office/drawing/2014/main" id="{B88EDE88-3196-1111-497C-2AD366C66683}"/>
              </a:ext>
            </a:extLst>
          </p:cNvPr>
          <p:cNvSpPr txBox="1"/>
          <p:nvPr/>
        </p:nvSpPr>
        <p:spPr>
          <a:xfrm>
            <a:off x="227433" y="206475"/>
            <a:ext cx="6277790" cy="523220"/>
          </a:xfrm>
          <a:prstGeom prst="rect">
            <a:avLst/>
          </a:prstGeom>
          <a:noFill/>
        </p:spPr>
        <p:txBody>
          <a:bodyPr wrap="square" rtlCol="0">
            <a:spAutoFit/>
          </a:bodyPr>
          <a:lstStyle/>
          <a:p>
            <a:r>
              <a:rPr lang="en-US" sz="2800" dirty="0"/>
              <a:t>Hazard Unit</a:t>
            </a:r>
            <a:endParaRPr lang="ru-RU" sz="2800" dirty="0"/>
          </a:p>
        </p:txBody>
      </p:sp>
      <p:sp>
        <p:nvSpPr>
          <p:cNvPr id="6" name="TextBox 5">
            <a:extLst>
              <a:ext uri="{FF2B5EF4-FFF2-40B4-BE49-F238E27FC236}">
                <a16:creationId xmlns:a16="http://schemas.microsoft.com/office/drawing/2014/main" id="{96B7F12C-D96F-2E71-20E1-24C58F8536DA}"/>
              </a:ext>
            </a:extLst>
          </p:cNvPr>
          <p:cNvSpPr txBox="1"/>
          <p:nvPr/>
        </p:nvSpPr>
        <p:spPr>
          <a:xfrm>
            <a:off x="227433" y="1305341"/>
            <a:ext cx="11564518" cy="4247317"/>
          </a:xfrm>
          <a:prstGeom prst="rect">
            <a:avLst/>
          </a:prstGeom>
          <a:noFill/>
        </p:spPr>
        <p:txBody>
          <a:bodyPr wrap="square" rtlCol="0">
            <a:spAutoFit/>
          </a:bodyPr>
          <a:lstStyle/>
          <a:p>
            <a:endParaRPr lang="en-US" dirty="0"/>
          </a:p>
          <a:p>
            <a:r>
              <a:rPr lang="en-US" dirty="0"/>
              <a:t>The Hazard Unit is responsible for detecting conflicts and data dependencies and resolving them.</a:t>
            </a:r>
          </a:p>
          <a:p>
            <a:endParaRPr lang="en-US" u="sng" dirty="0"/>
          </a:p>
          <a:p>
            <a:r>
              <a:rPr lang="en-US" u="sng" dirty="0"/>
              <a:t>What is a data dependency / conflict? </a:t>
            </a:r>
          </a:p>
          <a:p>
            <a:r>
              <a:rPr lang="en-US" dirty="0"/>
              <a:t>Let’s look at an example:</a:t>
            </a:r>
          </a:p>
          <a:p>
            <a:r>
              <a:rPr lang="en-US" dirty="0"/>
              <a:t>1. Load R1 15</a:t>
            </a:r>
          </a:p>
          <a:p>
            <a:r>
              <a:rPr lang="en-US" dirty="0"/>
              <a:t>2. Store R1 123</a:t>
            </a:r>
          </a:p>
          <a:p>
            <a:endParaRPr lang="en-US" dirty="0"/>
          </a:p>
          <a:p>
            <a:r>
              <a:rPr lang="en-US" dirty="0"/>
              <a:t>Since our </a:t>
            </a:r>
            <a:r>
              <a:rPr lang="en-US" dirty="0" err="1"/>
              <a:t>procssor</a:t>
            </a:r>
            <a:r>
              <a:rPr lang="en-US" dirty="0"/>
              <a:t> can handle 2 instructions a clock, if we try to run both 1 and 2 at the same time, instruction 2 will store the previous value of R1, which is not the intention and will lead to faulty data.</a:t>
            </a:r>
          </a:p>
          <a:p>
            <a:endParaRPr lang="en-US" dirty="0"/>
          </a:p>
          <a:p>
            <a:r>
              <a:rPr lang="en-US" dirty="0"/>
              <a:t>Conflicts like this usually happen when we use the same register for write then read operation</a:t>
            </a:r>
          </a:p>
          <a:p>
            <a:r>
              <a:rPr lang="en-US" dirty="0"/>
              <a:t>Or the opposite, read then write operation.</a:t>
            </a:r>
          </a:p>
          <a:p>
            <a:endParaRPr lang="en-US" dirty="0"/>
          </a:p>
          <a:p>
            <a:endParaRPr lang="en-US" dirty="0"/>
          </a:p>
        </p:txBody>
      </p:sp>
    </p:spTree>
    <p:extLst>
      <p:ext uri="{BB962C8B-B14F-4D97-AF65-F5344CB8AC3E}">
        <p14:creationId xmlns:p14="http://schemas.microsoft.com/office/powerpoint/2010/main" val="2057557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A9E831A-5F5F-2DD2-7A6D-BB1B2D29F344}"/>
              </a:ext>
            </a:extLst>
          </p:cNvPr>
          <p:cNvSpPr>
            <a:spLocks noGrp="1"/>
          </p:cNvSpPr>
          <p:nvPr>
            <p:ph type="sldNum" sz="quarter" idx="13"/>
          </p:nvPr>
        </p:nvSpPr>
        <p:spPr/>
        <p:txBody>
          <a:bodyPr/>
          <a:lstStyle/>
          <a:p>
            <a:pPr rtl="0"/>
            <a:fld id="{A49DFD55-3C28-40EF-9E31-A92D2E4017FF}" type="slidenum">
              <a:rPr lang="ru-RU" smtClean="0"/>
              <a:pPr rtl="0"/>
              <a:t>11</a:t>
            </a:fld>
            <a:endParaRPr lang="ru-RU" dirty="0"/>
          </a:p>
        </p:txBody>
      </p:sp>
      <p:sp>
        <p:nvSpPr>
          <p:cNvPr id="11" name="TextBox 10">
            <a:extLst>
              <a:ext uri="{FF2B5EF4-FFF2-40B4-BE49-F238E27FC236}">
                <a16:creationId xmlns:a16="http://schemas.microsoft.com/office/drawing/2014/main" id="{6F4326A5-B37C-AF2E-54EC-BCA1A7ADA113}"/>
              </a:ext>
            </a:extLst>
          </p:cNvPr>
          <p:cNvSpPr txBox="1"/>
          <p:nvPr/>
        </p:nvSpPr>
        <p:spPr>
          <a:xfrm>
            <a:off x="227433" y="206475"/>
            <a:ext cx="6277790" cy="523220"/>
          </a:xfrm>
          <a:prstGeom prst="rect">
            <a:avLst/>
          </a:prstGeom>
          <a:noFill/>
        </p:spPr>
        <p:txBody>
          <a:bodyPr wrap="square" rtlCol="0">
            <a:spAutoFit/>
          </a:bodyPr>
          <a:lstStyle/>
          <a:p>
            <a:r>
              <a:rPr lang="en-US" sz="2800" dirty="0"/>
              <a:t>Hazard Unit</a:t>
            </a:r>
            <a:endParaRPr lang="ru-RU" sz="2800" dirty="0"/>
          </a:p>
        </p:txBody>
      </p:sp>
      <p:grpSp>
        <p:nvGrpSpPr>
          <p:cNvPr id="3" name="Group 2">
            <a:extLst>
              <a:ext uri="{FF2B5EF4-FFF2-40B4-BE49-F238E27FC236}">
                <a16:creationId xmlns:a16="http://schemas.microsoft.com/office/drawing/2014/main" id="{16969B42-6457-A1A4-989B-AC9B6BBA634A}"/>
              </a:ext>
            </a:extLst>
          </p:cNvPr>
          <p:cNvGrpSpPr/>
          <p:nvPr/>
        </p:nvGrpSpPr>
        <p:grpSpPr>
          <a:xfrm>
            <a:off x="5610499" y="2787905"/>
            <a:ext cx="6581501" cy="1078541"/>
            <a:chOff x="1556587" y="1861013"/>
            <a:chExt cx="10216947" cy="1567987"/>
          </a:xfrm>
        </p:grpSpPr>
        <p:sp>
          <p:nvSpPr>
            <p:cNvPr id="12" name="Oval 11">
              <a:extLst>
                <a:ext uri="{FF2B5EF4-FFF2-40B4-BE49-F238E27FC236}">
                  <a16:creationId xmlns:a16="http://schemas.microsoft.com/office/drawing/2014/main" id="{93B195B5-29E9-4733-DB23-E5EF1D285FDE}"/>
                </a:ext>
              </a:extLst>
            </p:cNvPr>
            <p:cNvSpPr/>
            <p:nvPr/>
          </p:nvSpPr>
          <p:spPr>
            <a:xfrm>
              <a:off x="1556587" y="1942193"/>
              <a:ext cx="1894114" cy="14804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Oval 12">
              <a:extLst>
                <a:ext uri="{FF2B5EF4-FFF2-40B4-BE49-F238E27FC236}">
                  <a16:creationId xmlns:a16="http://schemas.microsoft.com/office/drawing/2014/main" id="{99DA05CC-91F2-F2D6-B535-5778B1805627}"/>
                </a:ext>
              </a:extLst>
            </p:cNvPr>
            <p:cNvSpPr/>
            <p:nvPr/>
          </p:nvSpPr>
          <p:spPr>
            <a:xfrm>
              <a:off x="4224307" y="1942193"/>
              <a:ext cx="1894114" cy="14804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Oval 13">
              <a:extLst>
                <a:ext uri="{FF2B5EF4-FFF2-40B4-BE49-F238E27FC236}">
                  <a16:creationId xmlns:a16="http://schemas.microsoft.com/office/drawing/2014/main" id="{8CCB1FFE-25B6-B1B6-6A50-849507F92EF4}"/>
                </a:ext>
              </a:extLst>
            </p:cNvPr>
            <p:cNvSpPr/>
            <p:nvPr/>
          </p:nvSpPr>
          <p:spPr>
            <a:xfrm>
              <a:off x="6892027" y="1948543"/>
              <a:ext cx="1894114" cy="14804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Oval 14">
              <a:extLst>
                <a:ext uri="{FF2B5EF4-FFF2-40B4-BE49-F238E27FC236}">
                  <a16:creationId xmlns:a16="http://schemas.microsoft.com/office/drawing/2014/main" id="{4DEF3102-1AFE-DEBA-A02E-22F6AC0ECEF1}"/>
                </a:ext>
              </a:extLst>
            </p:cNvPr>
            <p:cNvSpPr/>
            <p:nvPr/>
          </p:nvSpPr>
          <p:spPr>
            <a:xfrm>
              <a:off x="9559747" y="1861013"/>
              <a:ext cx="1894114" cy="14804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a:extLst>
                <a:ext uri="{FF2B5EF4-FFF2-40B4-BE49-F238E27FC236}">
                  <a16:creationId xmlns:a16="http://schemas.microsoft.com/office/drawing/2014/main" id="{BB672E1C-CF5F-4E27-8A74-E334422C694B}"/>
                </a:ext>
              </a:extLst>
            </p:cNvPr>
            <p:cNvSpPr txBox="1"/>
            <p:nvPr/>
          </p:nvSpPr>
          <p:spPr>
            <a:xfrm>
              <a:off x="4840070" y="2460137"/>
              <a:ext cx="1262743" cy="402702"/>
            </a:xfrm>
            <a:prstGeom prst="rect">
              <a:avLst/>
            </a:prstGeom>
            <a:noFill/>
          </p:spPr>
          <p:txBody>
            <a:bodyPr wrap="square" rtlCol="0">
              <a:spAutoFit/>
            </a:bodyPr>
            <a:lstStyle/>
            <a:p>
              <a:r>
                <a:rPr lang="en-US" sz="1200" dirty="0"/>
                <a:t>Run</a:t>
              </a:r>
              <a:endParaRPr lang="ru-RU" sz="1200" dirty="0"/>
            </a:p>
          </p:txBody>
        </p:sp>
        <p:sp>
          <p:nvSpPr>
            <p:cNvPr id="17" name="TextBox 16">
              <a:extLst>
                <a:ext uri="{FF2B5EF4-FFF2-40B4-BE49-F238E27FC236}">
                  <a16:creationId xmlns:a16="http://schemas.microsoft.com/office/drawing/2014/main" id="{2068CDA9-80AF-0E84-F7A3-BCAF8ED57E33}"/>
                </a:ext>
              </a:extLst>
            </p:cNvPr>
            <p:cNvSpPr txBox="1"/>
            <p:nvPr/>
          </p:nvSpPr>
          <p:spPr>
            <a:xfrm>
              <a:off x="2068214" y="2460137"/>
              <a:ext cx="1382486" cy="402702"/>
            </a:xfrm>
            <a:prstGeom prst="rect">
              <a:avLst/>
            </a:prstGeom>
            <a:noFill/>
          </p:spPr>
          <p:txBody>
            <a:bodyPr wrap="square" rtlCol="0">
              <a:spAutoFit/>
            </a:bodyPr>
            <a:lstStyle/>
            <a:p>
              <a:r>
                <a:rPr lang="en-US" sz="1200" dirty="0"/>
                <a:t>Start</a:t>
              </a:r>
              <a:endParaRPr lang="ru-RU" sz="1200" dirty="0"/>
            </a:p>
          </p:txBody>
        </p:sp>
        <p:sp>
          <p:nvSpPr>
            <p:cNvPr id="18" name="TextBox 17">
              <a:extLst>
                <a:ext uri="{FF2B5EF4-FFF2-40B4-BE49-F238E27FC236}">
                  <a16:creationId xmlns:a16="http://schemas.microsoft.com/office/drawing/2014/main" id="{6C7EE097-C532-EF14-998C-EF6500BC4A7F}"/>
                </a:ext>
              </a:extLst>
            </p:cNvPr>
            <p:cNvSpPr txBox="1"/>
            <p:nvPr/>
          </p:nvSpPr>
          <p:spPr>
            <a:xfrm>
              <a:off x="7436674" y="2457680"/>
              <a:ext cx="1262743" cy="402702"/>
            </a:xfrm>
            <a:prstGeom prst="rect">
              <a:avLst/>
            </a:prstGeom>
            <a:noFill/>
          </p:spPr>
          <p:txBody>
            <a:bodyPr wrap="square" rtlCol="0">
              <a:spAutoFit/>
            </a:bodyPr>
            <a:lstStyle/>
            <a:p>
              <a:r>
                <a:rPr lang="en-US" sz="1200" dirty="0"/>
                <a:t>Stall</a:t>
              </a:r>
              <a:endParaRPr lang="ru-RU" sz="1200" dirty="0"/>
            </a:p>
          </p:txBody>
        </p:sp>
        <p:sp>
          <p:nvSpPr>
            <p:cNvPr id="19" name="TextBox 18">
              <a:extLst>
                <a:ext uri="{FF2B5EF4-FFF2-40B4-BE49-F238E27FC236}">
                  <a16:creationId xmlns:a16="http://schemas.microsoft.com/office/drawing/2014/main" id="{3555B470-A40C-8A9C-5EF0-0E07C95513FA}"/>
                </a:ext>
              </a:extLst>
            </p:cNvPr>
            <p:cNvSpPr txBox="1"/>
            <p:nvPr/>
          </p:nvSpPr>
          <p:spPr>
            <a:xfrm>
              <a:off x="9803220" y="2393540"/>
              <a:ext cx="1970314" cy="402702"/>
            </a:xfrm>
            <a:prstGeom prst="rect">
              <a:avLst/>
            </a:prstGeom>
            <a:noFill/>
          </p:spPr>
          <p:txBody>
            <a:bodyPr wrap="square" rtlCol="0">
              <a:spAutoFit/>
            </a:bodyPr>
            <a:lstStyle/>
            <a:p>
              <a:r>
                <a:rPr lang="en-US" sz="1200" dirty="0" err="1"/>
                <a:t>Cond_jump</a:t>
              </a:r>
              <a:endParaRPr lang="ru-RU" sz="1200" dirty="0"/>
            </a:p>
          </p:txBody>
        </p:sp>
        <p:cxnSp>
          <p:nvCxnSpPr>
            <p:cNvPr id="21" name="Straight Arrow Connector 20">
              <a:extLst>
                <a:ext uri="{FF2B5EF4-FFF2-40B4-BE49-F238E27FC236}">
                  <a16:creationId xmlns:a16="http://schemas.microsoft.com/office/drawing/2014/main" id="{37BAC3D4-5AB1-95A5-D5B5-07436B664443}"/>
                </a:ext>
              </a:extLst>
            </p:cNvPr>
            <p:cNvCxnSpPr>
              <a:stCxn id="12" idx="6"/>
              <a:endCxn id="13" idx="2"/>
            </p:cNvCxnSpPr>
            <p:nvPr/>
          </p:nvCxnSpPr>
          <p:spPr>
            <a:xfrm>
              <a:off x="3450701" y="2682422"/>
              <a:ext cx="77360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6E9F0DFA-9D4D-5688-A7B8-5666E781C00B}"/>
                </a:ext>
              </a:extLst>
            </p:cNvPr>
            <p:cNvCxnSpPr>
              <a:cxnSpLocks/>
              <a:stCxn id="13" idx="4"/>
              <a:endCxn id="12" idx="5"/>
            </p:cNvCxnSpPr>
            <p:nvPr/>
          </p:nvCxnSpPr>
          <p:spPr>
            <a:xfrm rot="5400000" flipH="1">
              <a:off x="4063935" y="2315221"/>
              <a:ext cx="216808" cy="1998050"/>
            </a:xfrm>
            <a:prstGeom prst="curvedConnector3">
              <a:avLst>
                <a:gd name="adj1" fmla="val -105439"/>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F74FBE0-D077-8601-1006-62CD3E8C952B}"/>
                </a:ext>
              </a:extLst>
            </p:cNvPr>
            <p:cNvCxnSpPr>
              <a:cxnSpLocks/>
              <a:stCxn id="13" idx="6"/>
              <a:endCxn id="14" idx="2"/>
            </p:cNvCxnSpPr>
            <p:nvPr/>
          </p:nvCxnSpPr>
          <p:spPr>
            <a:xfrm>
              <a:off x="6118421" y="2682422"/>
              <a:ext cx="773606" cy="63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AF21D0FD-EDD1-4987-48D0-EF5890C3AB85}"/>
                </a:ext>
              </a:extLst>
            </p:cNvPr>
            <p:cNvCxnSpPr>
              <a:cxnSpLocks/>
              <a:stCxn id="14" idx="0"/>
              <a:endCxn id="13" idx="0"/>
            </p:cNvCxnSpPr>
            <p:nvPr/>
          </p:nvCxnSpPr>
          <p:spPr>
            <a:xfrm rot="16200000" flipV="1">
              <a:off x="6502049" y="611508"/>
              <a:ext cx="6350" cy="2667720"/>
            </a:xfrm>
            <a:prstGeom prst="curvedConnector3">
              <a:avLst>
                <a:gd name="adj1" fmla="val 370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9ACC6E1C-0835-B724-ABA3-9CAED3587A92}"/>
                </a:ext>
              </a:extLst>
            </p:cNvPr>
            <p:cNvCxnSpPr>
              <a:cxnSpLocks/>
              <a:stCxn id="15" idx="0"/>
              <a:endCxn id="12" idx="0"/>
            </p:cNvCxnSpPr>
            <p:nvPr/>
          </p:nvCxnSpPr>
          <p:spPr>
            <a:xfrm rot="16200000" flipH="1" flipV="1">
              <a:off x="6464634" y="-2099977"/>
              <a:ext cx="81180" cy="8003160"/>
            </a:xfrm>
            <a:prstGeom prst="curvedConnector3">
              <a:avLst>
                <a:gd name="adj1" fmla="val -72410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A6B5AB0F-E8FF-EE1F-69B6-6A007584597F}"/>
                </a:ext>
              </a:extLst>
            </p:cNvPr>
            <p:cNvCxnSpPr>
              <a:cxnSpLocks/>
              <a:stCxn id="13" idx="4"/>
              <a:endCxn id="15" idx="4"/>
            </p:cNvCxnSpPr>
            <p:nvPr/>
          </p:nvCxnSpPr>
          <p:spPr>
            <a:xfrm rot="5400000" flipH="1" flipV="1">
              <a:off x="7798494" y="714340"/>
              <a:ext cx="81180" cy="5335440"/>
            </a:xfrm>
            <a:prstGeom prst="curvedConnector3">
              <a:avLst>
                <a:gd name="adj1" fmla="val -482737"/>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97B25844-3D82-C75A-3E55-2F9A2DDFB427}"/>
              </a:ext>
            </a:extLst>
          </p:cNvPr>
          <p:cNvSpPr txBox="1"/>
          <p:nvPr/>
        </p:nvSpPr>
        <p:spPr>
          <a:xfrm>
            <a:off x="75475" y="610995"/>
            <a:ext cx="5951336" cy="5755422"/>
          </a:xfrm>
          <a:prstGeom prst="rect">
            <a:avLst/>
          </a:prstGeom>
          <a:noFill/>
        </p:spPr>
        <p:txBody>
          <a:bodyPr wrap="square" rtlCol="0">
            <a:spAutoFit/>
          </a:bodyPr>
          <a:lstStyle/>
          <a:p>
            <a:endParaRPr lang="en-US" sz="1600" dirty="0"/>
          </a:p>
          <a:p>
            <a:pPr marL="285750" indent="-285750">
              <a:buFont typeface="Arial" panose="020B0604020202020204" pitchFamily="34" charset="0"/>
              <a:buChar char="•"/>
            </a:pPr>
            <a:r>
              <a:rPr lang="en-US" sz="1600" u="sng" dirty="0"/>
              <a:t>Start State</a:t>
            </a:r>
            <a:r>
              <a:rPr lang="en-US" sz="1600" dirty="0"/>
              <a:t> – Load initial instructions from the stack.</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u="sng" dirty="0"/>
              <a:t>Run State</a:t>
            </a:r>
            <a:r>
              <a:rPr lang="en-US" sz="1600" dirty="0"/>
              <a:t> – Check if the next </a:t>
            </a:r>
            <a:r>
              <a:rPr lang="en-US" sz="1600" b="1" u="sng" dirty="0"/>
              <a:t>3</a:t>
            </a:r>
            <a:r>
              <a:rPr lang="en-US" sz="1600" dirty="0"/>
              <a:t> instruction have data dependency, and sending the next valid instruction to the CU. (what will happen if we check less than 3 instructions?)</a:t>
            </a:r>
          </a:p>
          <a:p>
            <a:pPr marL="285750" indent="-285750">
              <a:buFont typeface="Arial" panose="020B0604020202020204" pitchFamily="34" charset="0"/>
              <a:buChar char="•"/>
            </a:pPr>
            <a:endParaRPr lang="he-IL" sz="1600" u="sng" dirty="0"/>
          </a:p>
          <a:p>
            <a:pPr marL="285750" indent="-285750">
              <a:buFont typeface="Arial" panose="020B0604020202020204" pitchFamily="34" charset="0"/>
              <a:buChar char="•"/>
            </a:pPr>
            <a:r>
              <a:rPr lang="en-US" sz="1600" u="sng" dirty="0"/>
              <a:t>*Stall State</a:t>
            </a:r>
            <a:r>
              <a:rPr lang="en-US" sz="1600" dirty="0"/>
              <a:t> – if a conflict is found, the Hazard Unit will send the CU few (1-3) NO-OP operations to wait for previous ops to finish and resolve the conflict.</a:t>
            </a:r>
          </a:p>
          <a:p>
            <a:pPr marL="285750" indent="-285750">
              <a:buFont typeface="Arial" panose="020B0604020202020204" pitchFamily="34" charset="0"/>
              <a:buChar char="•"/>
            </a:pPr>
            <a:endParaRPr lang="he-IL" sz="1600" u="sng" dirty="0"/>
          </a:p>
          <a:p>
            <a:pPr marL="285750" indent="-285750">
              <a:buFont typeface="Arial" panose="020B0604020202020204" pitchFamily="34" charset="0"/>
              <a:buChar char="•"/>
            </a:pPr>
            <a:r>
              <a:rPr lang="en-US" sz="1600" u="sng" dirty="0"/>
              <a:t>*Conditional Jump State</a:t>
            </a:r>
            <a:r>
              <a:rPr lang="en-US" sz="1600" dirty="0"/>
              <a:t> – The Hazard Unit monitors conditional jumps and, if the condition is met, updates the instruction pointer to the target address; otherwise, execution proceeds sequentially.</a:t>
            </a:r>
          </a:p>
          <a:p>
            <a:pPr marL="285750" indent="-285750">
              <a:buFont typeface="Arial" panose="020B0604020202020204" pitchFamily="34" charset="0"/>
              <a:buChar char="•"/>
            </a:pPr>
            <a:endParaRPr lang="en-US" sz="1600" dirty="0"/>
          </a:p>
          <a:p>
            <a:r>
              <a:rPr lang="en-US" sz="1600" dirty="0"/>
              <a:t>*Modern CPUs have better tools to deal with conflicts and jumps,</a:t>
            </a:r>
          </a:p>
          <a:p>
            <a:r>
              <a:rPr lang="en-US" sz="1600" b="1" dirty="0"/>
              <a:t>  </a:t>
            </a:r>
            <a:r>
              <a:rPr lang="en-US" sz="1600" u="sng" dirty="0">
                <a:hlinkClick r:id="rId2"/>
              </a:rPr>
              <a:t>Branch Prediction</a:t>
            </a:r>
            <a:r>
              <a:rPr lang="en-US" sz="1600" dirty="0"/>
              <a:t> is a complex topic we won’t dive into.</a:t>
            </a:r>
          </a:p>
          <a:p>
            <a:endParaRPr lang="en-US" sz="1600" b="1" u="sng" dirty="0"/>
          </a:p>
          <a:p>
            <a:r>
              <a:rPr lang="en-US" sz="1600" dirty="0"/>
              <a:t>*Modern CPUs have ‘</a:t>
            </a:r>
            <a:r>
              <a:rPr lang="en-US" sz="1600" dirty="0">
                <a:hlinkClick r:id="rId3"/>
              </a:rPr>
              <a:t>shortcuts</a:t>
            </a:r>
            <a:r>
              <a:rPr lang="en-US" sz="1600" dirty="0"/>
              <a:t>’ in their pipeline,</a:t>
            </a:r>
          </a:p>
          <a:p>
            <a:r>
              <a:rPr lang="en-US" sz="1600" dirty="0"/>
              <a:t>  allowing data to skip certain stages to get</a:t>
            </a:r>
          </a:p>
          <a:p>
            <a:r>
              <a:rPr lang="en-US" sz="1600" dirty="0"/>
              <a:t>  where they need in time.</a:t>
            </a:r>
            <a:endParaRPr lang="he-IL" sz="1600" dirty="0"/>
          </a:p>
          <a:p>
            <a:endParaRPr lang="he-IL" sz="1600" b="1" u="sng" dirty="0"/>
          </a:p>
        </p:txBody>
      </p:sp>
    </p:spTree>
    <p:extLst>
      <p:ext uri="{BB962C8B-B14F-4D97-AF65-F5344CB8AC3E}">
        <p14:creationId xmlns:p14="http://schemas.microsoft.com/office/powerpoint/2010/main" val="2630750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BB587-C472-82AA-0A9C-A68EEA53CF1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457D4D-77AE-4581-B8BA-AE034352870F}"/>
              </a:ext>
            </a:extLst>
          </p:cNvPr>
          <p:cNvSpPr>
            <a:spLocks noGrp="1"/>
          </p:cNvSpPr>
          <p:nvPr>
            <p:ph type="title"/>
          </p:nvPr>
        </p:nvSpPr>
        <p:spPr>
          <a:xfrm>
            <a:off x="0" y="-41867"/>
            <a:ext cx="5876109" cy="543518"/>
          </a:xfrm>
        </p:spPr>
        <p:txBody>
          <a:bodyPr rtlCol="0"/>
          <a:lstStyle>
            <a:defPPr>
              <a:defRPr lang="ru-RU"/>
            </a:defPPr>
          </a:lstStyle>
          <a:p>
            <a:pPr algn="l"/>
            <a:r>
              <a:rPr lang="en-US" cap="none" dirty="0">
                <a:latin typeface="+mn-lt"/>
              </a:rPr>
              <a:t>ADD R1 R2 R3 EXAMPLE: FETCH</a:t>
            </a:r>
            <a:endParaRPr lang="ru-RU" cap="none" dirty="0">
              <a:latin typeface="+mn-lt"/>
            </a:endParaRPr>
          </a:p>
        </p:txBody>
      </p:sp>
      <p:sp>
        <p:nvSpPr>
          <p:cNvPr id="68" name="Номер слайда 67">
            <a:extLst>
              <a:ext uri="{FF2B5EF4-FFF2-40B4-BE49-F238E27FC236}">
                <a16:creationId xmlns:a16="http://schemas.microsoft.com/office/drawing/2014/main" id="{D3450D57-DA01-884F-785E-F7CAFEEF0185}"/>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solidFill>
                  <a:schemeClr val="tx1"/>
                </a:solidFill>
              </a:rPr>
              <a:pPr rtl="0"/>
              <a:t>12</a:t>
            </a:fld>
            <a:endParaRPr lang="ru-RU" dirty="0">
              <a:solidFill>
                <a:schemeClr val="tx1"/>
              </a:solidFill>
            </a:endParaRPr>
          </a:p>
        </p:txBody>
      </p:sp>
      <p:sp>
        <p:nvSpPr>
          <p:cNvPr id="11" name="Заголовок 1">
            <a:extLst>
              <a:ext uri="{FF2B5EF4-FFF2-40B4-BE49-F238E27FC236}">
                <a16:creationId xmlns:a16="http://schemas.microsoft.com/office/drawing/2014/main" id="{BBA681F0-A659-0C37-0B73-657761294FAC}"/>
              </a:ext>
            </a:extLst>
          </p:cNvPr>
          <p:cNvSpPr txBox="1">
            <a:spLocks/>
          </p:cNvSpPr>
          <p:nvPr/>
        </p:nvSpPr>
        <p:spPr>
          <a:xfrm>
            <a:off x="99059" y="6084590"/>
            <a:ext cx="5876109" cy="543518"/>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endParaRPr lang="en-US" dirty="0"/>
          </a:p>
        </p:txBody>
      </p:sp>
      <p:sp>
        <p:nvSpPr>
          <p:cNvPr id="3" name="Заголовок 1">
            <a:extLst>
              <a:ext uri="{FF2B5EF4-FFF2-40B4-BE49-F238E27FC236}">
                <a16:creationId xmlns:a16="http://schemas.microsoft.com/office/drawing/2014/main" id="{0D83BF9D-FED1-2626-0677-8488BFAFF44B}"/>
              </a:ext>
            </a:extLst>
          </p:cNvPr>
          <p:cNvSpPr txBox="1">
            <a:spLocks/>
          </p:cNvSpPr>
          <p:nvPr/>
        </p:nvSpPr>
        <p:spPr>
          <a:xfrm>
            <a:off x="5692138" y="1698171"/>
            <a:ext cx="5876109" cy="3363686"/>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pPr marL="457200" indent="-457200">
              <a:buFont typeface="Arial" panose="020B0604020202020204" pitchFamily="34" charset="0"/>
              <a:buChar char="•"/>
            </a:pPr>
            <a:endParaRPr lang="he-IL" dirty="0"/>
          </a:p>
        </p:txBody>
      </p:sp>
      <p:sp>
        <p:nvSpPr>
          <p:cNvPr id="185" name="Rectangle 184">
            <a:extLst>
              <a:ext uri="{FF2B5EF4-FFF2-40B4-BE49-F238E27FC236}">
                <a16:creationId xmlns:a16="http://schemas.microsoft.com/office/drawing/2014/main" id="{2FECB430-4874-B1AE-7FEE-1152C32CDD0D}"/>
              </a:ext>
            </a:extLst>
          </p:cNvPr>
          <p:cNvSpPr>
            <a:spLocks noGrp="1" noRot="1" noMove="1" noResize="1" noEditPoints="1" noAdjustHandles="1" noChangeArrowheads="1" noChangeShapeType="1"/>
          </p:cNvSpPr>
          <p:nvPr/>
        </p:nvSpPr>
        <p:spPr>
          <a:xfrm>
            <a:off x="1127197" y="643811"/>
            <a:ext cx="10544270" cy="5984297"/>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highlight>
                <a:srgbClr val="000080"/>
              </a:highlight>
            </a:endParaRPr>
          </a:p>
        </p:txBody>
      </p:sp>
      <p:sp>
        <p:nvSpPr>
          <p:cNvPr id="196" name="Rectangle 195">
            <a:extLst>
              <a:ext uri="{FF2B5EF4-FFF2-40B4-BE49-F238E27FC236}">
                <a16:creationId xmlns:a16="http://schemas.microsoft.com/office/drawing/2014/main" id="{4B2A88E5-B546-D07B-F0A1-63717B98E1CD}"/>
              </a:ext>
            </a:extLst>
          </p:cNvPr>
          <p:cNvSpPr/>
          <p:nvPr/>
        </p:nvSpPr>
        <p:spPr>
          <a:xfrm>
            <a:off x="1463739" y="1041933"/>
            <a:ext cx="1328928" cy="4808952"/>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Inst_stack</a:t>
            </a:r>
            <a:r>
              <a:rPr lang="en-US" dirty="0">
                <a:solidFill>
                  <a:schemeClr val="tx1"/>
                </a:solidFill>
              </a:rPr>
              <a:t>: RAM</a:t>
            </a:r>
            <a:endParaRPr lang="en-IL" dirty="0">
              <a:solidFill>
                <a:schemeClr val="tx1"/>
              </a:solidFill>
            </a:endParaRPr>
          </a:p>
        </p:txBody>
      </p:sp>
      <p:sp>
        <p:nvSpPr>
          <p:cNvPr id="199" name="Rectangle 198">
            <a:extLst>
              <a:ext uri="{FF2B5EF4-FFF2-40B4-BE49-F238E27FC236}">
                <a16:creationId xmlns:a16="http://schemas.microsoft.com/office/drawing/2014/main" id="{6FF01BC4-2E3C-00F5-8BBF-525EAED017D8}"/>
              </a:ext>
            </a:extLst>
          </p:cNvPr>
          <p:cNvSpPr/>
          <p:nvPr/>
        </p:nvSpPr>
        <p:spPr>
          <a:xfrm>
            <a:off x="4606021" y="4548148"/>
            <a:ext cx="1464026" cy="70275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CU_1: Control Unit</a:t>
            </a:r>
            <a:endParaRPr lang="en-IL" dirty="0">
              <a:solidFill>
                <a:schemeClr val="tx1"/>
              </a:solidFill>
            </a:endParaRPr>
          </a:p>
        </p:txBody>
      </p:sp>
      <p:sp>
        <p:nvSpPr>
          <p:cNvPr id="200" name="Rectangle 199">
            <a:extLst>
              <a:ext uri="{FF2B5EF4-FFF2-40B4-BE49-F238E27FC236}">
                <a16:creationId xmlns:a16="http://schemas.microsoft.com/office/drawing/2014/main" id="{DBEF88FE-0E41-B9AE-FD13-567466C4FBC3}"/>
              </a:ext>
            </a:extLst>
          </p:cNvPr>
          <p:cNvSpPr/>
          <p:nvPr/>
        </p:nvSpPr>
        <p:spPr>
          <a:xfrm>
            <a:off x="3072179" y="4815508"/>
            <a:ext cx="1328928" cy="1033271"/>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Hazard_u</a:t>
            </a:r>
            <a:r>
              <a:rPr lang="en-US" dirty="0">
                <a:solidFill>
                  <a:schemeClr val="tx1"/>
                </a:solidFill>
              </a:rPr>
              <a:t> : </a:t>
            </a:r>
            <a:r>
              <a:rPr lang="en-US" dirty="0" err="1">
                <a:solidFill>
                  <a:schemeClr val="tx1"/>
                </a:solidFill>
              </a:rPr>
              <a:t>HazardUnit</a:t>
            </a:r>
            <a:endParaRPr lang="en-IL" dirty="0">
              <a:solidFill>
                <a:schemeClr val="tx1"/>
              </a:solidFill>
            </a:endParaRPr>
          </a:p>
        </p:txBody>
      </p:sp>
      <p:cxnSp>
        <p:nvCxnSpPr>
          <p:cNvPr id="217" name="Straight Arrow Connector 216">
            <a:extLst>
              <a:ext uri="{FF2B5EF4-FFF2-40B4-BE49-F238E27FC236}">
                <a16:creationId xmlns:a16="http://schemas.microsoft.com/office/drawing/2014/main" id="{50E78901-2C72-17C8-10F6-2BD02D59C989}"/>
              </a:ext>
            </a:extLst>
          </p:cNvPr>
          <p:cNvCxnSpPr>
            <a:cxnSpLocks/>
            <a:endCxn id="200" idx="1"/>
          </p:cNvCxnSpPr>
          <p:nvPr/>
        </p:nvCxnSpPr>
        <p:spPr>
          <a:xfrm>
            <a:off x="2792667" y="5332143"/>
            <a:ext cx="279512"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8" name="TextBox 217">
            <a:extLst>
              <a:ext uri="{FF2B5EF4-FFF2-40B4-BE49-F238E27FC236}">
                <a16:creationId xmlns:a16="http://schemas.microsoft.com/office/drawing/2014/main" id="{A05ABE84-F58E-EFE9-21E0-F6CDD6FDD01C}"/>
              </a:ext>
            </a:extLst>
          </p:cNvPr>
          <p:cNvSpPr txBox="1"/>
          <p:nvPr/>
        </p:nvSpPr>
        <p:spPr>
          <a:xfrm>
            <a:off x="2050292" y="5224421"/>
            <a:ext cx="803425" cy="215444"/>
          </a:xfrm>
          <a:prstGeom prst="rect">
            <a:avLst/>
          </a:prstGeom>
          <a:noFill/>
        </p:spPr>
        <p:txBody>
          <a:bodyPr wrap="none" rtlCol="0">
            <a:spAutoFit/>
          </a:bodyPr>
          <a:lstStyle/>
          <a:p>
            <a:r>
              <a:rPr lang="en-US" sz="800" dirty="0"/>
              <a:t>data_bus_out</a:t>
            </a:r>
            <a:endParaRPr lang="en-IL" sz="800" dirty="0"/>
          </a:p>
        </p:txBody>
      </p:sp>
      <p:cxnSp>
        <p:nvCxnSpPr>
          <p:cNvPr id="264" name="Straight Arrow Connector 263">
            <a:extLst>
              <a:ext uri="{FF2B5EF4-FFF2-40B4-BE49-F238E27FC236}">
                <a16:creationId xmlns:a16="http://schemas.microsoft.com/office/drawing/2014/main" id="{693A5D45-BDDA-A150-39AE-302926D4E754}"/>
              </a:ext>
            </a:extLst>
          </p:cNvPr>
          <p:cNvCxnSpPr>
            <a:cxnSpLocks/>
          </p:cNvCxnSpPr>
          <p:nvPr/>
        </p:nvCxnSpPr>
        <p:spPr>
          <a:xfrm>
            <a:off x="4410715" y="5213208"/>
            <a:ext cx="19530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6" name="TextBox 265">
            <a:extLst>
              <a:ext uri="{FF2B5EF4-FFF2-40B4-BE49-F238E27FC236}">
                <a16:creationId xmlns:a16="http://schemas.microsoft.com/office/drawing/2014/main" id="{AE9DA9BC-C338-B710-1BCE-465021B472F8}"/>
              </a:ext>
            </a:extLst>
          </p:cNvPr>
          <p:cNvSpPr txBox="1"/>
          <p:nvPr/>
        </p:nvSpPr>
        <p:spPr>
          <a:xfrm>
            <a:off x="4330243" y="5215854"/>
            <a:ext cx="716863" cy="215444"/>
          </a:xfrm>
          <a:prstGeom prst="rect">
            <a:avLst/>
          </a:prstGeom>
          <a:noFill/>
        </p:spPr>
        <p:txBody>
          <a:bodyPr wrap="none" rtlCol="0">
            <a:spAutoFit/>
          </a:bodyPr>
          <a:lstStyle/>
          <a:p>
            <a:r>
              <a:rPr lang="en-US" sz="800" dirty="0"/>
              <a:t>Instructions</a:t>
            </a:r>
          </a:p>
        </p:txBody>
      </p:sp>
      <p:sp>
        <p:nvSpPr>
          <p:cNvPr id="4" name="TextBox 3">
            <a:extLst>
              <a:ext uri="{FF2B5EF4-FFF2-40B4-BE49-F238E27FC236}">
                <a16:creationId xmlns:a16="http://schemas.microsoft.com/office/drawing/2014/main" id="{67E63ABF-B2CD-27D6-BDFF-4CA3FC43A108}"/>
              </a:ext>
            </a:extLst>
          </p:cNvPr>
          <p:cNvSpPr txBox="1"/>
          <p:nvPr/>
        </p:nvSpPr>
        <p:spPr>
          <a:xfrm>
            <a:off x="3736643" y="871446"/>
            <a:ext cx="6484327" cy="646331"/>
          </a:xfrm>
          <a:prstGeom prst="rect">
            <a:avLst/>
          </a:prstGeom>
          <a:noFill/>
        </p:spPr>
        <p:txBody>
          <a:bodyPr wrap="square" rtlCol="0">
            <a:spAutoFit/>
          </a:bodyPr>
          <a:lstStyle/>
          <a:p>
            <a:r>
              <a:rPr lang="en-US" dirty="0"/>
              <a:t>The instruction is approved by the Hazard Unit and gets taken by the Control Unit for further processing</a:t>
            </a:r>
            <a:endParaRPr lang="en-IL" dirty="0"/>
          </a:p>
        </p:txBody>
      </p:sp>
    </p:spTree>
    <p:extLst>
      <p:ext uri="{BB962C8B-B14F-4D97-AF65-F5344CB8AC3E}">
        <p14:creationId xmlns:p14="http://schemas.microsoft.com/office/powerpoint/2010/main" val="1196337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53109-C75A-55AB-91C0-37717157B83A}"/>
            </a:ext>
          </a:extLst>
        </p:cNvPr>
        <p:cNvGrpSpPr/>
        <p:nvPr/>
      </p:nvGrpSpPr>
      <p:grpSpPr>
        <a:xfrm>
          <a:off x="0" y="0"/>
          <a:ext cx="0" cy="0"/>
          <a:chOff x="0" y="0"/>
          <a:chExt cx="0" cy="0"/>
        </a:xfrm>
      </p:grpSpPr>
      <p:sp>
        <p:nvSpPr>
          <p:cNvPr id="68" name="Номер слайда 67">
            <a:extLst>
              <a:ext uri="{FF2B5EF4-FFF2-40B4-BE49-F238E27FC236}">
                <a16:creationId xmlns:a16="http://schemas.microsoft.com/office/drawing/2014/main" id="{B246266F-8B9D-A347-2F50-DDD46441059E}"/>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solidFill>
                  <a:schemeClr val="tx1"/>
                </a:solidFill>
              </a:rPr>
              <a:pPr rtl="0"/>
              <a:t>13</a:t>
            </a:fld>
            <a:endParaRPr lang="ru-RU" dirty="0">
              <a:solidFill>
                <a:schemeClr val="tx1"/>
              </a:solidFill>
            </a:endParaRPr>
          </a:p>
        </p:txBody>
      </p:sp>
      <p:sp>
        <p:nvSpPr>
          <p:cNvPr id="11" name="Заголовок 1">
            <a:extLst>
              <a:ext uri="{FF2B5EF4-FFF2-40B4-BE49-F238E27FC236}">
                <a16:creationId xmlns:a16="http://schemas.microsoft.com/office/drawing/2014/main" id="{1D2F540C-A9F9-BF4C-B7CB-A2969AA1A948}"/>
              </a:ext>
            </a:extLst>
          </p:cNvPr>
          <p:cNvSpPr txBox="1">
            <a:spLocks/>
          </p:cNvSpPr>
          <p:nvPr/>
        </p:nvSpPr>
        <p:spPr>
          <a:xfrm>
            <a:off x="99059" y="6084590"/>
            <a:ext cx="5876109" cy="543518"/>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endParaRPr lang="en-US" dirty="0"/>
          </a:p>
        </p:txBody>
      </p:sp>
      <p:sp>
        <p:nvSpPr>
          <p:cNvPr id="3" name="Заголовок 1">
            <a:extLst>
              <a:ext uri="{FF2B5EF4-FFF2-40B4-BE49-F238E27FC236}">
                <a16:creationId xmlns:a16="http://schemas.microsoft.com/office/drawing/2014/main" id="{9CA4FCE6-E1E9-AFFD-BBE1-42D0F369951E}"/>
              </a:ext>
            </a:extLst>
          </p:cNvPr>
          <p:cNvSpPr txBox="1">
            <a:spLocks/>
          </p:cNvSpPr>
          <p:nvPr/>
        </p:nvSpPr>
        <p:spPr>
          <a:xfrm>
            <a:off x="5692138" y="1698171"/>
            <a:ext cx="5876109" cy="3363686"/>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pPr marL="457200" indent="-457200">
              <a:buFont typeface="Arial" panose="020B0604020202020204" pitchFamily="34" charset="0"/>
              <a:buChar char="•"/>
            </a:pPr>
            <a:endParaRPr lang="he-IL" dirty="0"/>
          </a:p>
        </p:txBody>
      </p:sp>
      <p:sp>
        <p:nvSpPr>
          <p:cNvPr id="185" name="Rectangle 184">
            <a:extLst>
              <a:ext uri="{FF2B5EF4-FFF2-40B4-BE49-F238E27FC236}">
                <a16:creationId xmlns:a16="http://schemas.microsoft.com/office/drawing/2014/main" id="{6B726BDC-E807-E3BA-F8BD-68D31448BDB5}"/>
              </a:ext>
            </a:extLst>
          </p:cNvPr>
          <p:cNvSpPr>
            <a:spLocks noGrp="1" noRot="1" noMove="1" noResize="1" noEditPoints="1" noAdjustHandles="1" noChangeArrowheads="1" noChangeShapeType="1"/>
          </p:cNvSpPr>
          <p:nvPr/>
        </p:nvSpPr>
        <p:spPr>
          <a:xfrm>
            <a:off x="1127197" y="643811"/>
            <a:ext cx="10544270" cy="5984297"/>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highlight>
                <a:srgbClr val="000080"/>
              </a:highlight>
            </a:endParaRPr>
          </a:p>
        </p:txBody>
      </p:sp>
      <p:sp>
        <p:nvSpPr>
          <p:cNvPr id="199" name="Rectangle 198">
            <a:extLst>
              <a:ext uri="{FF2B5EF4-FFF2-40B4-BE49-F238E27FC236}">
                <a16:creationId xmlns:a16="http://schemas.microsoft.com/office/drawing/2014/main" id="{BA48C576-5E08-AEF5-70C4-3FCA515156A6}"/>
              </a:ext>
            </a:extLst>
          </p:cNvPr>
          <p:cNvSpPr/>
          <p:nvPr/>
        </p:nvSpPr>
        <p:spPr>
          <a:xfrm>
            <a:off x="4606021" y="4548148"/>
            <a:ext cx="1464026" cy="70275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CU_1: Control Unit</a:t>
            </a:r>
            <a:endParaRPr lang="en-IL" dirty="0">
              <a:solidFill>
                <a:schemeClr val="tx1"/>
              </a:solidFill>
            </a:endParaRPr>
          </a:p>
        </p:txBody>
      </p:sp>
      <p:cxnSp>
        <p:nvCxnSpPr>
          <p:cNvPr id="295" name="Straight Connector 294">
            <a:extLst>
              <a:ext uri="{FF2B5EF4-FFF2-40B4-BE49-F238E27FC236}">
                <a16:creationId xmlns:a16="http://schemas.microsoft.com/office/drawing/2014/main" id="{BCFC99FF-B928-5FA0-D3FA-81258D52502D}"/>
              </a:ext>
            </a:extLst>
          </p:cNvPr>
          <p:cNvCxnSpPr>
            <a:cxnSpLocks/>
          </p:cNvCxnSpPr>
          <p:nvPr/>
        </p:nvCxnSpPr>
        <p:spPr>
          <a:xfrm>
            <a:off x="4627924"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6" name="Straight Connector 295">
            <a:extLst>
              <a:ext uri="{FF2B5EF4-FFF2-40B4-BE49-F238E27FC236}">
                <a16:creationId xmlns:a16="http://schemas.microsoft.com/office/drawing/2014/main" id="{2678CC07-DE35-9157-FA65-0B84B78630D2}"/>
              </a:ext>
            </a:extLst>
          </p:cNvPr>
          <p:cNvCxnSpPr>
            <a:cxnSpLocks/>
          </p:cNvCxnSpPr>
          <p:nvPr/>
        </p:nvCxnSpPr>
        <p:spPr>
          <a:xfrm>
            <a:off x="4673168"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7" name="Straight Connector 296">
            <a:extLst>
              <a:ext uri="{FF2B5EF4-FFF2-40B4-BE49-F238E27FC236}">
                <a16:creationId xmlns:a16="http://schemas.microsoft.com/office/drawing/2014/main" id="{B0D67E7A-181B-B8C6-C06A-507104CC5D0A}"/>
              </a:ext>
            </a:extLst>
          </p:cNvPr>
          <p:cNvCxnSpPr>
            <a:cxnSpLocks/>
          </p:cNvCxnSpPr>
          <p:nvPr/>
        </p:nvCxnSpPr>
        <p:spPr>
          <a:xfrm>
            <a:off x="4720793"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8" name="Straight Connector 297">
            <a:extLst>
              <a:ext uri="{FF2B5EF4-FFF2-40B4-BE49-F238E27FC236}">
                <a16:creationId xmlns:a16="http://schemas.microsoft.com/office/drawing/2014/main" id="{9049B9D2-599E-E7EE-7B34-EAEF438A24F9}"/>
              </a:ext>
            </a:extLst>
          </p:cNvPr>
          <p:cNvCxnSpPr>
            <a:cxnSpLocks/>
          </p:cNvCxnSpPr>
          <p:nvPr/>
        </p:nvCxnSpPr>
        <p:spPr>
          <a:xfrm>
            <a:off x="4766036"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9" name="Straight Connector 298">
            <a:extLst>
              <a:ext uri="{FF2B5EF4-FFF2-40B4-BE49-F238E27FC236}">
                <a16:creationId xmlns:a16="http://schemas.microsoft.com/office/drawing/2014/main" id="{755B0A3A-EF7B-1D03-2248-049D36B71BAF}"/>
              </a:ext>
            </a:extLst>
          </p:cNvPr>
          <p:cNvCxnSpPr>
            <a:cxnSpLocks/>
          </p:cNvCxnSpPr>
          <p:nvPr/>
        </p:nvCxnSpPr>
        <p:spPr>
          <a:xfrm>
            <a:off x="4813662"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0" name="Straight Connector 299">
            <a:extLst>
              <a:ext uri="{FF2B5EF4-FFF2-40B4-BE49-F238E27FC236}">
                <a16:creationId xmlns:a16="http://schemas.microsoft.com/office/drawing/2014/main" id="{E3572733-25B0-0E9E-C035-3DFDC92853B2}"/>
              </a:ext>
            </a:extLst>
          </p:cNvPr>
          <p:cNvCxnSpPr>
            <a:cxnSpLocks/>
          </p:cNvCxnSpPr>
          <p:nvPr/>
        </p:nvCxnSpPr>
        <p:spPr>
          <a:xfrm>
            <a:off x="4858906"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1" name="Straight Connector 300">
            <a:extLst>
              <a:ext uri="{FF2B5EF4-FFF2-40B4-BE49-F238E27FC236}">
                <a16:creationId xmlns:a16="http://schemas.microsoft.com/office/drawing/2014/main" id="{6220E226-67F0-715A-97C3-215CDAA293B3}"/>
              </a:ext>
            </a:extLst>
          </p:cNvPr>
          <p:cNvCxnSpPr>
            <a:cxnSpLocks/>
          </p:cNvCxnSpPr>
          <p:nvPr/>
        </p:nvCxnSpPr>
        <p:spPr>
          <a:xfrm>
            <a:off x="4906531"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2" name="Straight Connector 301">
            <a:extLst>
              <a:ext uri="{FF2B5EF4-FFF2-40B4-BE49-F238E27FC236}">
                <a16:creationId xmlns:a16="http://schemas.microsoft.com/office/drawing/2014/main" id="{5F4251A2-DCCA-E817-C107-AC672621713C}"/>
              </a:ext>
            </a:extLst>
          </p:cNvPr>
          <p:cNvCxnSpPr>
            <a:cxnSpLocks/>
          </p:cNvCxnSpPr>
          <p:nvPr/>
        </p:nvCxnSpPr>
        <p:spPr>
          <a:xfrm>
            <a:off x="4951774" y="4447967"/>
            <a:ext cx="0" cy="116850"/>
          </a:xfrm>
          <a:prstGeom prst="line">
            <a:avLst/>
          </a:prstGeom>
        </p:spPr>
        <p:style>
          <a:lnRef idx="2">
            <a:schemeClr val="accent1"/>
          </a:lnRef>
          <a:fillRef idx="0">
            <a:schemeClr val="accent1"/>
          </a:fillRef>
          <a:effectRef idx="1">
            <a:schemeClr val="accent1"/>
          </a:effectRef>
          <a:fontRef idx="minor">
            <a:schemeClr val="tx1"/>
          </a:fontRef>
        </p:style>
      </p:cxnSp>
      <p:sp>
        <p:nvSpPr>
          <p:cNvPr id="312" name="TextBox 311">
            <a:extLst>
              <a:ext uri="{FF2B5EF4-FFF2-40B4-BE49-F238E27FC236}">
                <a16:creationId xmlns:a16="http://schemas.microsoft.com/office/drawing/2014/main" id="{BED90563-D970-169D-2346-03F2F96F25FC}"/>
              </a:ext>
            </a:extLst>
          </p:cNvPr>
          <p:cNvSpPr txBox="1"/>
          <p:nvPr/>
        </p:nvSpPr>
        <p:spPr>
          <a:xfrm>
            <a:off x="4517585" y="4278891"/>
            <a:ext cx="1168910" cy="215444"/>
          </a:xfrm>
          <a:prstGeom prst="rect">
            <a:avLst/>
          </a:prstGeom>
          <a:noFill/>
        </p:spPr>
        <p:txBody>
          <a:bodyPr wrap="none" rtlCol="0">
            <a:spAutoFit/>
          </a:bodyPr>
          <a:lstStyle/>
          <a:p>
            <a:r>
              <a:rPr lang="en-US" sz="800" dirty="0"/>
              <a:t>Registers </a:t>
            </a:r>
            <a:r>
              <a:rPr lang="en-US" sz="800" dirty="0" err="1"/>
              <a:t>read_enable</a:t>
            </a:r>
            <a:endParaRPr lang="en-IL" sz="800" dirty="0"/>
          </a:p>
        </p:txBody>
      </p:sp>
      <p:sp>
        <p:nvSpPr>
          <p:cNvPr id="6" name="Заголовок 1">
            <a:extLst>
              <a:ext uri="{FF2B5EF4-FFF2-40B4-BE49-F238E27FC236}">
                <a16:creationId xmlns:a16="http://schemas.microsoft.com/office/drawing/2014/main" id="{92ABBB74-4391-4FAB-1FB3-0D218CDDD834}"/>
              </a:ext>
            </a:extLst>
          </p:cNvPr>
          <p:cNvSpPr>
            <a:spLocks noGrp="1"/>
          </p:cNvSpPr>
          <p:nvPr>
            <p:ph type="title"/>
          </p:nvPr>
        </p:nvSpPr>
        <p:spPr>
          <a:xfrm>
            <a:off x="70079" y="-51011"/>
            <a:ext cx="7496285" cy="543518"/>
          </a:xfrm>
        </p:spPr>
        <p:txBody>
          <a:bodyPr rtlCol="0">
            <a:normAutofit fontScale="90000"/>
          </a:bodyPr>
          <a:lstStyle>
            <a:defPPr>
              <a:defRPr lang="ru-RU"/>
            </a:defPPr>
          </a:lstStyle>
          <a:p>
            <a:pPr algn="l"/>
            <a:r>
              <a:rPr lang="en-US" cap="none" dirty="0">
                <a:latin typeface="+mn-lt"/>
              </a:rPr>
              <a:t>ADD R1 R2 R3 EXAMPLE: DECODE + MEMORY</a:t>
            </a:r>
            <a:endParaRPr lang="ru-RU" cap="none" dirty="0">
              <a:latin typeface="+mn-lt"/>
            </a:endParaRPr>
          </a:p>
        </p:txBody>
      </p:sp>
      <p:sp>
        <p:nvSpPr>
          <p:cNvPr id="10" name="Rectangle 9">
            <a:extLst>
              <a:ext uri="{FF2B5EF4-FFF2-40B4-BE49-F238E27FC236}">
                <a16:creationId xmlns:a16="http://schemas.microsoft.com/office/drawing/2014/main" id="{45ABAD00-F253-06C8-A599-D3449420DC9E}"/>
              </a:ext>
            </a:extLst>
          </p:cNvPr>
          <p:cNvSpPr/>
          <p:nvPr/>
        </p:nvSpPr>
        <p:spPr>
          <a:xfrm>
            <a:off x="6555751" y="2317604"/>
            <a:ext cx="1010614" cy="31324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Reg_Data_1: Mux</a:t>
            </a:r>
            <a:endParaRPr lang="en-IL" sz="1200" dirty="0">
              <a:solidFill>
                <a:schemeClr val="tx1"/>
              </a:solidFill>
            </a:endParaRPr>
          </a:p>
        </p:txBody>
      </p:sp>
      <p:sp>
        <p:nvSpPr>
          <p:cNvPr id="12" name="Rectangle 11">
            <a:extLst>
              <a:ext uri="{FF2B5EF4-FFF2-40B4-BE49-F238E27FC236}">
                <a16:creationId xmlns:a16="http://schemas.microsoft.com/office/drawing/2014/main" id="{EE45F25A-8E72-A330-C429-83E9EBE0CA72}"/>
              </a:ext>
            </a:extLst>
          </p:cNvPr>
          <p:cNvSpPr/>
          <p:nvPr/>
        </p:nvSpPr>
        <p:spPr>
          <a:xfrm>
            <a:off x="6023583" y="962381"/>
            <a:ext cx="1010614" cy="58477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Reg_2 : Register</a:t>
            </a:r>
            <a:endParaRPr lang="en-IL" dirty="0">
              <a:solidFill>
                <a:schemeClr val="tx1"/>
              </a:solidFill>
            </a:endParaRPr>
          </a:p>
        </p:txBody>
      </p:sp>
      <p:sp>
        <p:nvSpPr>
          <p:cNvPr id="13" name="Rectangle 12">
            <a:extLst>
              <a:ext uri="{FF2B5EF4-FFF2-40B4-BE49-F238E27FC236}">
                <a16:creationId xmlns:a16="http://schemas.microsoft.com/office/drawing/2014/main" id="{7DF40C22-26E3-0796-4F3B-27B0FA787D10}"/>
              </a:ext>
            </a:extLst>
          </p:cNvPr>
          <p:cNvSpPr/>
          <p:nvPr/>
        </p:nvSpPr>
        <p:spPr>
          <a:xfrm>
            <a:off x="7111592" y="962381"/>
            <a:ext cx="1010614" cy="58477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Reg_3 : Register</a:t>
            </a:r>
            <a:endParaRPr lang="en-IL" dirty="0">
              <a:solidFill>
                <a:schemeClr val="tx1"/>
              </a:solidFill>
            </a:endParaRPr>
          </a:p>
        </p:txBody>
      </p:sp>
      <p:sp>
        <p:nvSpPr>
          <p:cNvPr id="14" name="Rectangle 13">
            <a:extLst>
              <a:ext uri="{FF2B5EF4-FFF2-40B4-BE49-F238E27FC236}">
                <a16:creationId xmlns:a16="http://schemas.microsoft.com/office/drawing/2014/main" id="{80DE886F-8124-4E61-7D4F-6AFD8186F79D}"/>
              </a:ext>
            </a:extLst>
          </p:cNvPr>
          <p:cNvSpPr/>
          <p:nvPr/>
        </p:nvSpPr>
        <p:spPr>
          <a:xfrm>
            <a:off x="6555751" y="2677617"/>
            <a:ext cx="1010614" cy="31324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Reg_Data_2: Mux</a:t>
            </a:r>
            <a:endParaRPr lang="en-IL" sz="1200" dirty="0">
              <a:solidFill>
                <a:schemeClr val="tx1"/>
              </a:solidFill>
            </a:endParaRPr>
          </a:p>
        </p:txBody>
      </p:sp>
      <p:cxnSp>
        <p:nvCxnSpPr>
          <p:cNvPr id="17" name="Straight Connector 16">
            <a:extLst>
              <a:ext uri="{FF2B5EF4-FFF2-40B4-BE49-F238E27FC236}">
                <a16:creationId xmlns:a16="http://schemas.microsoft.com/office/drawing/2014/main" id="{738EB89C-BA08-DD7B-90D5-95ADDF739EB6}"/>
              </a:ext>
            </a:extLst>
          </p:cNvPr>
          <p:cNvCxnSpPr>
            <a:cxnSpLocks/>
          </p:cNvCxnSpPr>
          <p:nvPr/>
        </p:nvCxnSpPr>
        <p:spPr>
          <a:xfrm flipV="1">
            <a:off x="6355705" y="1747085"/>
            <a:ext cx="0" cy="1087155"/>
          </a:xfrm>
          <a:prstGeom prst="line">
            <a:avLst/>
          </a:prstGeom>
          <a:ln w="57150">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15D38C6-98EA-536C-AB4D-2AF1A8CC8ECE}"/>
              </a:ext>
            </a:extLst>
          </p:cNvPr>
          <p:cNvCxnSpPr>
            <a:cxnSpLocks/>
          </p:cNvCxnSpPr>
          <p:nvPr/>
        </p:nvCxnSpPr>
        <p:spPr>
          <a:xfrm>
            <a:off x="6355705" y="1747085"/>
            <a:ext cx="1696261" cy="0"/>
          </a:xfrm>
          <a:prstGeom prst="line">
            <a:avLst/>
          </a:prstGeom>
          <a:ln w="57150">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B555A7A-D85B-D420-F55E-321C51CBB8A7}"/>
              </a:ext>
            </a:extLst>
          </p:cNvPr>
          <p:cNvCxnSpPr>
            <a:cxnSpLocks/>
          </p:cNvCxnSpPr>
          <p:nvPr/>
        </p:nvCxnSpPr>
        <p:spPr>
          <a:xfrm>
            <a:off x="6966116" y="1547156"/>
            <a:ext cx="0" cy="1891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35B9C39-21C4-9D1C-B1AF-68E9A7264A02}"/>
              </a:ext>
            </a:extLst>
          </p:cNvPr>
          <p:cNvCxnSpPr>
            <a:cxnSpLocks/>
          </p:cNvCxnSpPr>
          <p:nvPr/>
        </p:nvCxnSpPr>
        <p:spPr>
          <a:xfrm>
            <a:off x="8051966" y="1556267"/>
            <a:ext cx="0" cy="1800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DABD36D1-EF2D-8DAE-EF0D-2EE28FD300E6}"/>
              </a:ext>
            </a:extLst>
          </p:cNvPr>
          <p:cNvCxnSpPr>
            <a:cxnSpLocks/>
            <a:endCxn id="10" idx="1"/>
          </p:cNvCxnSpPr>
          <p:nvPr/>
        </p:nvCxnSpPr>
        <p:spPr>
          <a:xfrm flipV="1">
            <a:off x="6355705" y="2474227"/>
            <a:ext cx="200046" cy="317"/>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746E887-780A-443F-2F6C-6EDC8F6A4503}"/>
              </a:ext>
            </a:extLst>
          </p:cNvPr>
          <p:cNvCxnSpPr>
            <a:cxnSpLocks/>
          </p:cNvCxnSpPr>
          <p:nvPr/>
        </p:nvCxnSpPr>
        <p:spPr>
          <a:xfrm flipV="1">
            <a:off x="6355705" y="2821941"/>
            <a:ext cx="200046" cy="317"/>
          </a:xfrm>
          <a:prstGeom prst="straightConnector1">
            <a:avLst/>
          </a:prstGeom>
          <a:ln w="381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F82DA4CB-1BFF-16E2-0175-95E2E720960D}"/>
              </a:ext>
            </a:extLst>
          </p:cNvPr>
          <p:cNvSpPr txBox="1"/>
          <p:nvPr/>
        </p:nvSpPr>
        <p:spPr>
          <a:xfrm>
            <a:off x="1287009" y="1326193"/>
            <a:ext cx="4396879" cy="1200329"/>
          </a:xfrm>
          <a:prstGeom prst="rect">
            <a:avLst/>
          </a:prstGeom>
          <a:noFill/>
        </p:spPr>
        <p:txBody>
          <a:bodyPr wrap="square" rtlCol="0">
            <a:spAutoFit/>
          </a:bodyPr>
          <a:lstStyle/>
          <a:p>
            <a:r>
              <a:rPr lang="en-US" dirty="0"/>
              <a:t>The Control Unit decodes the instruction, and turns </a:t>
            </a:r>
            <a:r>
              <a:rPr lang="en-US" dirty="0" err="1"/>
              <a:t>read_enable</a:t>
            </a:r>
            <a:r>
              <a:rPr lang="en-US" dirty="0"/>
              <a:t> on the </a:t>
            </a:r>
            <a:r>
              <a:rPr lang="en-US" dirty="0" err="1"/>
              <a:t>src</a:t>
            </a:r>
            <a:r>
              <a:rPr lang="en-US" dirty="0"/>
              <a:t> registers.</a:t>
            </a:r>
          </a:p>
          <a:p>
            <a:r>
              <a:rPr lang="en-US" dirty="0"/>
              <a:t>Also activates the correct selector on the </a:t>
            </a:r>
            <a:r>
              <a:rPr lang="en-US" dirty="0" err="1"/>
              <a:t>MUXes</a:t>
            </a:r>
            <a:endParaRPr lang="en-IL" dirty="0"/>
          </a:p>
        </p:txBody>
      </p:sp>
    </p:spTree>
    <p:extLst>
      <p:ext uri="{BB962C8B-B14F-4D97-AF65-F5344CB8AC3E}">
        <p14:creationId xmlns:p14="http://schemas.microsoft.com/office/powerpoint/2010/main" val="169504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D02AB-A751-E9E4-5EC8-C64CA73942A5}"/>
            </a:ext>
          </a:extLst>
        </p:cNvPr>
        <p:cNvGrpSpPr/>
        <p:nvPr/>
      </p:nvGrpSpPr>
      <p:grpSpPr>
        <a:xfrm>
          <a:off x="0" y="0"/>
          <a:ext cx="0" cy="0"/>
          <a:chOff x="0" y="0"/>
          <a:chExt cx="0" cy="0"/>
        </a:xfrm>
      </p:grpSpPr>
      <p:sp>
        <p:nvSpPr>
          <p:cNvPr id="68" name="Номер слайда 67">
            <a:extLst>
              <a:ext uri="{FF2B5EF4-FFF2-40B4-BE49-F238E27FC236}">
                <a16:creationId xmlns:a16="http://schemas.microsoft.com/office/drawing/2014/main" id="{8C6E8958-6B32-F3E3-D28B-78DA5F323B0F}"/>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solidFill>
                  <a:schemeClr val="tx1"/>
                </a:solidFill>
              </a:rPr>
              <a:pPr rtl="0"/>
              <a:t>14</a:t>
            </a:fld>
            <a:endParaRPr lang="ru-RU" dirty="0">
              <a:solidFill>
                <a:schemeClr val="tx1"/>
              </a:solidFill>
            </a:endParaRPr>
          </a:p>
        </p:txBody>
      </p:sp>
      <p:sp>
        <p:nvSpPr>
          <p:cNvPr id="11" name="Заголовок 1">
            <a:extLst>
              <a:ext uri="{FF2B5EF4-FFF2-40B4-BE49-F238E27FC236}">
                <a16:creationId xmlns:a16="http://schemas.microsoft.com/office/drawing/2014/main" id="{07D8946D-F619-13FE-2A1E-4B6BA8752AD0}"/>
              </a:ext>
            </a:extLst>
          </p:cNvPr>
          <p:cNvSpPr txBox="1">
            <a:spLocks/>
          </p:cNvSpPr>
          <p:nvPr/>
        </p:nvSpPr>
        <p:spPr>
          <a:xfrm>
            <a:off x="99059" y="6084590"/>
            <a:ext cx="5876109" cy="543518"/>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endParaRPr lang="en-US" dirty="0"/>
          </a:p>
        </p:txBody>
      </p:sp>
      <p:sp>
        <p:nvSpPr>
          <p:cNvPr id="3" name="Заголовок 1">
            <a:extLst>
              <a:ext uri="{FF2B5EF4-FFF2-40B4-BE49-F238E27FC236}">
                <a16:creationId xmlns:a16="http://schemas.microsoft.com/office/drawing/2014/main" id="{BDFDCDCC-B24A-CD24-861D-DB831A0D7D4A}"/>
              </a:ext>
            </a:extLst>
          </p:cNvPr>
          <p:cNvSpPr txBox="1">
            <a:spLocks/>
          </p:cNvSpPr>
          <p:nvPr/>
        </p:nvSpPr>
        <p:spPr>
          <a:xfrm>
            <a:off x="5692138" y="1698171"/>
            <a:ext cx="5876109" cy="3363686"/>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pPr marL="457200" indent="-457200">
              <a:buFont typeface="Arial" panose="020B0604020202020204" pitchFamily="34" charset="0"/>
              <a:buChar char="•"/>
            </a:pPr>
            <a:endParaRPr lang="he-IL" dirty="0"/>
          </a:p>
        </p:txBody>
      </p:sp>
      <p:sp>
        <p:nvSpPr>
          <p:cNvPr id="185" name="Rectangle 184">
            <a:extLst>
              <a:ext uri="{FF2B5EF4-FFF2-40B4-BE49-F238E27FC236}">
                <a16:creationId xmlns:a16="http://schemas.microsoft.com/office/drawing/2014/main" id="{8AF199A8-A498-3149-955E-B78B3A8E8805}"/>
              </a:ext>
            </a:extLst>
          </p:cNvPr>
          <p:cNvSpPr>
            <a:spLocks noGrp="1" noRot="1" noMove="1" noResize="1" noEditPoints="1" noAdjustHandles="1" noChangeArrowheads="1" noChangeShapeType="1"/>
          </p:cNvSpPr>
          <p:nvPr/>
        </p:nvSpPr>
        <p:spPr>
          <a:xfrm>
            <a:off x="1127197" y="643811"/>
            <a:ext cx="10544270" cy="5984297"/>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highlight>
                <a:srgbClr val="000080"/>
              </a:highlight>
            </a:endParaRPr>
          </a:p>
        </p:txBody>
      </p:sp>
      <p:sp>
        <p:nvSpPr>
          <p:cNvPr id="191" name="Rectangle 190">
            <a:extLst>
              <a:ext uri="{FF2B5EF4-FFF2-40B4-BE49-F238E27FC236}">
                <a16:creationId xmlns:a16="http://schemas.microsoft.com/office/drawing/2014/main" id="{934129D1-6314-8D44-2128-4EBC4534E505}"/>
              </a:ext>
            </a:extLst>
          </p:cNvPr>
          <p:cNvSpPr/>
          <p:nvPr/>
        </p:nvSpPr>
        <p:spPr>
          <a:xfrm>
            <a:off x="7934165" y="2317604"/>
            <a:ext cx="832057" cy="1033272"/>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ALU_1 : ALU</a:t>
            </a:r>
            <a:endParaRPr lang="en-IL" dirty="0">
              <a:solidFill>
                <a:schemeClr val="tx1"/>
              </a:solidFill>
            </a:endParaRPr>
          </a:p>
        </p:txBody>
      </p:sp>
      <p:sp>
        <p:nvSpPr>
          <p:cNvPr id="194" name="Rectangle 193">
            <a:extLst>
              <a:ext uri="{FF2B5EF4-FFF2-40B4-BE49-F238E27FC236}">
                <a16:creationId xmlns:a16="http://schemas.microsoft.com/office/drawing/2014/main" id="{270F5C95-99A7-0AAE-CCB4-FF9E3968D219}"/>
              </a:ext>
            </a:extLst>
          </p:cNvPr>
          <p:cNvSpPr/>
          <p:nvPr/>
        </p:nvSpPr>
        <p:spPr>
          <a:xfrm>
            <a:off x="6555751" y="2317604"/>
            <a:ext cx="1010614" cy="31324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Reg_Data_1: Mux</a:t>
            </a:r>
            <a:endParaRPr lang="en-IL" sz="1200" dirty="0">
              <a:solidFill>
                <a:schemeClr val="tx1"/>
              </a:solidFill>
            </a:endParaRPr>
          </a:p>
        </p:txBody>
      </p:sp>
      <p:sp>
        <p:nvSpPr>
          <p:cNvPr id="199" name="Rectangle 198">
            <a:extLst>
              <a:ext uri="{FF2B5EF4-FFF2-40B4-BE49-F238E27FC236}">
                <a16:creationId xmlns:a16="http://schemas.microsoft.com/office/drawing/2014/main" id="{C99529C7-2C6E-E1EA-DDB5-29F792616112}"/>
              </a:ext>
            </a:extLst>
          </p:cNvPr>
          <p:cNvSpPr/>
          <p:nvPr/>
        </p:nvSpPr>
        <p:spPr>
          <a:xfrm>
            <a:off x="4606021" y="4548148"/>
            <a:ext cx="1464026" cy="70275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CU_1: Control Unit</a:t>
            </a:r>
            <a:endParaRPr lang="en-IL" dirty="0">
              <a:solidFill>
                <a:schemeClr val="tx1"/>
              </a:solidFill>
            </a:endParaRPr>
          </a:p>
        </p:txBody>
      </p:sp>
      <p:sp>
        <p:nvSpPr>
          <p:cNvPr id="224" name="Rectangle 223">
            <a:extLst>
              <a:ext uri="{FF2B5EF4-FFF2-40B4-BE49-F238E27FC236}">
                <a16:creationId xmlns:a16="http://schemas.microsoft.com/office/drawing/2014/main" id="{633F26C9-C6EA-F9A3-43CA-366401524306}"/>
              </a:ext>
            </a:extLst>
          </p:cNvPr>
          <p:cNvSpPr/>
          <p:nvPr/>
        </p:nvSpPr>
        <p:spPr>
          <a:xfrm>
            <a:off x="6555751" y="2677617"/>
            <a:ext cx="1010614" cy="31324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Reg_Data_2: Mux</a:t>
            </a:r>
            <a:endParaRPr lang="en-IL" sz="1200" dirty="0">
              <a:solidFill>
                <a:schemeClr val="tx1"/>
              </a:solidFill>
            </a:endParaRPr>
          </a:p>
        </p:txBody>
      </p:sp>
      <p:cxnSp>
        <p:nvCxnSpPr>
          <p:cNvPr id="227" name="Straight Arrow Connector 226">
            <a:extLst>
              <a:ext uri="{FF2B5EF4-FFF2-40B4-BE49-F238E27FC236}">
                <a16:creationId xmlns:a16="http://schemas.microsoft.com/office/drawing/2014/main" id="{670CECB7-3100-DC99-070A-7BB3CA08613C}"/>
              </a:ext>
            </a:extLst>
          </p:cNvPr>
          <p:cNvCxnSpPr>
            <a:stCxn id="194" idx="3"/>
          </p:cNvCxnSpPr>
          <p:nvPr/>
        </p:nvCxnSpPr>
        <p:spPr>
          <a:xfrm>
            <a:off x="7566365" y="2474227"/>
            <a:ext cx="3677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8" name="Straight Arrow Connector 227">
            <a:extLst>
              <a:ext uri="{FF2B5EF4-FFF2-40B4-BE49-F238E27FC236}">
                <a16:creationId xmlns:a16="http://schemas.microsoft.com/office/drawing/2014/main" id="{D04C976B-6D96-7C31-9E8D-2FB335585198}"/>
              </a:ext>
            </a:extLst>
          </p:cNvPr>
          <p:cNvCxnSpPr/>
          <p:nvPr/>
        </p:nvCxnSpPr>
        <p:spPr>
          <a:xfrm>
            <a:off x="7566364" y="2834240"/>
            <a:ext cx="3677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8" name="Straight Arrow Connector 267">
            <a:extLst>
              <a:ext uri="{FF2B5EF4-FFF2-40B4-BE49-F238E27FC236}">
                <a16:creationId xmlns:a16="http://schemas.microsoft.com/office/drawing/2014/main" id="{350705C5-3085-1EB9-8706-A8D5E51DC044}"/>
              </a:ext>
            </a:extLst>
          </p:cNvPr>
          <p:cNvCxnSpPr>
            <a:cxnSpLocks/>
          </p:cNvCxnSpPr>
          <p:nvPr/>
        </p:nvCxnSpPr>
        <p:spPr>
          <a:xfrm>
            <a:off x="6235867" y="3220818"/>
            <a:ext cx="16905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0" name="Straight Connector 269">
            <a:extLst>
              <a:ext uri="{FF2B5EF4-FFF2-40B4-BE49-F238E27FC236}">
                <a16:creationId xmlns:a16="http://schemas.microsoft.com/office/drawing/2014/main" id="{C1B75613-DC75-F3E5-D72F-55FF5F6F7078}"/>
              </a:ext>
            </a:extLst>
          </p:cNvPr>
          <p:cNvCxnSpPr>
            <a:cxnSpLocks/>
          </p:cNvCxnSpPr>
          <p:nvPr/>
        </p:nvCxnSpPr>
        <p:spPr>
          <a:xfrm flipH="1" flipV="1">
            <a:off x="6234474" y="3212645"/>
            <a:ext cx="1393" cy="1388455"/>
          </a:xfrm>
          <a:prstGeom prst="line">
            <a:avLst/>
          </a:prstGeom>
        </p:spPr>
        <p:style>
          <a:lnRef idx="2">
            <a:schemeClr val="accent1"/>
          </a:lnRef>
          <a:fillRef idx="0">
            <a:schemeClr val="accent1"/>
          </a:fillRef>
          <a:effectRef idx="1">
            <a:schemeClr val="accent1"/>
          </a:effectRef>
          <a:fontRef idx="minor">
            <a:schemeClr val="tx1"/>
          </a:fontRef>
        </p:style>
      </p:cxnSp>
      <p:cxnSp>
        <p:nvCxnSpPr>
          <p:cNvPr id="271" name="Straight Connector 270">
            <a:extLst>
              <a:ext uri="{FF2B5EF4-FFF2-40B4-BE49-F238E27FC236}">
                <a16:creationId xmlns:a16="http://schemas.microsoft.com/office/drawing/2014/main" id="{FA8EEE1A-E548-CD80-C6A4-C8571C513FA5}"/>
              </a:ext>
            </a:extLst>
          </p:cNvPr>
          <p:cNvCxnSpPr>
            <a:cxnSpLocks/>
          </p:cNvCxnSpPr>
          <p:nvPr/>
        </p:nvCxnSpPr>
        <p:spPr>
          <a:xfrm flipH="1">
            <a:off x="6077349" y="4592209"/>
            <a:ext cx="155343" cy="0"/>
          </a:xfrm>
          <a:prstGeom prst="line">
            <a:avLst/>
          </a:prstGeom>
        </p:spPr>
        <p:style>
          <a:lnRef idx="2">
            <a:schemeClr val="accent1"/>
          </a:lnRef>
          <a:fillRef idx="0">
            <a:schemeClr val="accent1"/>
          </a:fillRef>
          <a:effectRef idx="1">
            <a:schemeClr val="accent1"/>
          </a:effectRef>
          <a:fontRef idx="minor">
            <a:schemeClr val="tx1"/>
          </a:fontRef>
        </p:style>
      </p:cxnSp>
      <p:sp>
        <p:nvSpPr>
          <p:cNvPr id="273" name="TextBox 272">
            <a:extLst>
              <a:ext uri="{FF2B5EF4-FFF2-40B4-BE49-F238E27FC236}">
                <a16:creationId xmlns:a16="http://schemas.microsoft.com/office/drawing/2014/main" id="{D6080019-A785-BD33-8CA3-14A54506296A}"/>
              </a:ext>
            </a:extLst>
          </p:cNvPr>
          <p:cNvSpPr txBox="1"/>
          <p:nvPr/>
        </p:nvSpPr>
        <p:spPr>
          <a:xfrm>
            <a:off x="6672989" y="3054555"/>
            <a:ext cx="587020" cy="215444"/>
          </a:xfrm>
          <a:prstGeom prst="rect">
            <a:avLst/>
          </a:prstGeom>
          <a:noFill/>
        </p:spPr>
        <p:txBody>
          <a:bodyPr wrap="none" rtlCol="0">
            <a:spAutoFit/>
          </a:bodyPr>
          <a:lstStyle/>
          <a:p>
            <a:r>
              <a:rPr lang="en-US" sz="800" dirty="0" err="1"/>
              <a:t>Op_code</a:t>
            </a:r>
            <a:endParaRPr lang="en-IL" sz="800" dirty="0"/>
          </a:p>
        </p:txBody>
      </p:sp>
      <p:sp>
        <p:nvSpPr>
          <p:cNvPr id="6" name="Заголовок 1">
            <a:extLst>
              <a:ext uri="{FF2B5EF4-FFF2-40B4-BE49-F238E27FC236}">
                <a16:creationId xmlns:a16="http://schemas.microsoft.com/office/drawing/2014/main" id="{F4E2939F-6850-E6A6-0112-5751B3A726C5}"/>
              </a:ext>
            </a:extLst>
          </p:cNvPr>
          <p:cNvSpPr>
            <a:spLocks noGrp="1"/>
          </p:cNvSpPr>
          <p:nvPr>
            <p:ph type="title"/>
          </p:nvPr>
        </p:nvSpPr>
        <p:spPr>
          <a:xfrm>
            <a:off x="70079" y="-51011"/>
            <a:ext cx="7496285" cy="543518"/>
          </a:xfrm>
        </p:spPr>
        <p:txBody>
          <a:bodyPr rtlCol="0">
            <a:normAutofit/>
          </a:bodyPr>
          <a:lstStyle>
            <a:defPPr>
              <a:defRPr lang="ru-RU"/>
            </a:defPPr>
          </a:lstStyle>
          <a:p>
            <a:pPr algn="l"/>
            <a:r>
              <a:rPr lang="en-US" cap="none" dirty="0">
                <a:latin typeface="+mn-lt"/>
              </a:rPr>
              <a:t>ADD R1 R2 R3 EXAMPLE: EXECUTE</a:t>
            </a:r>
            <a:endParaRPr lang="ru-RU" cap="none" dirty="0">
              <a:latin typeface="+mn-lt"/>
            </a:endParaRPr>
          </a:p>
        </p:txBody>
      </p:sp>
      <p:sp>
        <p:nvSpPr>
          <p:cNvPr id="2" name="TextBox 1">
            <a:extLst>
              <a:ext uri="{FF2B5EF4-FFF2-40B4-BE49-F238E27FC236}">
                <a16:creationId xmlns:a16="http://schemas.microsoft.com/office/drawing/2014/main" id="{E058589E-65DC-931F-D3C6-692A61B44C85}"/>
              </a:ext>
            </a:extLst>
          </p:cNvPr>
          <p:cNvSpPr txBox="1"/>
          <p:nvPr/>
        </p:nvSpPr>
        <p:spPr>
          <a:xfrm>
            <a:off x="1449836" y="1262697"/>
            <a:ext cx="6484327" cy="646331"/>
          </a:xfrm>
          <a:prstGeom prst="rect">
            <a:avLst/>
          </a:prstGeom>
          <a:noFill/>
        </p:spPr>
        <p:txBody>
          <a:bodyPr wrap="square" rtlCol="0">
            <a:spAutoFit/>
          </a:bodyPr>
          <a:lstStyle/>
          <a:p>
            <a:r>
              <a:rPr lang="en-US" dirty="0"/>
              <a:t>The Control Unit sends the ALU the op code, and the data arrive through the muxes, the ALU processes the operation.</a:t>
            </a:r>
            <a:endParaRPr lang="en-IL" dirty="0"/>
          </a:p>
        </p:txBody>
      </p:sp>
    </p:spTree>
    <p:extLst>
      <p:ext uri="{BB962C8B-B14F-4D97-AF65-F5344CB8AC3E}">
        <p14:creationId xmlns:p14="http://schemas.microsoft.com/office/powerpoint/2010/main" val="3360610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488A2-459C-2E76-F8FA-9EB43293C607}"/>
            </a:ext>
          </a:extLst>
        </p:cNvPr>
        <p:cNvGrpSpPr/>
        <p:nvPr/>
      </p:nvGrpSpPr>
      <p:grpSpPr>
        <a:xfrm>
          <a:off x="0" y="0"/>
          <a:ext cx="0" cy="0"/>
          <a:chOff x="0" y="0"/>
          <a:chExt cx="0" cy="0"/>
        </a:xfrm>
      </p:grpSpPr>
      <p:sp>
        <p:nvSpPr>
          <p:cNvPr id="68" name="Номер слайда 67">
            <a:extLst>
              <a:ext uri="{FF2B5EF4-FFF2-40B4-BE49-F238E27FC236}">
                <a16:creationId xmlns:a16="http://schemas.microsoft.com/office/drawing/2014/main" id="{FC05CF64-BB22-B92A-2999-DAC3470FD991}"/>
              </a:ext>
            </a:extLst>
          </p:cNvPr>
          <p:cNvSpPr>
            <a:spLocks noGrp="1"/>
          </p:cNvSpPr>
          <p:nvPr>
            <p:ph type="sldNum" sz="quarter" idx="13"/>
          </p:nvPr>
        </p:nvSpPr>
        <p:spPr>
          <a:xfrm>
            <a:off x="10373350" y="6356349"/>
            <a:ext cx="987552" cy="365125"/>
          </a:xfrm>
        </p:spPr>
        <p:txBody>
          <a:bodyPr rtlCol="0"/>
          <a:lstStyle>
            <a:defPPr>
              <a:defRPr lang="ru-RU"/>
            </a:defPPr>
          </a:lstStyle>
          <a:p>
            <a:pPr rtl="0"/>
            <a:fld id="{A49DFD55-3C28-40EF-9E31-A92D2E4017FF}" type="slidenum">
              <a:rPr lang="ru-RU" smtClean="0">
                <a:solidFill>
                  <a:schemeClr val="tx1"/>
                </a:solidFill>
              </a:rPr>
              <a:pPr rtl="0"/>
              <a:t>15</a:t>
            </a:fld>
            <a:endParaRPr lang="ru-RU" dirty="0">
              <a:solidFill>
                <a:schemeClr val="tx1"/>
              </a:solidFill>
            </a:endParaRPr>
          </a:p>
        </p:txBody>
      </p:sp>
      <p:sp>
        <p:nvSpPr>
          <p:cNvPr id="11" name="Заголовок 1">
            <a:extLst>
              <a:ext uri="{FF2B5EF4-FFF2-40B4-BE49-F238E27FC236}">
                <a16:creationId xmlns:a16="http://schemas.microsoft.com/office/drawing/2014/main" id="{09A68D23-3C7D-20E8-C52F-EF50FC443C27}"/>
              </a:ext>
            </a:extLst>
          </p:cNvPr>
          <p:cNvSpPr txBox="1">
            <a:spLocks/>
          </p:cNvSpPr>
          <p:nvPr/>
        </p:nvSpPr>
        <p:spPr>
          <a:xfrm>
            <a:off x="99059" y="6084590"/>
            <a:ext cx="5876109" cy="543518"/>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endParaRPr lang="en-US" dirty="0"/>
          </a:p>
        </p:txBody>
      </p:sp>
      <p:sp>
        <p:nvSpPr>
          <p:cNvPr id="3" name="Заголовок 1">
            <a:extLst>
              <a:ext uri="{FF2B5EF4-FFF2-40B4-BE49-F238E27FC236}">
                <a16:creationId xmlns:a16="http://schemas.microsoft.com/office/drawing/2014/main" id="{FF4E3086-67B0-365D-AAE0-B7D92035D509}"/>
              </a:ext>
            </a:extLst>
          </p:cNvPr>
          <p:cNvSpPr txBox="1">
            <a:spLocks/>
          </p:cNvSpPr>
          <p:nvPr/>
        </p:nvSpPr>
        <p:spPr>
          <a:xfrm>
            <a:off x="5692138" y="1698171"/>
            <a:ext cx="5876109" cy="3363686"/>
          </a:xfrm>
          <a:prstGeom prst="rect">
            <a:avLst/>
          </a:prstGeom>
        </p:spPr>
        <p:txBody>
          <a:bodyPr vert="horz" lIns="91440" tIns="45720" rIns="91440" bIns="45720" rtlCol="0" anchor="b">
            <a:normAutofit/>
          </a:bodyPr>
          <a:lstStyle>
            <a:defPPr>
              <a:defRPr lang="ru-RU"/>
            </a:defPPr>
            <a:lvl1pPr algn="l" defTabSz="914400" rtl="0" eaLnBrk="1" latinLnBrk="0" hangingPunct="1">
              <a:lnSpc>
                <a:spcPct val="90000"/>
              </a:lnSpc>
              <a:spcBef>
                <a:spcPct val="0"/>
              </a:spcBef>
              <a:buNone/>
              <a:defRPr lang="ru-RU" sz="2800" kern="1200" cap="all" spc="150" baseline="0" dirty="0">
                <a:solidFill>
                  <a:schemeClr val="tx1"/>
                </a:solidFill>
                <a:latin typeface="Arial" panose="020B0604020202020204" pitchFamily="34" charset="0"/>
                <a:ea typeface="+mj-ea"/>
                <a:cs typeface="+mj-cs"/>
              </a:defRPr>
            </a:lvl1pPr>
          </a:lstStyle>
          <a:p>
            <a:pPr marL="457200" indent="-457200">
              <a:buFont typeface="Arial" panose="020B0604020202020204" pitchFamily="34" charset="0"/>
              <a:buChar char="•"/>
            </a:pPr>
            <a:endParaRPr lang="he-IL" dirty="0"/>
          </a:p>
        </p:txBody>
      </p:sp>
      <p:sp>
        <p:nvSpPr>
          <p:cNvPr id="185" name="Rectangle 184">
            <a:extLst>
              <a:ext uri="{FF2B5EF4-FFF2-40B4-BE49-F238E27FC236}">
                <a16:creationId xmlns:a16="http://schemas.microsoft.com/office/drawing/2014/main" id="{5663186C-706A-97CF-6D83-30657E2B2593}"/>
              </a:ext>
            </a:extLst>
          </p:cNvPr>
          <p:cNvSpPr>
            <a:spLocks noGrp="1" noRot="1" noMove="1" noResize="1" noEditPoints="1" noAdjustHandles="1" noChangeArrowheads="1" noChangeShapeType="1"/>
          </p:cNvSpPr>
          <p:nvPr/>
        </p:nvSpPr>
        <p:spPr>
          <a:xfrm>
            <a:off x="1127197" y="643811"/>
            <a:ext cx="10544270" cy="5984297"/>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highlight>
                <a:srgbClr val="000080"/>
              </a:highlight>
            </a:endParaRPr>
          </a:p>
        </p:txBody>
      </p:sp>
      <p:sp>
        <p:nvSpPr>
          <p:cNvPr id="191" name="Rectangle 190">
            <a:extLst>
              <a:ext uri="{FF2B5EF4-FFF2-40B4-BE49-F238E27FC236}">
                <a16:creationId xmlns:a16="http://schemas.microsoft.com/office/drawing/2014/main" id="{2980AAB0-1089-4E1D-F592-0B04863CF108}"/>
              </a:ext>
            </a:extLst>
          </p:cNvPr>
          <p:cNvSpPr/>
          <p:nvPr/>
        </p:nvSpPr>
        <p:spPr>
          <a:xfrm>
            <a:off x="7934165" y="2317604"/>
            <a:ext cx="832057" cy="1033272"/>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ALU_1 : ALU</a:t>
            </a:r>
            <a:endParaRPr lang="en-IL" dirty="0">
              <a:solidFill>
                <a:schemeClr val="tx1"/>
              </a:solidFill>
            </a:endParaRPr>
          </a:p>
        </p:txBody>
      </p:sp>
      <p:sp>
        <p:nvSpPr>
          <p:cNvPr id="193" name="Rectangle 192">
            <a:extLst>
              <a:ext uri="{FF2B5EF4-FFF2-40B4-BE49-F238E27FC236}">
                <a16:creationId xmlns:a16="http://schemas.microsoft.com/office/drawing/2014/main" id="{B6731964-B9E5-9A14-DB4E-CC9DEFA61DF3}"/>
              </a:ext>
            </a:extLst>
          </p:cNvPr>
          <p:cNvSpPr/>
          <p:nvPr/>
        </p:nvSpPr>
        <p:spPr>
          <a:xfrm>
            <a:off x="7934163" y="4658884"/>
            <a:ext cx="1079257" cy="313247"/>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Data_bus_1 : Mux</a:t>
            </a:r>
            <a:endParaRPr lang="en-IL" sz="1200" dirty="0">
              <a:solidFill>
                <a:schemeClr val="tx1"/>
              </a:solidFill>
            </a:endParaRPr>
          </a:p>
        </p:txBody>
      </p:sp>
      <p:sp>
        <p:nvSpPr>
          <p:cNvPr id="198" name="Rectangle 197">
            <a:extLst>
              <a:ext uri="{FF2B5EF4-FFF2-40B4-BE49-F238E27FC236}">
                <a16:creationId xmlns:a16="http://schemas.microsoft.com/office/drawing/2014/main" id="{7158E41E-1373-1E8A-614F-787A082FAC7B}"/>
              </a:ext>
            </a:extLst>
          </p:cNvPr>
          <p:cNvSpPr/>
          <p:nvPr/>
        </p:nvSpPr>
        <p:spPr>
          <a:xfrm>
            <a:off x="4935574" y="965921"/>
            <a:ext cx="1010614" cy="584775"/>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Reg_1 : Register</a:t>
            </a:r>
            <a:endParaRPr lang="en-IL" dirty="0">
              <a:solidFill>
                <a:schemeClr val="tx1"/>
              </a:solidFill>
            </a:endParaRPr>
          </a:p>
        </p:txBody>
      </p:sp>
      <p:sp>
        <p:nvSpPr>
          <p:cNvPr id="199" name="Rectangle 198">
            <a:extLst>
              <a:ext uri="{FF2B5EF4-FFF2-40B4-BE49-F238E27FC236}">
                <a16:creationId xmlns:a16="http://schemas.microsoft.com/office/drawing/2014/main" id="{1630F4C4-20C9-F53A-52BB-5CF1E5EC5B05}"/>
              </a:ext>
            </a:extLst>
          </p:cNvPr>
          <p:cNvSpPr/>
          <p:nvPr/>
        </p:nvSpPr>
        <p:spPr>
          <a:xfrm>
            <a:off x="4606021" y="4548148"/>
            <a:ext cx="1464026" cy="70275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CU_1: Control Unit</a:t>
            </a:r>
            <a:endParaRPr lang="en-IL" dirty="0">
              <a:solidFill>
                <a:schemeClr val="tx1"/>
              </a:solidFill>
            </a:endParaRPr>
          </a:p>
        </p:txBody>
      </p:sp>
      <p:cxnSp>
        <p:nvCxnSpPr>
          <p:cNvPr id="243" name="Straight Connector 242">
            <a:extLst>
              <a:ext uri="{FF2B5EF4-FFF2-40B4-BE49-F238E27FC236}">
                <a16:creationId xmlns:a16="http://schemas.microsoft.com/office/drawing/2014/main" id="{9D4236AA-7D9E-6E1D-808B-E50A4DDADFB0}"/>
              </a:ext>
            </a:extLst>
          </p:cNvPr>
          <p:cNvCxnSpPr>
            <a:cxnSpLocks/>
          </p:cNvCxnSpPr>
          <p:nvPr/>
        </p:nvCxnSpPr>
        <p:spPr>
          <a:xfrm>
            <a:off x="4935574" y="835845"/>
            <a:ext cx="4602293"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4" name="Straight Connector 243">
            <a:extLst>
              <a:ext uri="{FF2B5EF4-FFF2-40B4-BE49-F238E27FC236}">
                <a16:creationId xmlns:a16="http://schemas.microsoft.com/office/drawing/2014/main" id="{FDD259D8-7F1D-7A0B-3167-10FB9B77CE52}"/>
              </a:ext>
            </a:extLst>
          </p:cNvPr>
          <p:cNvCxnSpPr>
            <a:cxnSpLocks/>
          </p:cNvCxnSpPr>
          <p:nvPr/>
        </p:nvCxnSpPr>
        <p:spPr>
          <a:xfrm flipH="1" flipV="1">
            <a:off x="9531517" y="807272"/>
            <a:ext cx="6350" cy="4008235"/>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5" name="Straight Connector 244">
            <a:extLst>
              <a:ext uri="{FF2B5EF4-FFF2-40B4-BE49-F238E27FC236}">
                <a16:creationId xmlns:a16="http://schemas.microsoft.com/office/drawing/2014/main" id="{2DA56323-F009-C733-D0BF-9B8DC461EB4B}"/>
              </a:ext>
            </a:extLst>
          </p:cNvPr>
          <p:cNvCxnSpPr>
            <a:cxnSpLocks/>
            <a:endCxn id="193" idx="3"/>
          </p:cNvCxnSpPr>
          <p:nvPr/>
        </p:nvCxnSpPr>
        <p:spPr>
          <a:xfrm flipH="1">
            <a:off x="9013420" y="4815507"/>
            <a:ext cx="555312" cy="1"/>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52" name="Straight Arrow Connector 251">
            <a:extLst>
              <a:ext uri="{FF2B5EF4-FFF2-40B4-BE49-F238E27FC236}">
                <a16:creationId xmlns:a16="http://schemas.microsoft.com/office/drawing/2014/main" id="{0A80D562-CE76-7B51-D588-36C1DDC90E8D}"/>
              </a:ext>
            </a:extLst>
          </p:cNvPr>
          <p:cNvCxnSpPr>
            <a:cxnSpLocks/>
          </p:cNvCxnSpPr>
          <p:nvPr/>
        </p:nvCxnSpPr>
        <p:spPr>
          <a:xfrm>
            <a:off x="5057046" y="835845"/>
            <a:ext cx="0" cy="15495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5" name="Straight Arrow Connector 274">
            <a:extLst>
              <a:ext uri="{FF2B5EF4-FFF2-40B4-BE49-F238E27FC236}">
                <a16:creationId xmlns:a16="http://schemas.microsoft.com/office/drawing/2014/main" id="{B7F34279-2EBC-4E94-B4DD-BB0EA1AE73DE}"/>
              </a:ext>
            </a:extLst>
          </p:cNvPr>
          <p:cNvCxnSpPr>
            <a:cxnSpLocks/>
            <a:endCxn id="193" idx="1"/>
          </p:cNvCxnSpPr>
          <p:nvPr/>
        </p:nvCxnSpPr>
        <p:spPr>
          <a:xfrm>
            <a:off x="6070047" y="4815508"/>
            <a:ext cx="18641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7" name="TextBox 276">
            <a:extLst>
              <a:ext uri="{FF2B5EF4-FFF2-40B4-BE49-F238E27FC236}">
                <a16:creationId xmlns:a16="http://schemas.microsoft.com/office/drawing/2014/main" id="{F38E2D44-42F1-8000-2DB3-32E6FAEED078}"/>
              </a:ext>
            </a:extLst>
          </p:cNvPr>
          <p:cNvSpPr txBox="1"/>
          <p:nvPr/>
        </p:nvSpPr>
        <p:spPr>
          <a:xfrm>
            <a:off x="7034197" y="4623519"/>
            <a:ext cx="917239" cy="215444"/>
          </a:xfrm>
          <a:prstGeom prst="rect">
            <a:avLst/>
          </a:prstGeom>
          <a:noFill/>
        </p:spPr>
        <p:txBody>
          <a:bodyPr wrap="none" rtlCol="0">
            <a:spAutoFit/>
          </a:bodyPr>
          <a:lstStyle/>
          <a:p>
            <a:r>
              <a:rPr lang="en-US" sz="800" dirty="0"/>
              <a:t>Data_Selector_1</a:t>
            </a:r>
            <a:endParaRPr lang="en-IL" sz="800" dirty="0"/>
          </a:p>
        </p:txBody>
      </p:sp>
      <p:cxnSp>
        <p:nvCxnSpPr>
          <p:cNvPr id="283" name="Connector: Elbow 282">
            <a:extLst>
              <a:ext uri="{FF2B5EF4-FFF2-40B4-BE49-F238E27FC236}">
                <a16:creationId xmlns:a16="http://schemas.microsoft.com/office/drawing/2014/main" id="{5EB028DD-43DC-B15B-AA46-A2CAFE61A369}"/>
              </a:ext>
            </a:extLst>
          </p:cNvPr>
          <p:cNvCxnSpPr>
            <a:cxnSpLocks/>
          </p:cNvCxnSpPr>
          <p:nvPr/>
        </p:nvCxnSpPr>
        <p:spPr>
          <a:xfrm rot="10800000">
            <a:off x="8459121" y="4978077"/>
            <a:ext cx="939568" cy="163796"/>
          </a:xfrm>
          <a:prstGeom prst="bentConnector3">
            <a:avLst>
              <a:gd name="adj1" fmla="val 10001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4" name="Straight Connector 283">
            <a:extLst>
              <a:ext uri="{FF2B5EF4-FFF2-40B4-BE49-F238E27FC236}">
                <a16:creationId xmlns:a16="http://schemas.microsoft.com/office/drawing/2014/main" id="{B3B7682C-A3BA-FC74-8A3F-97BD7E49A438}"/>
              </a:ext>
            </a:extLst>
          </p:cNvPr>
          <p:cNvCxnSpPr>
            <a:cxnSpLocks/>
          </p:cNvCxnSpPr>
          <p:nvPr/>
        </p:nvCxnSpPr>
        <p:spPr>
          <a:xfrm flipV="1">
            <a:off x="9392288" y="2834240"/>
            <a:ext cx="0" cy="2316195"/>
          </a:xfrm>
          <a:prstGeom prst="line">
            <a:avLst/>
          </a:prstGeom>
        </p:spPr>
        <p:style>
          <a:lnRef idx="2">
            <a:schemeClr val="accent1"/>
          </a:lnRef>
          <a:fillRef idx="0">
            <a:schemeClr val="accent1"/>
          </a:fillRef>
          <a:effectRef idx="1">
            <a:schemeClr val="accent1"/>
          </a:effectRef>
          <a:fontRef idx="minor">
            <a:schemeClr val="tx1"/>
          </a:fontRef>
        </p:style>
      </p:cxnSp>
      <p:cxnSp>
        <p:nvCxnSpPr>
          <p:cNvPr id="285" name="Straight Connector 284">
            <a:extLst>
              <a:ext uri="{FF2B5EF4-FFF2-40B4-BE49-F238E27FC236}">
                <a16:creationId xmlns:a16="http://schemas.microsoft.com/office/drawing/2014/main" id="{BB91E081-0A9A-F645-64CA-BFEB6F28C80A}"/>
              </a:ext>
            </a:extLst>
          </p:cNvPr>
          <p:cNvCxnSpPr>
            <a:cxnSpLocks/>
          </p:cNvCxnSpPr>
          <p:nvPr/>
        </p:nvCxnSpPr>
        <p:spPr>
          <a:xfrm>
            <a:off x="8768603" y="2834240"/>
            <a:ext cx="633533" cy="0"/>
          </a:xfrm>
          <a:prstGeom prst="line">
            <a:avLst/>
          </a:prstGeom>
        </p:spPr>
        <p:style>
          <a:lnRef idx="2">
            <a:schemeClr val="accent1"/>
          </a:lnRef>
          <a:fillRef idx="0">
            <a:schemeClr val="accent1"/>
          </a:fillRef>
          <a:effectRef idx="1">
            <a:schemeClr val="accent1"/>
          </a:effectRef>
          <a:fontRef idx="minor">
            <a:schemeClr val="tx1"/>
          </a:fontRef>
        </p:style>
      </p:cxnSp>
      <p:sp>
        <p:nvSpPr>
          <p:cNvPr id="286" name="TextBox 285">
            <a:extLst>
              <a:ext uri="{FF2B5EF4-FFF2-40B4-BE49-F238E27FC236}">
                <a16:creationId xmlns:a16="http://schemas.microsoft.com/office/drawing/2014/main" id="{1D9FD7B6-8AC2-F60B-961B-C7362CA0A9C9}"/>
              </a:ext>
            </a:extLst>
          </p:cNvPr>
          <p:cNvSpPr txBox="1"/>
          <p:nvPr/>
        </p:nvSpPr>
        <p:spPr>
          <a:xfrm>
            <a:off x="8724773" y="2658443"/>
            <a:ext cx="625492" cy="215444"/>
          </a:xfrm>
          <a:prstGeom prst="rect">
            <a:avLst/>
          </a:prstGeom>
          <a:noFill/>
        </p:spPr>
        <p:txBody>
          <a:bodyPr wrap="none" rtlCol="0">
            <a:spAutoFit/>
          </a:bodyPr>
          <a:lstStyle/>
          <a:p>
            <a:r>
              <a:rPr lang="en-US" sz="800" dirty="0"/>
              <a:t>Alu_1_out</a:t>
            </a:r>
            <a:endParaRPr lang="en-IL" sz="800" dirty="0"/>
          </a:p>
        </p:txBody>
      </p:sp>
      <p:cxnSp>
        <p:nvCxnSpPr>
          <p:cNvPr id="295" name="Straight Connector 294">
            <a:extLst>
              <a:ext uri="{FF2B5EF4-FFF2-40B4-BE49-F238E27FC236}">
                <a16:creationId xmlns:a16="http://schemas.microsoft.com/office/drawing/2014/main" id="{E5AB8720-A755-AF63-7DFE-FFF12EEFEF17}"/>
              </a:ext>
            </a:extLst>
          </p:cNvPr>
          <p:cNvCxnSpPr>
            <a:cxnSpLocks/>
          </p:cNvCxnSpPr>
          <p:nvPr/>
        </p:nvCxnSpPr>
        <p:spPr>
          <a:xfrm>
            <a:off x="4627924"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6" name="Straight Connector 295">
            <a:extLst>
              <a:ext uri="{FF2B5EF4-FFF2-40B4-BE49-F238E27FC236}">
                <a16:creationId xmlns:a16="http://schemas.microsoft.com/office/drawing/2014/main" id="{43E10B07-7D8F-210C-433A-828A91985DBF}"/>
              </a:ext>
            </a:extLst>
          </p:cNvPr>
          <p:cNvCxnSpPr>
            <a:cxnSpLocks/>
          </p:cNvCxnSpPr>
          <p:nvPr/>
        </p:nvCxnSpPr>
        <p:spPr>
          <a:xfrm>
            <a:off x="4673168"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7" name="Straight Connector 296">
            <a:extLst>
              <a:ext uri="{FF2B5EF4-FFF2-40B4-BE49-F238E27FC236}">
                <a16:creationId xmlns:a16="http://schemas.microsoft.com/office/drawing/2014/main" id="{8260DEE8-F21A-7417-FAF2-D58C0704FB03}"/>
              </a:ext>
            </a:extLst>
          </p:cNvPr>
          <p:cNvCxnSpPr>
            <a:cxnSpLocks/>
          </p:cNvCxnSpPr>
          <p:nvPr/>
        </p:nvCxnSpPr>
        <p:spPr>
          <a:xfrm>
            <a:off x="4720793"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8" name="Straight Connector 297">
            <a:extLst>
              <a:ext uri="{FF2B5EF4-FFF2-40B4-BE49-F238E27FC236}">
                <a16:creationId xmlns:a16="http://schemas.microsoft.com/office/drawing/2014/main" id="{FF105A3F-48B5-10AF-15D9-CBDFD435A1B9}"/>
              </a:ext>
            </a:extLst>
          </p:cNvPr>
          <p:cNvCxnSpPr>
            <a:cxnSpLocks/>
          </p:cNvCxnSpPr>
          <p:nvPr/>
        </p:nvCxnSpPr>
        <p:spPr>
          <a:xfrm>
            <a:off x="4766036"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9" name="Straight Connector 298">
            <a:extLst>
              <a:ext uri="{FF2B5EF4-FFF2-40B4-BE49-F238E27FC236}">
                <a16:creationId xmlns:a16="http://schemas.microsoft.com/office/drawing/2014/main" id="{A5F9CE9F-8169-DB60-CCC5-0DF697A464DC}"/>
              </a:ext>
            </a:extLst>
          </p:cNvPr>
          <p:cNvCxnSpPr>
            <a:cxnSpLocks/>
          </p:cNvCxnSpPr>
          <p:nvPr/>
        </p:nvCxnSpPr>
        <p:spPr>
          <a:xfrm>
            <a:off x="4813662"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0" name="Straight Connector 299">
            <a:extLst>
              <a:ext uri="{FF2B5EF4-FFF2-40B4-BE49-F238E27FC236}">
                <a16:creationId xmlns:a16="http://schemas.microsoft.com/office/drawing/2014/main" id="{E32C57A2-3A10-146A-2DE7-1B39335E3892}"/>
              </a:ext>
            </a:extLst>
          </p:cNvPr>
          <p:cNvCxnSpPr>
            <a:cxnSpLocks/>
          </p:cNvCxnSpPr>
          <p:nvPr/>
        </p:nvCxnSpPr>
        <p:spPr>
          <a:xfrm>
            <a:off x="4858906"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1" name="Straight Connector 300">
            <a:extLst>
              <a:ext uri="{FF2B5EF4-FFF2-40B4-BE49-F238E27FC236}">
                <a16:creationId xmlns:a16="http://schemas.microsoft.com/office/drawing/2014/main" id="{DF1101F7-3A7B-C798-3404-3D2BD877FC2E}"/>
              </a:ext>
            </a:extLst>
          </p:cNvPr>
          <p:cNvCxnSpPr>
            <a:cxnSpLocks/>
          </p:cNvCxnSpPr>
          <p:nvPr/>
        </p:nvCxnSpPr>
        <p:spPr>
          <a:xfrm>
            <a:off x="4906531" y="4447967"/>
            <a:ext cx="0" cy="116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2" name="Straight Connector 301">
            <a:extLst>
              <a:ext uri="{FF2B5EF4-FFF2-40B4-BE49-F238E27FC236}">
                <a16:creationId xmlns:a16="http://schemas.microsoft.com/office/drawing/2014/main" id="{F6B83FC1-1F6D-D90B-D01C-1B5DF97912A3}"/>
              </a:ext>
            </a:extLst>
          </p:cNvPr>
          <p:cNvCxnSpPr>
            <a:cxnSpLocks/>
          </p:cNvCxnSpPr>
          <p:nvPr/>
        </p:nvCxnSpPr>
        <p:spPr>
          <a:xfrm>
            <a:off x="4951774" y="4447967"/>
            <a:ext cx="0" cy="116850"/>
          </a:xfrm>
          <a:prstGeom prst="line">
            <a:avLst/>
          </a:prstGeom>
        </p:spPr>
        <p:style>
          <a:lnRef idx="2">
            <a:schemeClr val="accent1"/>
          </a:lnRef>
          <a:fillRef idx="0">
            <a:schemeClr val="accent1"/>
          </a:fillRef>
          <a:effectRef idx="1">
            <a:schemeClr val="accent1"/>
          </a:effectRef>
          <a:fontRef idx="minor">
            <a:schemeClr val="tx1"/>
          </a:fontRef>
        </p:style>
      </p:cxnSp>
      <p:sp>
        <p:nvSpPr>
          <p:cNvPr id="312" name="TextBox 311">
            <a:extLst>
              <a:ext uri="{FF2B5EF4-FFF2-40B4-BE49-F238E27FC236}">
                <a16:creationId xmlns:a16="http://schemas.microsoft.com/office/drawing/2014/main" id="{68E767A4-865A-9ECD-11DC-0C16E7BE2845}"/>
              </a:ext>
            </a:extLst>
          </p:cNvPr>
          <p:cNvSpPr txBox="1"/>
          <p:nvPr/>
        </p:nvSpPr>
        <p:spPr>
          <a:xfrm>
            <a:off x="4517585" y="4278891"/>
            <a:ext cx="1194558" cy="215444"/>
          </a:xfrm>
          <a:prstGeom prst="rect">
            <a:avLst/>
          </a:prstGeom>
          <a:noFill/>
        </p:spPr>
        <p:txBody>
          <a:bodyPr wrap="none" rtlCol="0">
            <a:spAutoFit/>
          </a:bodyPr>
          <a:lstStyle/>
          <a:p>
            <a:r>
              <a:rPr lang="en-US" sz="800" dirty="0"/>
              <a:t>Registers </a:t>
            </a:r>
            <a:r>
              <a:rPr lang="en-US" sz="800" dirty="0" err="1"/>
              <a:t>write_enable</a:t>
            </a:r>
            <a:endParaRPr lang="en-IL" sz="800" dirty="0"/>
          </a:p>
        </p:txBody>
      </p:sp>
      <p:sp>
        <p:nvSpPr>
          <p:cNvPr id="6" name="Заголовок 1">
            <a:extLst>
              <a:ext uri="{FF2B5EF4-FFF2-40B4-BE49-F238E27FC236}">
                <a16:creationId xmlns:a16="http://schemas.microsoft.com/office/drawing/2014/main" id="{96193123-3496-B100-AA36-AA743527C741}"/>
              </a:ext>
            </a:extLst>
          </p:cNvPr>
          <p:cNvSpPr>
            <a:spLocks noGrp="1"/>
          </p:cNvSpPr>
          <p:nvPr>
            <p:ph type="title"/>
          </p:nvPr>
        </p:nvSpPr>
        <p:spPr>
          <a:xfrm>
            <a:off x="70079" y="-51011"/>
            <a:ext cx="7496285" cy="543518"/>
          </a:xfrm>
        </p:spPr>
        <p:txBody>
          <a:bodyPr rtlCol="0">
            <a:normAutofit/>
          </a:bodyPr>
          <a:lstStyle>
            <a:defPPr>
              <a:defRPr lang="ru-RU"/>
            </a:defPPr>
          </a:lstStyle>
          <a:p>
            <a:pPr algn="l"/>
            <a:r>
              <a:rPr lang="en-US" cap="none" dirty="0">
                <a:latin typeface="+mn-lt"/>
              </a:rPr>
              <a:t>ADD R1 R2 R3 EXAMPLE: WRITEBACK</a:t>
            </a:r>
            <a:endParaRPr lang="ru-RU" cap="none" dirty="0">
              <a:latin typeface="+mn-lt"/>
            </a:endParaRPr>
          </a:p>
        </p:txBody>
      </p:sp>
      <p:sp>
        <p:nvSpPr>
          <p:cNvPr id="2" name="TextBox 1">
            <a:extLst>
              <a:ext uri="{FF2B5EF4-FFF2-40B4-BE49-F238E27FC236}">
                <a16:creationId xmlns:a16="http://schemas.microsoft.com/office/drawing/2014/main" id="{4043822A-3336-D8B3-0AE5-79DC952A83A0}"/>
              </a:ext>
            </a:extLst>
          </p:cNvPr>
          <p:cNvSpPr txBox="1"/>
          <p:nvPr/>
        </p:nvSpPr>
        <p:spPr>
          <a:xfrm>
            <a:off x="1254525" y="2051832"/>
            <a:ext cx="6484327" cy="923330"/>
          </a:xfrm>
          <a:prstGeom prst="rect">
            <a:avLst/>
          </a:prstGeom>
          <a:noFill/>
        </p:spPr>
        <p:txBody>
          <a:bodyPr wrap="square" rtlCol="0">
            <a:spAutoFit/>
          </a:bodyPr>
          <a:lstStyle/>
          <a:p>
            <a:r>
              <a:rPr lang="en-US" dirty="0"/>
              <a:t>The Control Unit activates the </a:t>
            </a:r>
            <a:r>
              <a:rPr lang="en-US" dirty="0" err="1"/>
              <a:t>data_mux</a:t>
            </a:r>
            <a:r>
              <a:rPr lang="en-US" dirty="0"/>
              <a:t> to read from ALU_1 output, and </a:t>
            </a:r>
            <a:r>
              <a:rPr lang="en-US" dirty="0" err="1"/>
              <a:t>write_enable</a:t>
            </a:r>
            <a:r>
              <a:rPr lang="en-US" dirty="0"/>
              <a:t> on target register, </a:t>
            </a:r>
          </a:p>
          <a:p>
            <a:r>
              <a:rPr lang="en-US" dirty="0"/>
              <a:t>the data gets written to the register</a:t>
            </a:r>
            <a:endParaRPr lang="en-IL" dirty="0"/>
          </a:p>
        </p:txBody>
      </p:sp>
    </p:spTree>
    <p:extLst>
      <p:ext uri="{BB962C8B-B14F-4D97-AF65-F5344CB8AC3E}">
        <p14:creationId xmlns:p14="http://schemas.microsoft.com/office/powerpoint/2010/main" val="2335478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EB78-9F52-ECBF-95D8-F03348DE07D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78B29CD-4125-B662-718D-592EA2ACB324}"/>
              </a:ext>
            </a:extLst>
          </p:cNvPr>
          <p:cNvSpPr>
            <a:spLocks noGrp="1"/>
          </p:cNvSpPr>
          <p:nvPr>
            <p:ph type="sldNum" sz="quarter" idx="13"/>
          </p:nvPr>
        </p:nvSpPr>
        <p:spPr/>
        <p:txBody>
          <a:bodyPr/>
          <a:lstStyle/>
          <a:p>
            <a:pPr rtl="0"/>
            <a:fld id="{A49DFD55-3C28-40EF-9E31-A92D2E4017FF}" type="slidenum">
              <a:rPr lang="ru-RU" smtClean="0"/>
              <a:pPr rtl="0"/>
              <a:t>16</a:t>
            </a:fld>
            <a:endParaRPr lang="ru-RU" dirty="0"/>
          </a:p>
        </p:txBody>
      </p:sp>
      <p:sp>
        <p:nvSpPr>
          <p:cNvPr id="8" name="Заголовок 1">
            <a:extLst>
              <a:ext uri="{FF2B5EF4-FFF2-40B4-BE49-F238E27FC236}">
                <a16:creationId xmlns:a16="http://schemas.microsoft.com/office/drawing/2014/main" id="{A42910D9-E862-B156-8C20-964C741E8351}"/>
              </a:ext>
            </a:extLst>
          </p:cNvPr>
          <p:cNvSpPr>
            <a:spLocks noGrp="1"/>
          </p:cNvSpPr>
          <p:nvPr>
            <p:ph type="title"/>
          </p:nvPr>
        </p:nvSpPr>
        <p:spPr>
          <a:xfrm>
            <a:off x="601516" y="1861368"/>
            <a:ext cx="5876109" cy="543518"/>
          </a:xfrm>
        </p:spPr>
        <p:txBody>
          <a:bodyPr rtlCol="0"/>
          <a:lstStyle>
            <a:defPPr>
              <a:defRPr lang="ru-RU"/>
            </a:defPPr>
          </a:lstStyle>
          <a:p>
            <a:pPr rtl="0"/>
            <a:r>
              <a:rPr lang="en-US" cap="none" dirty="0">
                <a:latin typeface="+mj-lt"/>
              </a:rPr>
              <a:t>Few things to notice:</a:t>
            </a:r>
            <a:endParaRPr lang="ru-RU" cap="none" dirty="0">
              <a:latin typeface="+mj-lt"/>
            </a:endParaRPr>
          </a:p>
        </p:txBody>
      </p:sp>
      <p:sp>
        <p:nvSpPr>
          <p:cNvPr id="3" name="TextBox 2">
            <a:extLst>
              <a:ext uri="{FF2B5EF4-FFF2-40B4-BE49-F238E27FC236}">
                <a16:creationId xmlns:a16="http://schemas.microsoft.com/office/drawing/2014/main" id="{3EFCBCA7-B230-52BD-50C4-97DFBC186278}"/>
              </a:ext>
            </a:extLst>
          </p:cNvPr>
          <p:cNvSpPr txBox="1"/>
          <p:nvPr/>
        </p:nvSpPr>
        <p:spPr>
          <a:xfrm>
            <a:off x="705475" y="2551837"/>
            <a:ext cx="9667875" cy="2308324"/>
          </a:xfrm>
          <a:prstGeom prst="rect">
            <a:avLst/>
          </a:prstGeom>
          <a:noFill/>
        </p:spPr>
        <p:txBody>
          <a:bodyPr wrap="square" rtlCol="0">
            <a:spAutoFit/>
          </a:bodyPr>
          <a:lstStyle/>
          <a:p>
            <a:r>
              <a:rPr lang="en-US" dirty="0"/>
              <a:t>Notice how the Control Unit is in charge on every single step in the pipeline, each time controlling data flow using </a:t>
            </a:r>
            <a:r>
              <a:rPr lang="en-US" dirty="0" err="1"/>
              <a:t>MUXes</a:t>
            </a:r>
            <a:r>
              <a:rPr lang="en-US" dirty="0"/>
              <a:t> and read/write enables.</a:t>
            </a:r>
          </a:p>
          <a:p>
            <a:endParaRPr lang="en-US" dirty="0"/>
          </a:p>
          <a:p>
            <a:r>
              <a:rPr lang="en-US" dirty="0"/>
              <a:t>Also note, that the Control Unit does that on every single clock for different instructions, while EXECUTE happens for one instruction another, different instruction might be in DECODE stage and another one in WRITEBACK stage.</a:t>
            </a:r>
          </a:p>
          <a:p>
            <a:endParaRPr lang="en-US" dirty="0"/>
          </a:p>
          <a:p>
            <a:r>
              <a:rPr lang="en-US" dirty="0"/>
              <a:t>That means that every part of the processor is at work most of </a:t>
            </a:r>
            <a:r>
              <a:rPr lang="en-US"/>
              <a:t>the time.</a:t>
            </a:r>
            <a:endParaRPr lang="en-US" dirty="0"/>
          </a:p>
        </p:txBody>
      </p:sp>
    </p:spTree>
    <p:extLst>
      <p:ext uri="{BB962C8B-B14F-4D97-AF65-F5344CB8AC3E}">
        <p14:creationId xmlns:p14="http://schemas.microsoft.com/office/powerpoint/2010/main" val="1171083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05B9D-5C19-D9FA-808C-34BFC3FF8C8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93640B8-3CCC-3256-A067-DA1857D30D1D}"/>
              </a:ext>
            </a:extLst>
          </p:cNvPr>
          <p:cNvSpPr>
            <a:spLocks noGrp="1"/>
          </p:cNvSpPr>
          <p:nvPr>
            <p:ph type="sldNum" sz="quarter" idx="13"/>
          </p:nvPr>
        </p:nvSpPr>
        <p:spPr/>
        <p:txBody>
          <a:bodyPr/>
          <a:lstStyle/>
          <a:p>
            <a:pPr rtl="0"/>
            <a:fld id="{A49DFD55-3C28-40EF-9E31-A92D2E4017FF}" type="slidenum">
              <a:rPr lang="ru-RU" smtClean="0"/>
              <a:pPr rtl="0"/>
              <a:t>17</a:t>
            </a:fld>
            <a:endParaRPr lang="ru-RU" dirty="0"/>
          </a:p>
        </p:txBody>
      </p:sp>
      <p:sp>
        <p:nvSpPr>
          <p:cNvPr id="8" name="Заголовок 1">
            <a:extLst>
              <a:ext uri="{FF2B5EF4-FFF2-40B4-BE49-F238E27FC236}">
                <a16:creationId xmlns:a16="http://schemas.microsoft.com/office/drawing/2014/main" id="{07BBEEC4-3D20-812D-F5B4-BA6A747423F4}"/>
              </a:ext>
            </a:extLst>
          </p:cNvPr>
          <p:cNvSpPr>
            <a:spLocks noGrp="1"/>
          </p:cNvSpPr>
          <p:nvPr>
            <p:ph type="title"/>
          </p:nvPr>
        </p:nvSpPr>
        <p:spPr>
          <a:xfrm>
            <a:off x="77641" y="118293"/>
            <a:ext cx="5876109" cy="543518"/>
          </a:xfrm>
        </p:spPr>
        <p:txBody>
          <a:bodyPr rtlCol="0"/>
          <a:lstStyle>
            <a:defPPr>
              <a:defRPr lang="ru-RU"/>
            </a:defPPr>
          </a:lstStyle>
          <a:p>
            <a:pPr rtl="0"/>
            <a:r>
              <a:rPr lang="en-US" cap="none" dirty="0">
                <a:latin typeface="+mj-lt"/>
              </a:rPr>
              <a:t>Control Unit</a:t>
            </a:r>
            <a:endParaRPr lang="ru-RU" cap="none" dirty="0">
              <a:latin typeface="+mj-lt"/>
            </a:endParaRPr>
          </a:p>
        </p:txBody>
      </p:sp>
      <p:sp>
        <p:nvSpPr>
          <p:cNvPr id="3" name="TextBox 2">
            <a:extLst>
              <a:ext uri="{FF2B5EF4-FFF2-40B4-BE49-F238E27FC236}">
                <a16:creationId xmlns:a16="http://schemas.microsoft.com/office/drawing/2014/main" id="{BFF54F71-8FA3-348B-47C3-191CBD0128E0}"/>
              </a:ext>
            </a:extLst>
          </p:cNvPr>
          <p:cNvSpPr txBox="1"/>
          <p:nvPr/>
        </p:nvSpPr>
        <p:spPr>
          <a:xfrm>
            <a:off x="705475" y="1859339"/>
            <a:ext cx="9667875" cy="3139321"/>
          </a:xfrm>
          <a:prstGeom prst="rect">
            <a:avLst/>
          </a:prstGeom>
          <a:noFill/>
        </p:spPr>
        <p:txBody>
          <a:bodyPr wrap="square" rtlCol="0">
            <a:spAutoFit/>
          </a:bodyPr>
          <a:lstStyle/>
          <a:p>
            <a:r>
              <a:rPr lang="en-US" dirty="0"/>
              <a:t>We’ve now reached the final component of the processor.</a:t>
            </a:r>
          </a:p>
          <a:p>
            <a:r>
              <a:rPr lang="en-US" dirty="0"/>
              <a:t>As we saw in the example above, the CU’s main job is to activate different parts of the CPU at the correct time, Essentially the CU is a box of shift registers. </a:t>
            </a:r>
          </a:p>
          <a:p>
            <a:endParaRPr lang="en-US" dirty="0"/>
          </a:p>
          <a:p>
            <a:r>
              <a:rPr lang="en-US" dirty="0"/>
              <a:t>A shift register is a storage element that “shifts” its data on every clock cycle, either to the left or right. By using chains of these registers, the CU can delay control signals so that specific components.</a:t>
            </a:r>
          </a:p>
          <a:p>
            <a:endParaRPr lang="en-US" dirty="0"/>
          </a:p>
          <a:p>
            <a:endParaRPr lang="en-US" dirty="0"/>
          </a:p>
          <a:p>
            <a:r>
              <a:rPr lang="en-US" dirty="0"/>
              <a:t>The CPU utilizes two Control Units, each getting its instructions from the Hazard Unit.</a:t>
            </a:r>
          </a:p>
          <a:p>
            <a:r>
              <a:rPr lang="en-US" dirty="0"/>
              <a:t>Each CU runs independently on received instructions.</a:t>
            </a:r>
          </a:p>
        </p:txBody>
      </p:sp>
    </p:spTree>
    <p:extLst>
      <p:ext uri="{BB962C8B-B14F-4D97-AF65-F5344CB8AC3E}">
        <p14:creationId xmlns:p14="http://schemas.microsoft.com/office/powerpoint/2010/main" val="4084030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BBA826E-68D8-208A-A32D-32ECF09C18FF}"/>
              </a:ext>
            </a:extLst>
          </p:cNvPr>
          <p:cNvSpPr>
            <a:spLocks noGrp="1"/>
          </p:cNvSpPr>
          <p:nvPr>
            <p:ph type="sldNum" sz="quarter" idx="13"/>
          </p:nvPr>
        </p:nvSpPr>
        <p:spPr/>
        <p:txBody>
          <a:bodyPr/>
          <a:lstStyle/>
          <a:p>
            <a:pPr rtl="0"/>
            <a:fld id="{A49DFD55-3C28-40EF-9E31-A92D2E4017FF}" type="slidenum">
              <a:rPr lang="ru-RU" smtClean="0"/>
              <a:pPr rtl="0"/>
              <a:t>18</a:t>
            </a:fld>
            <a:endParaRPr lang="ru-RU" dirty="0"/>
          </a:p>
        </p:txBody>
      </p:sp>
      <p:sp>
        <p:nvSpPr>
          <p:cNvPr id="8" name="Заголовок 1">
            <a:extLst>
              <a:ext uri="{FF2B5EF4-FFF2-40B4-BE49-F238E27FC236}">
                <a16:creationId xmlns:a16="http://schemas.microsoft.com/office/drawing/2014/main" id="{2FABE25D-4696-4B71-AE42-DF0C5A52B8B5}"/>
              </a:ext>
            </a:extLst>
          </p:cNvPr>
          <p:cNvSpPr>
            <a:spLocks noGrp="1"/>
          </p:cNvSpPr>
          <p:nvPr>
            <p:ph type="title"/>
          </p:nvPr>
        </p:nvSpPr>
        <p:spPr>
          <a:xfrm>
            <a:off x="219891" y="242981"/>
            <a:ext cx="5876109" cy="543518"/>
          </a:xfrm>
        </p:spPr>
        <p:txBody>
          <a:bodyPr rtlCol="0"/>
          <a:lstStyle>
            <a:defPPr>
              <a:defRPr lang="ru-RU"/>
            </a:defPPr>
          </a:lstStyle>
          <a:p>
            <a:pPr rtl="0"/>
            <a:r>
              <a:rPr lang="en-US" cap="none" dirty="0">
                <a:latin typeface="+mj-lt"/>
              </a:rPr>
              <a:t>Running a program</a:t>
            </a:r>
            <a:endParaRPr lang="ru-RU" cap="none" dirty="0">
              <a:latin typeface="+mj-lt"/>
            </a:endParaRPr>
          </a:p>
        </p:txBody>
      </p:sp>
      <p:sp>
        <p:nvSpPr>
          <p:cNvPr id="9" name="TextBox 8">
            <a:extLst>
              <a:ext uri="{FF2B5EF4-FFF2-40B4-BE49-F238E27FC236}">
                <a16:creationId xmlns:a16="http://schemas.microsoft.com/office/drawing/2014/main" id="{43FA3694-728D-7802-7279-CE958F491967}"/>
              </a:ext>
            </a:extLst>
          </p:cNvPr>
          <p:cNvSpPr txBox="1"/>
          <p:nvPr/>
        </p:nvSpPr>
        <p:spPr>
          <a:xfrm>
            <a:off x="326734" y="1172884"/>
            <a:ext cx="7833932" cy="1200329"/>
          </a:xfrm>
          <a:prstGeom prst="rect">
            <a:avLst/>
          </a:prstGeom>
          <a:noFill/>
        </p:spPr>
        <p:txBody>
          <a:bodyPr wrap="square" rtlCol="0">
            <a:spAutoFit/>
          </a:bodyPr>
          <a:lstStyle/>
          <a:p>
            <a:pPr rtl="1"/>
            <a:r>
              <a:rPr lang="en-US" dirty="0">
                <a:latin typeface="+mj-lt"/>
              </a:rPr>
              <a:t>We provide a python script that converts our assembly code into binary for the CPU</a:t>
            </a:r>
          </a:p>
          <a:p>
            <a:pPr rtl="1"/>
            <a:endParaRPr lang="en-US" dirty="0">
              <a:latin typeface="+mj-lt"/>
            </a:endParaRPr>
          </a:p>
          <a:p>
            <a:pPr rtl="1"/>
            <a:r>
              <a:rPr lang="en-US" dirty="0">
                <a:latin typeface="+mj-lt"/>
              </a:rPr>
              <a:t>For Example:</a:t>
            </a:r>
            <a:endParaRPr lang="ru-RU" dirty="0">
              <a:latin typeface="+mj-lt"/>
            </a:endParaRPr>
          </a:p>
        </p:txBody>
      </p:sp>
      <p:graphicFrame>
        <p:nvGraphicFramePr>
          <p:cNvPr id="4" name="Table 3">
            <a:extLst>
              <a:ext uri="{FF2B5EF4-FFF2-40B4-BE49-F238E27FC236}">
                <a16:creationId xmlns:a16="http://schemas.microsoft.com/office/drawing/2014/main" id="{A5F62B61-CCFA-ACF7-0D6C-1AF12A288AA7}"/>
              </a:ext>
            </a:extLst>
          </p:cNvPr>
          <p:cNvGraphicFramePr>
            <a:graphicFrameLocks noGrp="1"/>
          </p:cNvGraphicFramePr>
          <p:nvPr>
            <p:extLst>
              <p:ext uri="{D42A27DB-BD31-4B8C-83A1-F6EECF244321}">
                <p14:modId xmlns:p14="http://schemas.microsoft.com/office/powerpoint/2010/main" val="1498067086"/>
              </p:ext>
            </p:extLst>
          </p:nvPr>
        </p:nvGraphicFramePr>
        <p:xfrm>
          <a:off x="2245350" y="2501900"/>
          <a:ext cx="8128000" cy="1854200"/>
        </p:xfrm>
        <a:graphic>
          <a:graphicData uri="http://schemas.openxmlformats.org/drawingml/2006/table">
            <a:tbl>
              <a:tblPr bandRow="1">
                <a:tableStyleId>{D7AC3CCA-C797-4891-BE02-D94E43425B78}</a:tableStyleId>
              </a:tblPr>
              <a:tblGrid>
                <a:gridCol w="4064000">
                  <a:extLst>
                    <a:ext uri="{9D8B030D-6E8A-4147-A177-3AD203B41FA5}">
                      <a16:colId xmlns:a16="http://schemas.microsoft.com/office/drawing/2014/main" val="1252865330"/>
                    </a:ext>
                  </a:extLst>
                </a:gridCol>
                <a:gridCol w="4064000">
                  <a:extLst>
                    <a:ext uri="{9D8B030D-6E8A-4147-A177-3AD203B41FA5}">
                      <a16:colId xmlns:a16="http://schemas.microsoft.com/office/drawing/2014/main" val="3274646505"/>
                    </a:ext>
                  </a:extLst>
                </a:gridCol>
              </a:tblGrid>
              <a:tr h="370840">
                <a:tc>
                  <a:txBody>
                    <a:bodyPr/>
                    <a:lstStyle/>
                    <a:p>
                      <a:r>
                        <a:rPr lang="ru-RU" dirty="0"/>
                        <a:t>0011001000010110</a:t>
                      </a:r>
                    </a:p>
                  </a:txBody>
                  <a:tcPr/>
                </a:tc>
                <a:tc>
                  <a:txBody>
                    <a:bodyPr/>
                    <a:lstStyle/>
                    <a:p>
                      <a:r>
                        <a:rPr lang="pt-BR" dirty="0"/>
                        <a:t>LOADI R2 22</a:t>
                      </a:r>
                    </a:p>
                  </a:txBody>
                  <a:tcPr/>
                </a:tc>
                <a:extLst>
                  <a:ext uri="{0D108BD9-81ED-4DB2-BD59-A6C34878D82A}">
                    <a16:rowId xmlns:a16="http://schemas.microsoft.com/office/drawing/2014/main" val="3833763465"/>
                  </a:ext>
                </a:extLst>
              </a:tr>
              <a:tr h="370840">
                <a:tc>
                  <a:txBody>
                    <a:bodyPr/>
                    <a:lstStyle/>
                    <a:p>
                      <a:r>
                        <a:rPr lang="ru-RU" dirty="0"/>
                        <a:t>0010001000001010</a:t>
                      </a:r>
                    </a:p>
                  </a:txBody>
                  <a:tcPr/>
                </a:tc>
                <a:tc>
                  <a:txBody>
                    <a:bodyPr/>
                    <a:lstStyle/>
                    <a:p>
                      <a:r>
                        <a:rPr lang="pt-BR" dirty="0"/>
                        <a:t>STORE R2 10</a:t>
                      </a:r>
                    </a:p>
                  </a:txBody>
                  <a:tcPr/>
                </a:tc>
                <a:extLst>
                  <a:ext uri="{0D108BD9-81ED-4DB2-BD59-A6C34878D82A}">
                    <a16:rowId xmlns:a16="http://schemas.microsoft.com/office/drawing/2014/main" val="517640354"/>
                  </a:ext>
                </a:extLst>
              </a:tr>
              <a:tr h="370840">
                <a:tc>
                  <a:txBody>
                    <a:bodyPr/>
                    <a:lstStyle/>
                    <a:p>
                      <a:r>
                        <a:rPr lang="ru-RU" dirty="0"/>
                        <a:t>0001010000000001</a:t>
                      </a:r>
                    </a:p>
                  </a:txBody>
                  <a:tcPr/>
                </a:tc>
                <a:tc>
                  <a:txBody>
                    <a:bodyPr/>
                    <a:lstStyle/>
                    <a:p>
                      <a:r>
                        <a:rPr lang="pt-BR" dirty="0"/>
                        <a:t>LOAD  R4 1</a:t>
                      </a:r>
                    </a:p>
                  </a:txBody>
                  <a:tcPr/>
                </a:tc>
                <a:extLst>
                  <a:ext uri="{0D108BD9-81ED-4DB2-BD59-A6C34878D82A}">
                    <a16:rowId xmlns:a16="http://schemas.microsoft.com/office/drawing/2014/main" val="2810481561"/>
                  </a:ext>
                </a:extLst>
              </a:tr>
              <a:tr h="370840">
                <a:tc>
                  <a:txBody>
                    <a:bodyPr/>
                    <a:lstStyle/>
                    <a:p>
                      <a:r>
                        <a:rPr lang="ru-RU" dirty="0"/>
                        <a:t>0101000100100100</a:t>
                      </a:r>
                    </a:p>
                  </a:txBody>
                  <a:tcPr/>
                </a:tc>
                <a:tc>
                  <a:txBody>
                    <a:bodyPr/>
                    <a:lstStyle/>
                    <a:p>
                      <a:r>
                        <a:rPr lang="pt-BR" dirty="0"/>
                        <a:t>SUB R1 R2 R4</a:t>
                      </a:r>
                    </a:p>
                  </a:txBody>
                  <a:tcPr/>
                </a:tc>
                <a:extLst>
                  <a:ext uri="{0D108BD9-81ED-4DB2-BD59-A6C34878D82A}">
                    <a16:rowId xmlns:a16="http://schemas.microsoft.com/office/drawing/2014/main" val="10289443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1110000000000010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JMP 2</a:t>
                      </a:r>
                      <a:endParaRPr lang="ru-RU" dirty="0"/>
                    </a:p>
                  </a:txBody>
                  <a:tcPr/>
                </a:tc>
                <a:extLst>
                  <a:ext uri="{0D108BD9-81ED-4DB2-BD59-A6C34878D82A}">
                    <a16:rowId xmlns:a16="http://schemas.microsoft.com/office/drawing/2014/main" val="3104168092"/>
                  </a:ext>
                </a:extLst>
              </a:tr>
            </a:tbl>
          </a:graphicData>
        </a:graphic>
      </p:graphicFrame>
      <p:sp>
        <p:nvSpPr>
          <p:cNvPr id="2" name="TextBox 1">
            <a:extLst>
              <a:ext uri="{FF2B5EF4-FFF2-40B4-BE49-F238E27FC236}">
                <a16:creationId xmlns:a16="http://schemas.microsoft.com/office/drawing/2014/main" id="{CA1334E8-7EB7-EEBF-A650-F750E679CD34}"/>
              </a:ext>
            </a:extLst>
          </p:cNvPr>
          <p:cNvSpPr txBox="1"/>
          <p:nvPr/>
        </p:nvSpPr>
        <p:spPr>
          <a:xfrm>
            <a:off x="326734" y="4868584"/>
            <a:ext cx="7833932" cy="923330"/>
          </a:xfrm>
          <a:prstGeom prst="rect">
            <a:avLst/>
          </a:prstGeom>
          <a:noFill/>
        </p:spPr>
        <p:txBody>
          <a:bodyPr wrap="square" rtlCol="0">
            <a:spAutoFit/>
          </a:bodyPr>
          <a:lstStyle/>
          <a:p>
            <a:pPr rtl="1"/>
            <a:r>
              <a:rPr lang="en-US" dirty="0">
                <a:latin typeface="+mj-lt"/>
              </a:rPr>
              <a:t>In Simulation the stack gets loaded from a text file.</a:t>
            </a:r>
          </a:p>
          <a:p>
            <a:pPr rtl="1"/>
            <a:r>
              <a:rPr lang="en-US" dirty="0">
                <a:latin typeface="+mj-lt"/>
              </a:rPr>
              <a:t>On </a:t>
            </a:r>
            <a:r>
              <a:rPr lang="en-US" dirty="0" err="1">
                <a:latin typeface="+mj-lt"/>
              </a:rPr>
              <a:t>Embedden</a:t>
            </a:r>
            <a:r>
              <a:rPr lang="en-US" dirty="0">
                <a:latin typeface="+mj-lt"/>
              </a:rPr>
              <a:t> systems the stack gets pre-filled, ‘burned’, usually without the ability to reload it.</a:t>
            </a:r>
            <a:endParaRPr lang="ru-RU" dirty="0">
              <a:latin typeface="+mj-lt"/>
            </a:endParaRPr>
          </a:p>
        </p:txBody>
      </p:sp>
    </p:spTree>
    <p:extLst>
      <p:ext uri="{BB962C8B-B14F-4D97-AF65-F5344CB8AC3E}">
        <p14:creationId xmlns:p14="http://schemas.microsoft.com/office/powerpoint/2010/main" val="2079564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D4392-8EAA-A49C-6B88-61F9EE45DC6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612CB69-5793-6F2D-21BB-2CBF2C435866}"/>
              </a:ext>
            </a:extLst>
          </p:cNvPr>
          <p:cNvSpPr>
            <a:spLocks noGrp="1"/>
          </p:cNvSpPr>
          <p:nvPr>
            <p:ph type="sldNum" sz="quarter" idx="13"/>
          </p:nvPr>
        </p:nvSpPr>
        <p:spPr/>
        <p:txBody>
          <a:bodyPr/>
          <a:lstStyle/>
          <a:p>
            <a:pPr rtl="0"/>
            <a:fld id="{A49DFD55-3C28-40EF-9E31-A92D2E4017FF}" type="slidenum">
              <a:rPr lang="ru-RU" smtClean="0"/>
              <a:pPr rtl="0"/>
              <a:t>19</a:t>
            </a:fld>
            <a:endParaRPr lang="ru-RU" dirty="0"/>
          </a:p>
        </p:txBody>
      </p:sp>
      <p:sp>
        <p:nvSpPr>
          <p:cNvPr id="8" name="Заголовок 1">
            <a:extLst>
              <a:ext uri="{FF2B5EF4-FFF2-40B4-BE49-F238E27FC236}">
                <a16:creationId xmlns:a16="http://schemas.microsoft.com/office/drawing/2014/main" id="{A6ED629B-89BC-F190-73FF-76776CFEE9A1}"/>
              </a:ext>
            </a:extLst>
          </p:cNvPr>
          <p:cNvSpPr>
            <a:spLocks noGrp="1"/>
          </p:cNvSpPr>
          <p:nvPr>
            <p:ph type="title"/>
          </p:nvPr>
        </p:nvSpPr>
        <p:spPr>
          <a:xfrm>
            <a:off x="3884022" y="2885482"/>
            <a:ext cx="4423955" cy="543518"/>
          </a:xfrm>
        </p:spPr>
        <p:txBody>
          <a:bodyPr rtlCol="0">
            <a:noAutofit/>
          </a:bodyPr>
          <a:lstStyle>
            <a:defPPr>
              <a:defRPr lang="ru-RU"/>
            </a:defPPr>
          </a:lstStyle>
          <a:p>
            <a:pPr rtl="0"/>
            <a:r>
              <a:rPr lang="en-US" sz="3600" cap="none" dirty="0">
                <a:latin typeface="+mj-lt"/>
              </a:rPr>
              <a:t>Thanks for reading!</a:t>
            </a:r>
            <a:endParaRPr lang="ru-RU" sz="3600" cap="none" dirty="0">
              <a:latin typeface="+mj-lt"/>
            </a:endParaRPr>
          </a:p>
        </p:txBody>
      </p:sp>
    </p:spTree>
    <p:extLst>
      <p:ext uri="{BB962C8B-B14F-4D97-AF65-F5344CB8AC3E}">
        <p14:creationId xmlns:p14="http://schemas.microsoft.com/office/powerpoint/2010/main" val="4222786996"/>
      </p:ext>
    </p:extLst>
  </p:cSld>
  <p:clrMapOvr>
    <a:masterClrMapping/>
  </p:clrMapOvr>
</p:sld>
</file>

<file path=ppt/theme/theme1.xml><?xml version="1.0" encoding="utf-8"?>
<a:theme xmlns:a="http://schemas.openxmlformats.org/drawingml/2006/main" name="Тема Offic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Arial"/>
      </a:majorFont>
      <a:minorFont>
        <a:latin typeface="Tenorite"/>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977041_TF67328976_Win32" id="{5020E0DF-7C16-4BDB-9142-A1F72DC8C12E}" vid="{6F8719E1-032A-49EA-88D6-D8E01ADD1115}"/>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68DCE-134F-4610-A6AA-88CEBE8D71D2}">
  <ds:schemaRefs>
    <ds:schemaRef ds:uri="http://www.w3.org/XML/1998/namespace"/>
    <ds:schemaRef ds:uri="71af3243-3dd4-4a8d-8c0d-dd76da1f02a5"/>
    <ds:schemaRef ds:uri="http://purl.org/dc/dcmitype/"/>
    <ds:schemaRef ds:uri="http://schemas.microsoft.com/office/2006/documentManagement/types"/>
    <ds:schemaRef ds:uri="http://purl.org/dc/terms/"/>
    <ds:schemaRef ds:uri="http://purl.org/dc/elements/1.1/"/>
    <ds:schemaRef ds:uri="http://schemas.microsoft.com/office/infopath/2007/PartnerControls"/>
    <ds:schemaRef ds:uri="http://schemas.microsoft.com/office/2006/metadata/properties"/>
    <ds:schemaRef ds:uri="http://schemas.openxmlformats.org/package/2006/metadata/core-properties"/>
    <ds:schemaRef ds:uri="230e9df3-be65-4c73-a93b-d1236ebd677e"/>
    <ds:schemaRef ds:uri="16c05727-aa75-4e4a-9b5f-8a80a1165891"/>
    <ds:schemaRef ds:uri="http://schemas.microsoft.com/sharepoint/v3"/>
  </ds:schemaRefs>
</ds:datastoreItem>
</file>

<file path=customXml/itemProps2.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BF691C-888B-4061-8A6F-D5CE84A0254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{974BD2B5-D49A-4114-88B5-8DA73C677468}tf67328976_win32</Template>
  <TotalTime>1301</TotalTime>
  <Words>2149</Words>
  <Application>Microsoft Office PowerPoint</Application>
  <PresentationFormat>Widescreen</PresentationFormat>
  <Paragraphs>323</Paragraphs>
  <Slides>19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ADLaM Display</vt:lpstr>
      <vt:lpstr>Arial</vt:lpstr>
      <vt:lpstr>Calibri</vt:lpstr>
      <vt:lpstr>Cambria Math</vt:lpstr>
      <vt:lpstr>Тема Office</vt:lpstr>
      <vt:lpstr>PowerPoint Presentation</vt:lpstr>
      <vt:lpstr>PowerPoint Presentation</vt:lpstr>
      <vt:lpstr>PowerPoint Presentation</vt:lpstr>
      <vt:lpstr>Components:</vt:lpstr>
      <vt:lpstr>Overall picture: don’t worry, we will explore this part by part later on.</vt:lpstr>
      <vt:lpstr>Instructions breakdown</vt:lpstr>
      <vt:lpstr>Instructions breakdown</vt:lpstr>
      <vt:lpstr>Registers</vt:lpstr>
      <vt:lpstr>CPU Pipeline</vt:lpstr>
      <vt:lpstr>PowerPoint Presentation</vt:lpstr>
      <vt:lpstr>PowerPoint Presentation</vt:lpstr>
      <vt:lpstr>ADD R1 R2 R3 EXAMPLE: FETCH</vt:lpstr>
      <vt:lpstr>ADD R1 R2 R3 EXAMPLE: DECODE + MEMORY</vt:lpstr>
      <vt:lpstr>ADD R1 R2 R3 EXAMPLE: EXECUTE</vt:lpstr>
      <vt:lpstr>ADD R1 R2 R3 EXAMPLE: WRITEBACK</vt:lpstr>
      <vt:lpstr>Few things to notice:</vt:lpstr>
      <vt:lpstr>Control Unit</vt:lpstr>
      <vt:lpstr>Running a program</vt:lpstr>
      <vt:lpstr>Thanks for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Dima Kucheravi</dc:creator>
  <cp:lastModifiedBy>Ilya Kirshtein</cp:lastModifiedBy>
  <cp:revision>42</cp:revision>
  <dcterms:created xsi:type="dcterms:W3CDTF">2025-03-08T18:25:34Z</dcterms:created>
  <dcterms:modified xsi:type="dcterms:W3CDTF">2025-08-23T15:51:34Z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