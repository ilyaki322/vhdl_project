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82" r:id="rId5"/>
    <p:sldId id="283" r:id="rId6"/>
    <p:sldId id="285" r:id="rId7"/>
    <p:sldId id="284" r:id="rId8"/>
    <p:sldId id="287" r:id="rId9"/>
    <p:sldId id="286" r:id="rId10"/>
    <p:sldId id="288" r:id="rId11"/>
    <p:sldId id="289" r:id="rId12"/>
    <p:sldId id="290" r:id="rId1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>
        <p:scale>
          <a:sx n="75" d="100"/>
          <a:sy n="75" d="100"/>
        </p:scale>
        <p:origin x="1170" y="19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84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61D17ACC-377E-4FC0-B594-0259E4F18B53}" type="datetime1">
              <a:rPr lang="ru-RU" smtClean="0"/>
              <a:t>09.03.2025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28EEFA9E-C190-4F5C-8394-BD5F1CD55C0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A94106A3-03A6-4269-91E5-6C81A63C5F07}" type="datetime1">
              <a:rPr lang="ru-RU" smtClean="0"/>
              <a:pPr/>
              <a:t>09.03.2025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22289C57-55D7-40A4-A101-E74FAC7A092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3367A-80A5-30FA-A5C4-45CB72910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6DD366-B186-DF56-91BB-FBF747FB8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B76B1A8-262E-8909-0421-7182E6299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2A33EF-0E2E-90E3-F449-9D247C82C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505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rtlCol="0" anchor="ctr">
            <a:noAutofit/>
          </a:bodyPr>
          <a:lstStyle>
            <a:lvl1pPr algn="l">
              <a:defRPr lang="ru-RU" sz="3600" spc="150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овест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rtlCol="0" anchor="b">
            <a:normAutofit/>
          </a:bodyPr>
          <a:lstStyle>
            <a:lvl1pPr>
              <a:defRPr lang="ru-RU"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 rtlCol="0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lang="ru-RU"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lang="ru-RU"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lang="ru-RU"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lang="ru-RU"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lang="ru-RU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rtlCol="0" anchor="b">
            <a:noAutofit/>
          </a:bodyPr>
          <a:lstStyle>
            <a:lvl1pPr algn="l">
              <a:defRPr lang="ru-RU" sz="3600" spc="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rtlCol="0" anchor="b">
            <a:noAutofit/>
          </a:bodyPr>
          <a:lstStyle>
            <a:lvl1pPr algn="l">
              <a:defRPr lang="ru-RU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 rtlCol="0">
            <a:norm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ступл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rtlCol="0" anchor="b">
            <a:normAutofit/>
          </a:bodyPr>
          <a:lstStyle>
            <a:lvl1pPr>
              <a:defRPr lang="ru-RU" sz="28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3" name="Объект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rtlCol="0" anchor="b">
            <a:noAutofit/>
          </a:bodyPr>
          <a:lstStyle>
            <a:lvl1pPr algn="l">
              <a:defRPr lang="ru-RU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pic>
        <p:nvPicPr>
          <p:cNvPr id="4" name="Графический объект 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одержимого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rtlCol="0" anchor="b">
            <a:normAutofit/>
          </a:bodyPr>
          <a:lstStyle>
            <a:lvl1pPr>
              <a:defRPr lang="ru-RU" sz="28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ru-RU" sz="1800" b="1" kern="1200" spc="5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  <p:sp>
        <p:nvSpPr>
          <p:cNvPr id="7" name="Объект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ru-RU" sz="1800" b="1" kern="1200" spc="5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rtlCol="0" anchor="b">
            <a:normAutofit/>
          </a:bodyPr>
          <a:lstStyle>
            <a:lvl1pPr>
              <a:defRPr lang="ru-RU" sz="28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Текст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ru-RU" sz="1800" b="1" kern="1200" spc="5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 rtlCol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lang="ru-RU"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ru-RU"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ru-RU"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ru-RU"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ru-RU" sz="1800" b="1" kern="1200" spc="5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  <p:sp>
        <p:nvSpPr>
          <p:cNvPr id="3" name="Объект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9" name="Нижний колонтитул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rtlCol="0" anchor="b">
            <a:normAutofit/>
          </a:bodyPr>
          <a:lstStyle>
            <a:lvl1pPr>
              <a:defRPr lang="ru-RU" sz="28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 rtlCol="0">
            <a:normAutofit/>
          </a:bodyPr>
          <a:lstStyle>
            <a:lvl1pPr marL="0" indent="0" algn="l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Объект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 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 rtlCol="0">
            <a:normAutofit/>
          </a:bodyPr>
          <a:lstStyle>
            <a:lvl1pPr algn="l">
              <a:defRPr lang="ru-RU" sz="24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3" name="Объект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Заполнитель таблицы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en-US"/>
              <a:t>Click icon to add table</a:t>
            </a:r>
            <a:endParaRPr lang="ru-RU" dirty="0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rtlCol="0" anchor="b">
            <a:normAutofit/>
          </a:bodyPr>
          <a:lstStyle>
            <a:lvl1pPr>
              <a:defRPr lang="ru-RU" sz="28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rtlCol="0" anchor="ctr">
            <a:noAutofit/>
          </a:bodyPr>
          <a:lstStyle>
            <a:lvl1pPr marL="0" indent="0">
              <a:buNone/>
              <a:defRPr lang="ru-RU" sz="1800" b="1" kern="1200" spc="5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ru-RU"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ru-RU"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ru-RU"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ru-RU"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rtlCol="0" anchor="ctr">
            <a:noAutofit/>
          </a:bodyPr>
          <a:lstStyle>
            <a:lvl1pPr marL="0" indent="0">
              <a:buNone/>
              <a:defRPr lang="ru-RU" sz="1800" b="1" kern="1200" spc="5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  <p:sp>
        <p:nvSpPr>
          <p:cNvPr id="7" name="Объект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rtlCol="0" anchor="b">
            <a:normAutofit/>
          </a:bodyPr>
          <a:lstStyle>
            <a:lvl1pPr algn="ctr">
              <a:defRPr lang="ru-RU" sz="28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8" name="Заполнитель таблицы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en-US"/>
              <a:t>Click icon to add table</a:t>
            </a:r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ключен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lang="ru-RU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lang="ru-RU"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Нижний колонтитул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НАЗВАНИЕ ПРЕЗЕНТАЦИИ</a:t>
            </a:r>
          </a:p>
        </p:txBody>
      </p:sp>
      <p:sp>
        <p:nvSpPr>
          <p:cNvPr id="11" name="Номер слайда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945" y="2548024"/>
            <a:ext cx="5876109" cy="54351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Parallel RISC Processor</a:t>
            </a:r>
            <a:endParaRPr lang="ru-RU" dirty="0"/>
          </a:p>
        </p:txBody>
      </p:sp>
      <p:sp>
        <p:nvSpPr>
          <p:cNvPr id="68" name="Номер слайда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A49DFD55-3C28-40EF-9E31-A92D2E4017FF}" type="slidenum">
              <a:rPr lang="ru-RU" smtClean="0"/>
              <a:pPr rtl="0"/>
              <a:t>1</a:t>
            </a:fld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135A058-AAAA-E39D-0B32-0B516060B753}"/>
              </a:ext>
            </a:extLst>
          </p:cNvPr>
          <p:cNvSpPr txBox="1">
            <a:spLocks/>
          </p:cNvSpPr>
          <p:nvPr/>
        </p:nvSpPr>
        <p:spPr>
          <a:xfrm>
            <a:off x="99059" y="6084590"/>
            <a:ext cx="5876109" cy="543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800" kern="1200" cap="all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A6E882-0CBA-42D7-D994-18DAA14FDEB6}"/>
              </a:ext>
            </a:extLst>
          </p:cNvPr>
          <p:cNvSpPr txBox="1"/>
          <p:nvPr/>
        </p:nvSpPr>
        <p:spPr>
          <a:xfrm>
            <a:off x="8382000" y="6356349"/>
            <a:ext cx="356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מגישים: דימה </a:t>
            </a:r>
            <a:r>
              <a:rPr lang="he-IL" dirty="0" err="1"/>
              <a:t>ניקונוב</a:t>
            </a:r>
            <a:r>
              <a:rPr lang="he-IL" dirty="0"/>
              <a:t>, איליה </a:t>
            </a:r>
            <a:r>
              <a:rPr lang="he-IL" dirty="0" err="1"/>
              <a:t>קירשטיין</a:t>
            </a:r>
            <a:endParaRPr lang="ru-RU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3000F80-0EE3-C3B5-374D-EECD40029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9" y="229892"/>
            <a:ext cx="1457528" cy="695422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5B06327A-271A-16DB-BF28-0B9CCA4D183D}"/>
              </a:ext>
            </a:extLst>
          </p:cNvPr>
          <p:cNvSpPr txBox="1">
            <a:spLocks/>
          </p:cNvSpPr>
          <p:nvPr/>
        </p:nvSpPr>
        <p:spPr>
          <a:xfrm>
            <a:off x="3429000" y="3276601"/>
            <a:ext cx="4630783" cy="111034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800" kern="1200" cap="all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he-IL" dirty="0"/>
              <a:t>קורס: רכיבים מתוכנתים</a:t>
            </a:r>
          </a:p>
          <a:p>
            <a:pPr algn="r"/>
            <a:endParaRPr lang="he-IL" dirty="0"/>
          </a:p>
          <a:p>
            <a:pPr algn="r"/>
            <a:r>
              <a:rPr lang="he-IL" dirty="0"/>
              <a:t>בהנחיית: יצחק עובדיה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A2A6A-D893-8944-86B1-C36DFE7E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4234D-51C1-DD6C-50F4-68C99D001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347" y="716890"/>
            <a:ext cx="5876109" cy="543518"/>
          </a:xfrm>
        </p:spPr>
        <p:txBody>
          <a:bodyPr rtlCol="0"/>
          <a:lstStyle>
            <a:defPPr>
              <a:defRPr lang="ru-RU"/>
            </a:defPPr>
          </a:lstStyle>
          <a:p>
            <a:pPr algn="r" rtl="0"/>
            <a:r>
              <a:rPr lang="he-IL" dirty="0"/>
              <a:t>רכיבים:</a:t>
            </a:r>
            <a:endParaRPr lang="ru-RU" dirty="0"/>
          </a:p>
        </p:txBody>
      </p:sp>
      <p:sp>
        <p:nvSpPr>
          <p:cNvPr id="68" name="Номер слайда 67">
            <a:extLst>
              <a:ext uri="{FF2B5EF4-FFF2-40B4-BE49-F238E27FC236}">
                <a16:creationId xmlns:a16="http://schemas.microsoft.com/office/drawing/2014/main" id="{50A56657-4F88-EA53-8729-C3A0653D18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A49DFD55-3C28-40EF-9E31-A92D2E4017FF}" type="slidenum">
              <a:rPr lang="ru-RU" smtClean="0"/>
              <a:pPr rtl="0"/>
              <a:t>2</a:t>
            </a:fld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BF74E3-3184-E1FC-9F87-5D848B9D7B29}"/>
              </a:ext>
            </a:extLst>
          </p:cNvPr>
          <p:cNvSpPr txBox="1">
            <a:spLocks/>
          </p:cNvSpPr>
          <p:nvPr/>
        </p:nvSpPr>
        <p:spPr>
          <a:xfrm>
            <a:off x="99059" y="6084590"/>
            <a:ext cx="5876109" cy="543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800" kern="1200" cap="all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0FC718-9483-F8D6-B892-65DB77A24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9" y="229892"/>
            <a:ext cx="1457528" cy="695422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951552A-8BF9-FA60-7934-9D35EE329A4E}"/>
              </a:ext>
            </a:extLst>
          </p:cNvPr>
          <p:cNvSpPr txBox="1">
            <a:spLocks/>
          </p:cNvSpPr>
          <p:nvPr/>
        </p:nvSpPr>
        <p:spPr>
          <a:xfrm>
            <a:off x="5692138" y="1698171"/>
            <a:ext cx="5876109" cy="33636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800" kern="1200" cap="all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02662E-B4FB-2BBF-F719-F8888227800F}"/>
              </a:ext>
            </a:extLst>
          </p:cNvPr>
          <p:cNvSpPr txBox="1"/>
          <p:nvPr/>
        </p:nvSpPr>
        <p:spPr>
          <a:xfrm>
            <a:off x="3783506" y="1003371"/>
            <a:ext cx="627779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Ram</a:t>
            </a:r>
            <a:r>
              <a:rPr lang="he-IL" dirty="0"/>
              <a:t> – זיכרון עבודה ראשי המשמש לקריאה וכתיבה של נתונים ופקודות במהלך הריצה</a:t>
            </a: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Stack</a:t>
            </a:r>
            <a:r>
              <a:rPr lang="he-IL" dirty="0"/>
              <a:t> -  שומר את פקודות התוכנית, ממוש על ידי </a:t>
            </a:r>
            <a:r>
              <a:rPr lang="en-US" dirty="0"/>
              <a:t>RAM</a:t>
            </a:r>
            <a:r>
              <a:rPr lang="he-IL" dirty="0"/>
              <a:t> עבור ה </a:t>
            </a:r>
            <a:r>
              <a:rPr lang="en-US" dirty="0"/>
              <a:t>TB</a:t>
            </a:r>
            <a:r>
              <a:rPr lang="he-IL" dirty="0"/>
              <a:t> ובתוך ה</a:t>
            </a:r>
            <a:r>
              <a:rPr lang="en-US" dirty="0"/>
              <a:t>CPU </a:t>
            </a:r>
            <a:r>
              <a:rPr lang="he-IL" dirty="0"/>
              <a:t> מתנהג כ </a:t>
            </a:r>
            <a:r>
              <a:rPr lang="en-US" dirty="0"/>
              <a:t>ROM</a:t>
            </a:r>
            <a:endParaRPr lang="he-IL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Register</a:t>
            </a:r>
            <a:r>
              <a:rPr lang="he-IL" dirty="0"/>
              <a:t> – יחידת אחסון מהירה המשמשת לשמירה זמנית של נתונים וכתובות הנדרשים לעיבוד פקודות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ALU</a:t>
            </a:r>
            <a:r>
              <a:rPr lang="he-IL" dirty="0"/>
              <a:t> – אחראי על ביצוע פעולות אריתמטיות ולוגיות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Hazard Unit</a:t>
            </a:r>
            <a:r>
              <a:rPr lang="he-IL" dirty="0"/>
              <a:t> – מזהה ומנהל "סיכונים" בנתונים או התנגשויות בזיכרון ומבצע צעדים למניעת עיכובים או תוצאות שגויות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Control Unit</a:t>
            </a:r>
            <a:r>
              <a:rPr lang="he-IL" dirty="0"/>
              <a:t> –רכיב ה </a:t>
            </a:r>
            <a:r>
              <a:rPr lang="en-US" dirty="0"/>
              <a:t>Pipeline </a:t>
            </a:r>
            <a:r>
              <a:rPr lang="he-IL" dirty="0"/>
              <a:t> אשר מקבל פקודה בכל שעון ומנהל את הרכיבים המיועדים לביצוע הפקודה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CPU</a:t>
            </a:r>
            <a:r>
              <a:rPr lang="he-IL" dirty="0"/>
              <a:t> – הרכיב הראשי שמבצע את הפקודות ומתאם את עבודת כל הרכיבים האחרים במערכת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9151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E831A-5F5F-2DD2-7A6D-BB1B2D29F34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A49DFD55-3C28-40EF-9E31-A92D2E4017FF}" type="slidenum">
              <a:rPr lang="ru-RU" smtClean="0"/>
              <a:pPr rtl="0"/>
              <a:t>3</a:t>
            </a:fld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4326A5-B37C-AF2E-54EC-BCA1A7ADA113}"/>
              </a:ext>
            </a:extLst>
          </p:cNvPr>
          <p:cNvSpPr txBox="1"/>
          <p:nvPr/>
        </p:nvSpPr>
        <p:spPr>
          <a:xfrm>
            <a:off x="5083112" y="1013287"/>
            <a:ext cx="6277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u="sng" dirty="0"/>
              <a:t>מכונת מצבים של </a:t>
            </a:r>
            <a:r>
              <a:rPr lang="en-US" u="sng" dirty="0"/>
              <a:t>Hazard Unit</a:t>
            </a:r>
            <a:r>
              <a:rPr lang="he-IL" u="sng" dirty="0"/>
              <a:t>:</a:t>
            </a:r>
            <a:br>
              <a:rPr lang="en-US" u="sng" dirty="0"/>
            </a:br>
            <a:endParaRPr lang="ru-RU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3B195B5-29E9-4733-DB23-E5EF1D285FDE}"/>
              </a:ext>
            </a:extLst>
          </p:cNvPr>
          <p:cNvSpPr/>
          <p:nvPr/>
        </p:nvSpPr>
        <p:spPr>
          <a:xfrm>
            <a:off x="1556587" y="1942193"/>
            <a:ext cx="1894114" cy="14804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9DA05CC-91F2-F2D6-B535-5778B1805627}"/>
              </a:ext>
            </a:extLst>
          </p:cNvPr>
          <p:cNvSpPr/>
          <p:nvPr/>
        </p:nvSpPr>
        <p:spPr>
          <a:xfrm>
            <a:off x="4224307" y="1942193"/>
            <a:ext cx="1894114" cy="14804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CCB1FFE-25B6-B1B6-6A50-849507F92EF4}"/>
              </a:ext>
            </a:extLst>
          </p:cNvPr>
          <p:cNvSpPr/>
          <p:nvPr/>
        </p:nvSpPr>
        <p:spPr>
          <a:xfrm>
            <a:off x="6892027" y="1948543"/>
            <a:ext cx="1894114" cy="14804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DEF3102-1AFE-DEBA-A02E-22F6AC0ECEF1}"/>
              </a:ext>
            </a:extLst>
          </p:cNvPr>
          <p:cNvSpPr/>
          <p:nvPr/>
        </p:nvSpPr>
        <p:spPr>
          <a:xfrm>
            <a:off x="9559747" y="1861013"/>
            <a:ext cx="1894114" cy="14804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672E1C-CF5F-4E27-8A74-E334422C694B}"/>
              </a:ext>
            </a:extLst>
          </p:cNvPr>
          <p:cNvSpPr txBox="1"/>
          <p:nvPr/>
        </p:nvSpPr>
        <p:spPr>
          <a:xfrm>
            <a:off x="4539992" y="2497754"/>
            <a:ext cx="126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Run_state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68CDA9-80AF-0E84-F7A3-BCAF8ED57E33}"/>
              </a:ext>
            </a:extLst>
          </p:cNvPr>
          <p:cNvSpPr txBox="1"/>
          <p:nvPr/>
        </p:nvSpPr>
        <p:spPr>
          <a:xfrm>
            <a:off x="1812402" y="2475595"/>
            <a:ext cx="1382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Start_state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7EE097-C532-EF14-998C-EF6500BC4A7F}"/>
              </a:ext>
            </a:extLst>
          </p:cNvPr>
          <p:cNvSpPr txBox="1"/>
          <p:nvPr/>
        </p:nvSpPr>
        <p:spPr>
          <a:xfrm>
            <a:off x="7207712" y="2504105"/>
            <a:ext cx="126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stall_state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55B470-A40C-8A9C-5EF0-0E07C95513FA}"/>
              </a:ext>
            </a:extLst>
          </p:cNvPr>
          <p:cNvSpPr txBox="1"/>
          <p:nvPr/>
        </p:nvSpPr>
        <p:spPr>
          <a:xfrm>
            <a:off x="9559747" y="2416575"/>
            <a:ext cx="197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Cond_jump_state</a:t>
            </a:r>
            <a:endParaRPr lang="ru-RU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BAC3D4-5AB1-95A5-D5B5-07436B664443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>
            <a:off x="3450701" y="2682422"/>
            <a:ext cx="7736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6E9F0DFA-9D4D-5688-A7B8-5666E781C00B}"/>
              </a:ext>
            </a:extLst>
          </p:cNvPr>
          <p:cNvCxnSpPr>
            <a:cxnSpLocks/>
            <a:stCxn id="13" idx="4"/>
            <a:endCxn id="12" idx="5"/>
          </p:cNvCxnSpPr>
          <p:nvPr/>
        </p:nvCxnSpPr>
        <p:spPr>
          <a:xfrm rot="5400000" flipH="1">
            <a:off x="4063935" y="2315221"/>
            <a:ext cx="216808" cy="1998050"/>
          </a:xfrm>
          <a:prstGeom prst="curvedConnector3">
            <a:avLst>
              <a:gd name="adj1" fmla="val -1054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74FBE0-D077-8601-1006-62CD3E8C952B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6118421" y="2682422"/>
            <a:ext cx="773606" cy="63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AF21D0FD-EDD1-4987-48D0-EF5890C3AB85}"/>
              </a:ext>
            </a:extLst>
          </p:cNvPr>
          <p:cNvCxnSpPr>
            <a:cxnSpLocks/>
            <a:stCxn id="14" idx="0"/>
            <a:endCxn id="13" idx="0"/>
          </p:cNvCxnSpPr>
          <p:nvPr/>
        </p:nvCxnSpPr>
        <p:spPr>
          <a:xfrm rot="16200000" flipV="1">
            <a:off x="6502049" y="611508"/>
            <a:ext cx="6350" cy="2667720"/>
          </a:xfrm>
          <a:prstGeom prst="curvedConnector3">
            <a:avLst>
              <a:gd name="adj1" fmla="val 370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9ACC6E1C-0835-B724-ABA3-9CAED3587A92}"/>
              </a:ext>
            </a:extLst>
          </p:cNvPr>
          <p:cNvCxnSpPr>
            <a:cxnSpLocks/>
            <a:stCxn id="15" idx="0"/>
            <a:endCxn id="12" idx="0"/>
          </p:cNvCxnSpPr>
          <p:nvPr/>
        </p:nvCxnSpPr>
        <p:spPr>
          <a:xfrm rot="16200000" flipH="1" flipV="1">
            <a:off x="6464634" y="-2099977"/>
            <a:ext cx="81180" cy="8003160"/>
          </a:xfrm>
          <a:prstGeom prst="curvedConnector3">
            <a:avLst>
              <a:gd name="adj1" fmla="val -72410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A6B5AB0F-E8FF-EE1F-69B6-6A007584597F}"/>
              </a:ext>
            </a:extLst>
          </p:cNvPr>
          <p:cNvCxnSpPr>
            <a:cxnSpLocks/>
            <a:stCxn id="13" idx="4"/>
            <a:endCxn id="15" idx="4"/>
          </p:cNvCxnSpPr>
          <p:nvPr/>
        </p:nvCxnSpPr>
        <p:spPr>
          <a:xfrm rot="5400000" flipH="1" flipV="1">
            <a:off x="7798494" y="714340"/>
            <a:ext cx="81180" cy="5335440"/>
          </a:xfrm>
          <a:prstGeom prst="curvedConnector3">
            <a:avLst>
              <a:gd name="adj1" fmla="val -48273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769CCA1C-D08D-0705-2CFA-6C752F0AE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" y="229892"/>
            <a:ext cx="1457528" cy="6954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B25844-3D82-C75A-3E55-2F9A2DDFB427}"/>
              </a:ext>
            </a:extLst>
          </p:cNvPr>
          <p:cNvSpPr txBox="1"/>
          <p:nvPr/>
        </p:nvSpPr>
        <p:spPr>
          <a:xfrm>
            <a:off x="939801" y="3815854"/>
            <a:ext cx="102644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Start_state</a:t>
            </a:r>
            <a:r>
              <a:rPr lang="he-IL" dirty="0"/>
              <a:t> – מצב התחלתי שבו מתבצעת טעינה למערך הפקודות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Run_state</a:t>
            </a:r>
            <a:r>
              <a:rPr lang="he-IL" dirty="0"/>
              <a:t> – מצב ריצה בו הפקודות נבדקות אם קיימות ביניהם </a:t>
            </a:r>
            <a:r>
              <a:rPr lang="he-IL" dirty="0" err="1"/>
              <a:t>הנגשויות</a:t>
            </a:r>
            <a:r>
              <a:rPr lang="he-IL" dirty="0"/>
              <a:t> ושליחה של הפקודה</a:t>
            </a:r>
            <a:r>
              <a:rPr lang="en-US" dirty="0"/>
              <a:t> </a:t>
            </a:r>
            <a:r>
              <a:rPr lang="he-IL" dirty="0"/>
              <a:t>ל </a:t>
            </a:r>
            <a:r>
              <a:rPr lang="en-US" dirty="0"/>
              <a:t>CU</a:t>
            </a:r>
            <a:endParaRPr lang="he-IL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Stall_state</a:t>
            </a:r>
            <a:r>
              <a:rPr lang="he-IL" dirty="0"/>
              <a:t> – מצב שבו זוהה התנגשות ועל ה </a:t>
            </a:r>
            <a:r>
              <a:rPr lang="en-US" dirty="0"/>
              <a:t>CU</a:t>
            </a:r>
            <a:r>
              <a:rPr lang="he-IL" dirty="0"/>
              <a:t> לחכות מספר שעונים עד לביצוע הפקודה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Cond_jump_state</a:t>
            </a:r>
            <a:r>
              <a:rPr lang="he-IL" dirty="0"/>
              <a:t> – מצב שבו זוהתה פקודה של </a:t>
            </a:r>
            <a:r>
              <a:rPr lang="en-US" dirty="0"/>
              <a:t>JUMP</a:t>
            </a:r>
            <a:r>
              <a:rPr lang="he-IL" dirty="0"/>
              <a:t> עם תנאי ועל ה </a:t>
            </a:r>
            <a:r>
              <a:rPr lang="en-US" dirty="0"/>
              <a:t>Hazard Unit </a:t>
            </a:r>
            <a:r>
              <a:rPr lang="he-IL" dirty="0"/>
              <a:t> לבדוק אם לשנות את ה </a:t>
            </a:r>
            <a:r>
              <a:rPr lang="en-US" dirty="0"/>
              <a:t>Counter </a:t>
            </a:r>
            <a:r>
              <a:rPr lang="he-IL" dirty="0"/>
              <a:t> או להמשיך לעבר פקודה הבאה</a:t>
            </a: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30750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6DBA6-76A1-E4C4-65E0-299D02B55A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A49DFD55-3C28-40EF-9E31-A92D2E4017FF}" type="slidenum">
              <a:rPr lang="ru-RU" smtClean="0"/>
              <a:pPr rtl="0"/>
              <a:t>4</a:t>
            </a:fld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54348D5-F1A8-22F0-1D62-7F91B5739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6204" y="822672"/>
            <a:ext cx="5876109" cy="543518"/>
          </a:xfrm>
        </p:spPr>
        <p:txBody>
          <a:bodyPr rtlCol="0"/>
          <a:lstStyle>
            <a:defPPr>
              <a:defRPr lang="ru-RU"/>
            </a:defPPr>
          </a:lstStyle>
          <a:p>
            <a:pPr algn="r" rtl="0"/>
            <a:r>
              <a:rPr lang="he-IL" dirty="0"/>
              <a:t>שלבי ריצה:</a:t>
            </a:r>
            <a:endParaRPr lang="ru-RU" dirty="0"/>
          </a:p>
        </p:txBody>
      </p:sp>
      <p:sp>
        <p:nvSpPr>
          <p:cNvPr id="9" name="Номер слайда 67">
            <a:extLst>
              <a:ext uri="{FF2B5EF4-FFF2-40B4-BE49-F238E27FC236}">
                <a16:creationId xmlns:a16="http://schemas.microsoft.com/office/drawing/2014/main" id="{43AF2F78-340C-03DB-6A52-57F1BBAC6273}"/>
              </a:ext>
            </a:extLst>
          </p:cNvPr>
          <p:cNvSpPr txBox="1">
            <a:spLocks/>
          </p:cNvSpPr>
          <p:nvPr/>
        </p:nvSpPr>
        <p:spPr>
          <a:xfrm>
            <a:off x="10373350" y="6356349"/>
            <a:ext cx="987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ru-RU"/>
            </a:defPPr>
            <a:lvl1pPr marL="0" algn="r" defTabSz="914400" rtl="0" eaLnBrk="1" latinLnBrk="0" hangingPunct="1">
              <a:defRPr lang="ru-RU" sz="9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9DFD55-3C28-40EF-9E31-A92D2E4017FF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636A87-9747-48B1-CD41-03CBA6A08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" y="229892"/>
            <a:ext cx="1457528" cy="695422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88D81FE0-1E9A-E8B7-D4A0-DCA63B091321}"/>
              </a:ext>
            </a:extLst>
          </p:cNvPr>
          <p:cNvSpPr txBox="1">
            <a:spLocks/>
          </p:cNvSpPr>
          <p:nvPr/>
        </p:nvSpPr>
        <p:spPr>
          <a:xfrm>
            <a:off x="5692138" y="1698171"/>
            <a:ext cx="5876109" cy="33636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800" kern="1200" cap="all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endParaRPr lang="he-I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2E47D1-0548-50C5-0CE2-1C74888C892A}"/>
              </a:ext>
            </a:extLst>
          </p:cNvPr>
          <p:cNvSpPr txBox="1"/>
          <p:nvPr/>
        </p:nvSpPr>
        <p:spPr>
          <a:xfrm>
            <a:off x="1614311" y="1570879"/>
            <a:ext cx="94980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Fetch</a:t>
            </a:r>
            <a:r>
              <a:rPr lang="he-IL" dirty="0"/>
              <a:t> -</a:t>
            </a:r>
            <a:r>
              <a:rPr lang="en-US" dirty="0"/>
              <a:t> </a:t>
            </a:r>
            <a:r>
              <a:rPr lang="he-IL" dirty="0"/>
              <a:t> קריאת פקודה הבאה בתור המועברת מ </a:t>
            </a:r>
            <a:r>
              <a:rPr lang="en-US" dirty="0"/>
              <a:t>Hazard Unit</a:t>
            </a:r>
            <a:r>
              <a:rPr lang="he-IL" dirty="0"/>
              <a:t> ל </a:t>
            </a:r>
            <a:r>
              <a:rPr lang="en-US" dirty="0"/>
              <a:t>Control Unit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Decode</a:t>
            </a:r>
            <a:r>
              <a:rPr lang="he-IL" dirty="0"/>
              <a:t> –</a:t>
            </a:r>
            <a:r>
              <a:rPr lang="en-US" dirty="0"/>
              <a:t> </a:t>
            </a:r>
            <a:r>
              <a:rPr lang="he-IL" dirty="0"/>
              <a:t>מעבר של הנתונים לרכיבים המיודעים בקוד מכונה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Memory</a:t>
            </a:r>
            <a:r>
              <a:rPr lang="he-IL" dirty="0"/>
              <a:t> – קריאת הנתונים הנדרשים לפעולה</a:t>
            </a: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Execute</a:t>
            </a:r>
            <a:r>
              <a:rPr lang="he-IL" dirty="0"/>
              <a:t> –</a:t>
            </a:r>
            <a:r>
              <a:rPr lang="en-US" dirty="0"/>
              <a:t> </a:t>
            </a:r>
            <a:r>
              <a:rPr lang="he-IL" dirty="0"/>
              <a:t>ביצוע הפעולה הרצויה</a:t>
            </a: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u="sng" dirty="0"/>
              <a:t>Writeback</a:t>
            </a:r>
            <a:r>
              <a:rPr lang="he-IL" dirty="0"/>
              <a:t> – כתיבת התוצאה ביעד הנתון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588F25-8F2F-1A88-3EBF-BDF5CA0435CD}"/>
              </a:ext>
            </a:extLst>
          </p:cNvPr>
          <p:cNvSpPr/>
          <p:nvPr/>
        </p:nvSpPr>
        <p:spPr>
          <a:xfrm>
            <a:off x="843987" y="5061856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Fetch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9DE3C2-3EAE-0A05-BE9F-7B4362DF0C49}"/>
              </a:ext>
            </a:extLst>
          </p:cNvPr>
          <p:cNvSpPr/>
          <p:nvPr/>
        </p:nvSpPr>
        <p:spPr>
          <a:xfrm>
            <a:off x="2306111" y="5061854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Decode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21F3A0-38E6-741E-8AAD-593FD4862F66}"/>
              </a:ext>
            </a:extLst>
          </p:cNvPr>
          <p:cNvSpPr/>
          <p:nvPr/>
        </p:nvSpPr>
        <p:spPr>
          <a:xfrm>
            <a:off x="3768235" y="5061854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0D59E9-E1D5-56E3-D66F-CDE73EB8CAC7}"/>
              </a:ext>
            </a:extLst>
          </p:cNvPr>
          <p:cNvSpPr/>
          <p:nvPr/>
        </p:nvSpPr>
        <p:spPr>
          <a:xfrm>
            <a:off x="6692483" y="5061854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WriteBack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585E78-A7EB-0EA8-460B-A4300BBCB0E7}"/>
              </a:ext>
            </a:extLst>
          </p:cNvPr>
          <p:cNvSpPr/>
          <p:nvPr/>
        </p:nvSpPr>
        <p:spPr>
          <a:xfrm>
            <a:off x="5230359" y="5061854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Execute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4892EA-7BB0-8F9C-7035-C460945553FA}"/>
              </a:ext>
            </a:extLst>
          </p:cNvPr>
          <p:cNvSpPr/>
          <p:nvPr/>
        </p:nvSpPr>
        <p:spPr>
          <a:xfrm>
            <a:off x="2306111" y="5522230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Fetch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77355A-CD17-BD93-BE9F-1E6505211BC1}"/>
              </a:ext>
            </a:extLst>
          </p:cNvPr>
          <p:cNvSpPr/>
          <p:nvPr/>
        </p:nvSpPr>
        <p:spPr>
          <a:xfrm>
            <a:off x="3768235" y="5522228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Decode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F4C03D-356E-A0F6-247A-6716BEF7905D}"/>
              </a:ext>
            </a:extLst>
          </p:cNvPr>
          <p:cNvSpPr/>
          <p:nvPr/>
        </p:nvSpPr>
        <p:spPr>
          <a:xfrm>
            <a:off x="5230359" y="5522228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21398D-66FF-D535-32B6-81E91CBCD0C2}"/>
              </a:ext>
            </a:extLst>
          </p:cNvPr>
          <p:cNvSpPr/>
          <p:nvPr/>
        </p:nvSpPr>
        <p:spPr>
          <a:xfrm>
            <a:off x="8154607" y="5522228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WriteBack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883687-2FDB-84CC-EF82-8E3CC65DCD4A}"/>
              </a:ext>
            </a:extLst>
          </p:cNvPr>
          <p:cNvSpPr/>
          <p:nvPr/>
        </p:nvSpPr>
        <p:spPr>
          <a:xfrm>
            <a:off x="6692483" y="5522228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Execute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3D24ED-92C4-4915-B77A-0E9EB102D133}"/>
              </a:ext>
            </a:extLst>
          </p:cNvPr>
          <p:cNvSpPr/>
          <p:nvPr/>
        </p:nvSpPr>
        <p:spPr>
          <a:xfrm>
            <a:off x="3768235" y="5982604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Fetch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87CE30-F0B4-531A-B87F-AD0179830D34}"/>
              </a:ext>
            </a:extLst>
          </p:cNvPr>
          <p:cNvSpPr/>
          <p:nvPr/>
        </p:nvSpPr>
        <p:spPr>
          <a:xfrm>
            <a:off x="5230359" y="5982602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Decode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D1F2D5-514C-1246-1C75-0D128AC9EFC2}"/>
              </a:ext>
            </a:extLst>
          </p:cNvPr>
          <p:cNvSpPr/>
          <p:nvPr/>
        </p:nvSpPr>
        <p:spPr>
          <a:xfrm>
            <a:off x="6692483" y="5982602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491593-6D09-E81B-5643-89FBD8519717}"/>
              </a:ext>
            </a:extLst>
          </p:cNvPr>
          <p:cNvSpPr/>
          <p:nvPr/>
        </p:nvSpPr>
        <p:spPr>
          <a:xfrm>
            <a:off x="9616731" y="5982602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WriteBack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57419E-52EB-2C2B-928A-C8626173A52E}"/>
              </a:ext>
            </a:extLst>
          </p:cNvPr>
          <p:cNvSpPr/>
          <p:nvPr/>
        </p:nvSpPr>
        <p:spPr>
          <a:xfrm>
            <a:off x="8154607" y="5982602"/>
            <a:ext cx="1365813" cy="37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Execute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97774E-0947-D970-85A9-4F25301C36F1}"/>
              </a:ext>
            </a:extLst>
          </p:cNvPr>
          <p:cNvSpPr txBox="1"/>
          <p:nvPr/>
        </p:nvSpPr>
        <p:spPr>
          <a:xfrm>
            <a:off x="99059" y="5061854"/>
            <a:ext cx="648617" cy="373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 1</a:t>
            </a:r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BA9B36-AA6F-53CC-1D4A-FA79503DBD41}"/>
              </a:ext>
            </a:extLst>
          </p:cNvPr>
          <p:cNvSpPr txBox="1"/>
          <p:nvPr/>
        </p:nvSpPr>
        <p:spPr>
          <a:xfrm>
            <a:off x="99059" y="5553523"/>
            <a:ext cx="648617" cy="373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 2</a:t>
            </a:r>
            <a:endParaRPr lang="ru-RU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C44707-0D0D-37F7-80BD-6B7A21E0F0E7}"/>
              </a:ext>
            </a:extLst>
          </p:cNvPr>
          <p:cNvSpPr txBox="1"/>
          <p:nvPr/>
        </p:nvSpPr>
        <p:spPr>
          <a:xfrm>
            <a:off x="99059" y="6045192"/>
            <a:ext cx="648617" cy="373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 3</a:t>
            </a:r>
            <a:endParaRPr lang="ru-RU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40F0709-F8EC-448C-E3A3-CA2E50CA7406}"/>
              </a:ext>
            </a:extLst>
          </p:cNvPr>
          <p:cNvCxnSpPr/>
          <p:nvPr/>
        </p:nvCxnSpPr>
        <p:spPr>
          <a:xfrm>
            <a:off x="747676" y="4943928"/>
            <a:ext cx="10119450" cy="0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B3DEE3-6FB6-3984-6817-CA85CEAF30F7}"/>
              </a:ext>
            </a:extLst>
          </p:cNvPr>
          <p:cNvCxnSpPr>
            <a:cxnSpLocks/>
          </p:cNvCxnSpPr>
          <p:nvPr/>
        </p:nvCxnSpPr>
        <p:spPr>
          <a:xfrm>
            <a:off x="2260600" y="4572000"/>
            <a:ext cx="0" cy="193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6CE37FA-7529-935F-4F6D-1BF72968C604}"/>
              </a:ext>
            </a:extLst>
          </p:cNvPr>
          <p:cNvCxnSpPr>
            <a:cxnSpLocks/>
          </p:cNvCxnSpPr>
          <p:nvPr/>
        </p:nvCxnSpPr>
        <p:spPr>
          <a:xfrm>
            <a:off x="3721100" y="4584700"/>
            <a:ext cx="0" cy="193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F7CADE6-CC1F-5E47-2FFC-028478B9C4B3}"/>
              </a:ext>
            </a:extLst>
          </p:cNvPr>
          <p:cNvCxnSpPr>
            <a:cxnSpLocks/>
          </p:cNvCxnSpPr>
          <p:nvPr/>
        </p:nvCxnSpPr>
        <p:spPr>
          <a:xfrm>
            <a:off x="5181600" y="4597400"/>
            <a:ext cx="0" cy="193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D56E8F6-19D3-ED62-CE51-13D56A5EB6AA}"/>
              </a:ext>
            </a:extLst>
          </p:cNvPr>
          <p:cNvCxnSpPr>
            <a:cxnSpLocks/>
          </p:cNvCxnSpPr>
          <p:nvPr/>
        </p:nvCxnSpPr>
        <p:spPr>
          <a:xfrm>
            <a:off x="6642100" y="4610100"/>
            <a:ext cx="0" cy="193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2F80714-22FC-9032-FFBA-1EEA9831458F}"/>
              </a:ext>
            </a:extLst>
          </p:cNvPr>
          <p:cNvCxnSpPr>
            <a:cxnSpLocks/>
          </p:cNvCxnSpPr>
          <p:nvPr/>
        </p:nvCxnSpPr>
        <p:spPr>
          <a:xfrm>
            <a:off x="8102600" y="4622800"/>
            <a:ext cx="0" cy="193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9D97BC4-1DA9-C6E2-B077-6FEFD019AA52}"/>
              </a:ext>
            </a:extLst>
          </p:cNvPr>
          <p:cNvCxnSpPr>
            <a:cxnSpLocks/>
          </p:cNvCxnSpPr>
          <p:nvPr/>
        </p:nvCxnSpPr>
        <p:spPr>
          <a:xfrm>
            <a:off x="9563100" y="4635500"/>
            <a:ext cx="0" cy="193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0C23996-2AD9-0E6B-BB0F-E4182AA4D689}"/>
              </a:ext>
            </a:extLst>
          </p:cNvPr>
          <p:cNvSpPr txBox="1"/>
          <p:nvPr/>
        </p:nvSpPr>
        <p:spPr>
          <a:xfrm>
            <a:off x="99059" y="4515633"/>
            <a:ext cx="744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clock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DA3395A-A4F8-6F8A-8AFF-69AC9E8A1BC1}"/>
                  </a:ext>
                </a:extLst>
              </p:cNvPr>
              <p:cNvSpPr txBox="1"/>
              <p:nvPr/>
            </p:nvSpPr>
            <p:spPr>
              <a:xfrm>
                <a:off x="1165808" y="4604330"/>
                <a:ext cx="7828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DA3395A-A4F8-6F8A-8AFF-69AC9E8A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808" y="4604330"/>
                <a:ext cx="78281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502D7BB-1822-AAF0-B2F3-2A83A929481F}"/>
                  </a:ext>
                </a:extLst>
              </p:cNvPr>
              <p:cNvSpPr txBox="1"/>
              <p:nvPr/>
            </p:nvSpPr>
            <p:spPr>
              <a:xfrm>
                <a:off x="2685025" y="4578679"/>
                <a:ext cx="7828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502D7BB-1822-AAF0-B2F3-2A83A9294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025" y="4578679"/>
                <a:ext cx="78281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76DB3E4-F9B6-285B-CC5D-176663E8A665}"/>
                  </a:ext>
                </a:extLst>
              </p:cNvPr>
              <p:cNvSpPr txBox="1"/>
              <p:nvPr/>
            </p:nvSpPr>
            <p:spPr>
              <a:xfrm>
                <a:off x="4042929" y="4591630"/>
                <a:ext cx="7828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76DB3E4-F9B6-285B-CC5D-176663E8A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929" y="4591630"/>
                <a:ext cx="78281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F8CBD75-5D7F-E2CB-56A1-758252895DA6}"/>
                  </a:ext>
                </a:extLst>
              </p:cNvPr>
              <p:cNvSpPr txBox="1"/>
              <p:nvPr/>
            </p:nvSpPr>
            <p:spPr>
              <a:xfrm>
                <a:off x="5493064" y="4601483"/>
                <a:ext cx="7828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F8CBD75-5D7F-E2CB-56A1-758252895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064" y="4601483"/>
                <a:ext cx="78281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54AA4EF-7682-6DC9-3D86-096B75F91AE8}"/>
                  </a:ext>
                </a:extLst>
              </p:cNvPr>
              <p:cNvSpPr txBox="1"/>
              <p:nvPr/>
            </p:nvSpPr>
            <p:spPr>
              <a:xfrm>
                <a:off x="6970847" y="4604330"/>
                <a:ext cx="7828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54AA4EF-7682-6DC9-3D86-096B75F91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847" y="4604330"/>
                <a:ext cx="78281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47CC0E4-DE9B-FCEB-8081-B4EF1D15DB49}"/>
                  </a:ext>
                </a:extLst>
              </p:cNvPr>
              <p:cNvSpPr txBox="1"/>
              <p:nvPr/>
            </p:nvSpPr>
            <p:spPr>
              <a:xfrm>
                <a:off x="8463207" y="4605048"/>
                <a:ext cx="7828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47CC0E4-DE9B-FCEB-8081-B4EF1D15D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207" y="4605048"/>
                <a:ext cx="78281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DB38852-1A08-059E-229D-1A200BF3D9AC}"/>
                  </a:ext>
                </a:extLst>
              </p:cNvPr>
              <p:cNvSpPr txBox="1"/>
              <p:nvPr/>
            </p:nvSpPr>
            <p:spPr>
              <a:xfrm>
                <a:off x="9760270" y="4582949"/>
                <a:ext cx="7828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DB38852-1A08-059E-229D-1A200BF3D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0270" y="4582949"/>
                <a:ext cx="78281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622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6E17D-FF00-B032-821C-9E0DAEB815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A49DFD55-3C28-40EF-9E31-A92D2E4017FF}" type="slidenum">
              <a:rPr lang="ru-RU" smtClean="0"/>
              <a:pPr rtl="0"/>
              <a:t>5</a:t>
            </a:fld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FB95246-986A-8E95-D693-829488F8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738" y="1095627"/>
            <a:ext cx="5876109" cy="543518"/>
          </a:xfrm>
        </p:spPr>
        <p:txBody>
          <a:bodyPr rtlCol="0"/>
          <a:lstStyle>
            <a:defPPr>
              <a:defRPr lang="ru-RU"/>
            </a:defPPr>
          </a:lstStyle>
          <a:p>
            <a:pPr algn="r" rtl="0"/>
            <a:r>
              <a:rPr lang="he-IL" dirty="0"/>
              <a:t>תרגום שפת מכונה: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6BB793-E1DF-FA16-9A2C-98D00C3F9108}"/>
              </a:ext>
            </a:extLst>
          </p:cNvPr>
          <p:cNvSpPr txBox="1"/>
          <p:nvPr/>
        </p:nvSpPr>
        <p:spPr>
          <a:xfrm>
            <a:off x="1091821" y="1639145"/>
            <a:ext cx="1026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e-IL" dirty="0"/>
              <a:t>שפת מכונה בנויה מ-16 ביטים המתחלקים באופן הבא: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CFF9B8-EBEA-FCA3-AEFA-E086FB2F6199}"/>
              </a:ext>
            </a:extLst>
          </p:cNvPr>
          <p:cNvSpPr txBox="1"/>
          <p:nvPr/>
        </p:nvSpPr>
        <p:spPr>
          <a:xfrm>
            <a:off x="7533564" y="2161634"/>
            <a:ext cx="7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XXXX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10DCE0-5178-9E96-3EEB-23E4409F4D04}"/>
              </a:ext>
            </a:extLst>
          </p:cNvPr>
          <p:cNvSpPr txBox="1"/>
          <p:nvPr/>
        </p:nvSpPr>
        <p:spPr>
          <a:xfrm>
            <a:off x="7648730" y="2670390"/>
            <a:ext cx="490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OP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DFB0D7-9AC3-968A-30FB-F8BC90095425}"/>
              </a:ext>
            </a:extLst>
          </p:cNvPr>
          <p:cNvSpPr txBox="1"/>
          <p:nvPr/>
        </p:nvSpPr>
        <p:spPr>
          <a:xfrm>
            <a:off x="8269792" y="2161634"/>
            <a:ext cx="7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XXXX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D42970-7DB8-0D99-5888-79ACABC9679A}"/>
              </a:ext>
            </a:extLst>
          </p:cNvPr>
          <p:cNvSpPr txBox="1"/>
          <p:nvPr/>
        </p:nvSpPr>
        <p:spPr>
          <a:xfrm>
            <a:off x="9006020" y="2161634"/>
            <a:ext cx="7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XXXX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18F040-700F-0A5E-0DFB-0661B72E0441}"/>
              </a:ext>
            </a:extLst>
          </p:cNvPr>
          <p:cNvSpPr txBox="1"/>
          <p:nvPr/>
        </p:nvSpPr>
        <p:spPr>
          <a:xfrm>
            <a:off x="9742248" y="2153274"/>
            <a:ext cx="7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XXXX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9DFD5-68A7-E4D6-F3DE-441279B1ED9F}"/>
              </a:ext>
            </a:extLst>
          </p:cNvPr>
          <p:cNvSpPr txBox="1"/>
          <p:nvPr/>
        </p:nvSpPr>
        <p:spPr>
          <a:xfrm>
            <a:off x="8269793" y="2700530"/>
            <a:ext cx="652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dest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B7724C-3B60-5B46-DC23-CD076CC0AAD3}"/>
              </a:ext>
            </a:extLst>
          </p:cNvPr>
          <p:cNvSpPr txBox="1"/>
          <p:nvPr/>
        </p:nvSpPr>
        <p:spPr>
          <a:xfrm>
            <a:off x="9029915" y="2700530"/>
            <a:ext cx="652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src1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33C6BD-E78C-EF64-35E7-9DA9636FCE94}"/>
              </a:ext>
            </a:extLst>
          </p:cNvPr>
          <p:cNvSpPr txBox="1"/>
          <p:nvPr/>
        </p:nvSpPr>
        <p:spPr>
          <a:xfrm>
            <a:off x="9790037" y="2700530"/>
            <a:ext cx="652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src2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4F4DF1-F998-DA9F-122B-82F6687CFEA7}"/>
              </a:ext>
            </a:extLst>
          </p:cNvPr>
          <p:cNvSpPr txBox="1"/>
          <p:nvPr/>
        </p:nvSpPr>
        <p:spPr>
          <a:xfrm>
            <a:off x="10792245" y="3445407"/>
            <a:ext cx="568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e-IL" dirty="0"/>
              <a:t>או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7F1F1F-BB65-D16B-8A40-4827E99B9201}"/>
              </a:ext>
            </a:extLst>
          </p:cNvPr>
          <p:cNvSpPr txBox="1"/>
          <p:nvPr/>
        </p:nvSpPr>
        <p:spPr>
          <a:xfrm>
            <a:off x="7617349" y="3818278"/>
            <a:ext cx="7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XXXX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188B9E-8F64-5D5F-2D05-5572E35C021E}"/>
              </a:ext>
            </a:extLst>
          </p:cNvPr>
          <p:cNvSpPr txBox="1"/>
          <p:nvPr/>
        </p:nvSpPr>
        <p:spPr>
          <a:xfrm>
            <a:off x="7745727" y="4338134"/>
            <a:ext cx="463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OP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EFE8D7-A90A-61D3-103B-F261D15EB233}"/>
              </a:ext>
            </a:extLst>
          </p:cNvPr>
          <p:cNvSpPr txBox="1"/>
          <p:nvPr/>
        </p:nvSpPr>
        <p:spPr>
          <a:xfrm>
            <a:off x="8353577" y="3818278"/>
            <a:ext cx="7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XXXX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8E50A9-6F9F-8341-E654-B93BDDAED4F4}"/>
              </a:ext>
            </a:extLst>
          </p:cNvPr>
          <p:cNvSpPr txBox="1"/>
          <p:nvPr/>
        </p:nvSpPr>
        <p:spPr>
          <a:xfrm>
            <a:off x="9089805" y="3825292"/>
            <a:ext cx="1215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XXXXXXXX</a:t>
            </a: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304917-858A-1A1D-7F46-D2F31873454B}"/>
              </a:ext>
            </a:extLst>
          </p:cNvPr>
          <p:cNvSpPr txBox="1"/>
          <p:nvPr/>
        </p:nvSpPr>
        <p:spPr>
          <a:xfrm>
            <a:off x="8353332" y="4340767"/>
            <a:ext cx="652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dest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564CA6-5096-1292-FF09-0D8DCDD00A5F}"/>
              </a:ext>
            </a:extLst>
          </p:cNvPr>
          <p:cNvSpPr txBox="1"/>
          <p:nvPr/>
        </p:nvSpPr>
        <p:spPr>
          <a:xfrm>
            <a:off x="8991374" y="4357174"/>
            <a:ext cx="141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Addr</a:t>
            </a:r>
            <a:r>
              <a:rPr lang="en-US" dirty="0"/>
              <a:t>/value</a:t>
            </a:r>
            <a:endParaRPr lang="ru-RU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BDF7C9-E7F7-7E47-29BB-1B4C0145A3BE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893847" y="2530966"/>
            <a:ext cx="7831" cy="1394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E628F56-3E9B-1CB9-4837-9F5416BD566B}"/>
              </a:ext>
            </a:extLst>
          </p:cNvPr>
          <p:cNvCxnSpPr/>
          <p:nvPr/>
        </p:nvCxnSpPr>
        <p:spPr>
          <a:xfrm flipV="1">
            <a:off x="8637906" y="2547373"/>
            <a:ext cx="0" cy="1531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0ACD7CA-0FCB-8E0B-CF87-E96DACB05112}"/>
              </a:ext>
            </a:extLst>
          </p:cNvPr>
          <p:cNvCxnSpPr/>
          <p:nvPr/>
        </p:nvCxnSpPr>
        <p:spPr>
          <a:xfrm flipV="1">
            <a:off x="9374134" y="2563780"/>
            <a:ext cx="0" cy="1531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F8B47E-A1AB-D4C4-2CA1-27BE0DC501EB}"/>
              </a:ext>
            </a:extLst>
          </p:cNvPr>
          <p:cNvCxnSpPr/>
          <p:nvPr/>
        </p:nvCxnSpPr>
        <p:spPr>
          <a:xfrm flipV="1">
            <a:off x="10110362" y="2580187"/>
            <a:ext cx="0" cy="1531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2499CD4-D005-67BA-A9C8-668B47C16167}"/>
              </a:ext>
            </a:extLst>
          </p:cNvPr>
          <p:cNvCxnSpPr/>
          <p:nvPr/>
        </p:nvCxnSpPr>
        <p:spPr>
          <a:xfrm flipV="1">
            <a:off x="7985462" y="4205330"/>
            <a:ext cx="0" cy="1531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F2DF7F9-78B3-9C37-9E81-DAE87D2A7505}"/>
              </a:ext>
            </a:extLst>
          </p:cNvPr>
          <p:cNvCxnSpPr/>
          <p:nvPr/>
        </p:nvCxnSpPr>
        <p:spPr>
          <a:xfrm flipV="1">
            <a:off x="8721691" y="4207338"/>
            <a:ext cx="0" cy="1531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7FA8BCC-9704-05B0-6E98-B5F9E27677BB}"/>
              </a:ext>
            </a:extLst>
          </p:cNvPr>
          <p:cNvCxnSpPr/>
          <p:nvPr/>
        </p:nvCxnSpPr>
        <p:spPr>
          <a:xfrm flipV="1">
            <a:off x="9697656" y="4205330"/>
            <a:ext cx="0" cy="1531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594B1425-9A26-B208-84E7-3C44F2677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" y="229892"/>
            <a:ext cx="1457528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11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A826E-68D8-208A-A32D-32ECF09C18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A49DFD55-3C28-40EF-9E31-A92D2E4017FF}" type="slidenum">
              <a:rPr lang="ru-RU" smtClean="0"/>
              <a:pPr rtl="0"/>
              <a:t>6</a:t>
            </a:fld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ABE25D-4696-4B71-AE42-DF0C5A52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9732" y="1062131"/>
            <a:ext cx="5876109" cy="543518"/>
          </a:xfrm>
        </p:spPr>
        <p:txBody>
          <a:bodyPr rtlCol="0"/>
          <a:lstStyle>
            <a:defPPr>
              <a:defRPr lang="ru-RU"/>
            </a:defPPr>
          </a:lstStyle>
          <a:p>
            <a:pPr algn="r" rtl="0"/>
            <a:r>
              <a:rPr lang="he-IL" dirty="0"/>
              <a:t>יצירת תוכנית: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FA3694-728D-7802-7279-CE958F491967}"/>
              </a:ext>
            </a:extLst>
          </p:cNvPr>
          <p:cNvSpPr txBox="1"/>
          <p:nvPr/>
        </p:nvSpPr>
        <p:spPr>
          <a:xfrm>
            <a:off x="3631909" y="1643755"/>
            <a:ext cx="7833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יצירת קובץ טקסט עם פקודות בשפת </a:t>
            </a:r>
            <a:r>
              <a:rPr lang="en-US" dirty="0"/>
              <a:t> Assembly</a:t>
            </a:r>
            <a:r>
              <a:rPr lang="he-IL" dirty="0"/>
              <a:t> בעזרת פייטון נקמפל לשפת מכונה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52D3D-7632-F94A-ED16-D3C88232223B}"/>
              </a:ext>
            </a:extLst>
          </p:cNvPr>
          <p:cNvSpPr txBox="1"/>
          <p:nvPr/>
        </p:nvSpPr>
        <p:spPr>
          <a:xfrm>
            <a:off x="3631909" y="2144498"/>
            <a:ext cx="7833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לדוגמה:</a:t>
            </a:r>
            <a:endParaRPr lang="ru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B075E6-22F1-F6B9-84E1-49683EE37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" y="229892"/>
            <a:ext cx="1457528" cy="69542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F62B61-CCFA-ACF7-0D6C-1AF12A288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350336"/>
              </p:ext>
            </p:extLst>
          </p:nvPr>
        </p:nvGraphicFramePr>
        <p:xfrm>
          <a:off x="2245350" y="2990714"/>
          <a:ext cx="8128000" cy="1854200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528653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74646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0011001000010110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LOADI R2 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763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0010001000001010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STORE R2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640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0001010000000001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LOAD  R4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481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0101000100100100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SUB R1 R2 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94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1110000000000010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JMP 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168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564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48DFB-95C5-96F1-FC7E-52B15F3596F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A49DFD55-3C28-40EF-9E31-A92D2E4017FF}" type="slidenum">
              <a:rPr lang="ru-RU" smtClean="0"/>
              <a:pPr rtl="0"/>
              <a:t>7</a:t>
            </a:fld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B180AA1-5512-4597-837B-9FE6BAF25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532" y="973231"/>
            <a:ext cx="5876109" cy="543518"/>
          </a:xfrm>
        </p:spPr>
        <p:txBody>
          <a:bodyPr rtlCol="0"/>
          <a:lstStyle>
            <a:defPPr>
              <a:defRPr lang="ru-RU"/>
            </a:defPPr>
          </a:lstStyle>
          <a:p>
            <a:pPr algn="r" rtl="0"/>
            <a:r>
              <a:rPr lang="he-IL" dirty="0"/>
              <a:t>דוגמאות תוכניות:</a:t>
            </a:r>
            <a:endParaRPr lang="ru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057240-F5B7-5F46-0D08-004D00EAF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81" y="2828736"/>
            <a:ext cx="4660020" cy="35276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A76DD9-04B5-C3DA-9EFE-8D47AAE40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2829" y="1655422"/>
            <a:ext cx="1963812" cy="16099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80B369-B9C2-CABC-C667-B6F3BC396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9" y="229892"/>
            <a:ext cx="1457528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939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139E4-CC18-0082-BD50-0E98894C8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64936-5099-286C-A2EA-D9787E7AF5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A49DFD55-3C28-40EF-9E31-A92D2E4017FF}" type="slidenum">
              <a:rPr lang="ru-RU" smtClean="0"/>
              <a:pPr rtl="0"/>
              <a:t>8</a:t>
            </a:fld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231E69D-9871-7204-C187-D8EB62EA8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532" y="973231"/>
            <a:ext cx="5876109" cy="543518"/>
          </a:xfrm>
        </p:spPr>
        <p:txBody>
          <a:bodyPr rtlCol="0"/>
          <a:lstStyle>
            <a:defPPr>
              <a:defRPr lang="ru-RU"/>
            </a:defPPr>
          </a:lstStyle>
          <a:p>
            <a:pPr algn="r" rtl="0"/>
            <a:r>
              <a:rPr lang="he-IL" dirty="0"/>
              <a:t>דוגמאות תוכניות: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35B676-C678-0BFC-8039-343283201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6" y="1960222"/>
            <a:ext cx="4219824" cy="4084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1AB3C1-D1F4-A9AC-3763-42D43EDF8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602" y="1920539"/>
            <a:ext cx="1649496" cy="1623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EAE2A3-0A4C-DEA8-F353-A47B155D9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9" y="229892"/>
            <a:ext cx="1457528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40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C29E3-8182-DDD8-95E7-8B15D2CA3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4CF23-6ABB-821D-AA3A-EF5E3EC4CE5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A49DFD55-3C28-40EF-9E31-A92D2E4017FF}" type="slidenum">
              <a:rPr lang="ru-RU" smtClean="0"/>
              <a:pPr rtl="0"/>
              <a:t>9</a:t>
            </a:fld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7DBF71C-F9A3-85FF-85BF-783F6D0F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532" y="973231"/>
            <a:ext cx="5876109" cy="543518"/>
          </a:xfrm>
        </p:spPr>
        <p:txBody>
          <a:bodyPr rtlCol="0"/>
          <a:lstStyle>
            <a:defPPr>
              <a:defRPr lang="ru-RU"/>
            </a:defPPr>
          </a:lstStyle>
          <a:p>
            <a:pPr algn="r" rtl="0"/>
            <a:r>
              <a:rPr lang="he-IL" dirty="0"/>
              <a:t>דוגמאות תוכניות: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E06A99-CC48-7B7A-DDC3-0BE341668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102" y="577603"/>
            <a:ext cx="3724795" cy="6268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1C16DA-5098-309A-A094-AB4D1279D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005" y="1666629"/>
            <a:ext cx="1409897" cy="17623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C3E634-ECF7-2094-1812-82D258B95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9" y="229892"/>
            <a:ext cx="1457528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780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Arial"/>
      </a:majorFont>
      <a:minorFont>
        <a:latin typeface="Tenori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7041_TF67328976_Win32" id="{5020E0DF-7C16-4BDB-9142-A1F72DC8C12E}" vid="{6F8719E1-032A-49EA-88D6-D8E01ADD1115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{974BD2B5-D49A-4114-88B5-8DA73C677468}tf67328976_win32</Template>
  <TotalTime>351</TotalTime>
  <Words>392</Words>
  <Application>Microsoft Office PowerPoint</Application>
  <PresentationFormat>Widescreen</PresentationFormat>
  <Paragraphs>114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Тема Office</vt:lpstr>
      <vt:lpstr>Parallel RISC Processor</vt:lpstr>
      <vt:lpstr>רכיבים:</vt:lpstr>
      <vt:lpstr>PowerPoint Presentation</vt:lpstr>
      <vt:lpstr>שלבי ריצה:</vt:lpstr>
      <vt:lpstr>תרגום שפת מכונה:</vt:lpstr>
      <vt:lpstr>יצירת תוכנית:</vt:lpstr>
      <vt:lpstr>דוגמאות תוכניות:</vt:lpstr>
      <vt:lpstr>דוגמאות תוכניות:</vt:lpstr>
      <vt:lpstr>דוגמאות תוכניות: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Dima Kucheravi</dc:creator>
  <cp:lastModifiedBy>Dima Kucheravi</cp:lastModifiedBy>
  <cp:revision>3</cp:revision>
  <dcterms:created xsi:type="dcterms:W3CDTF">2025-03-08T18:25:34Z</dcterms:created>
  <dcterms:modified xsi:type="dcterms:W3CDTF">2025-03-09T16:09:51Z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